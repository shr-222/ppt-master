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ighter_wor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ighter_wor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ver-kicker"/>
          <p:cNvGrpSpPr/>
          <p:nvPr/>
        </p:nvGrpSpPr>
        <p:grpSpPr>
          <a:xfrm>
            <a:off x="755142" y="787400"/>
            <a:ext cx="1676610" cy="264033"/>
            <a:chOff x="755142" y="787400"/>
            <a:chExt cx="167661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78740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D9CA"/>
                  </a:solidFill>
                  <a:latin typeface="+mn-lt"/>
                  <a:ea typeface="+mn-ea"/>
                  <a:cs typeface="+mn-cs"/>
                </a:rPr>
                <a:t>工作方式 · 日常练习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742950" y="1825625"/>
            <a:ext cx="3874770" cy="2152650"/>
            <a:chOff x="742950" y="1825625"/>
            <a:chExt cx="3874770" cy="2152650"/>
          </a:xfrm>
        </p:grpSpPr>
        <p:sp>
          <p:nvSpPr>
            <p:cNvPr id="4" name="TextBox 4"/>
            <p:cNvSpPr txBox="1"/>
            <p:nvPr/>
          </p:nvSpPr>
          <p:spPr>
            <a:xfrm>
              <a:off x="742950" y="1825625"/>
              <a:ext cx="234010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让工作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2873375"/>
              <a:ext cx="387477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更轻松一点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798957" y="4479925"/>
            <a:ext cx="2688336" cy="839343"/>
            <a:chOff x="798957" y="4479925"/>
            <a:chExt cx="2688336" cy="839343"/>
          </a:xfrm>
        </p:grpSpPr>
        <p:sp>
          <p:nvSpPr>
            <p:cNvPr id="7" name="TextBox 7"/>
            <p:cNvSpPr txBox="1"/>
            <p:nvPr/>
          </p:nvSpPr>
          <p:spPr>
            <a:xfrm>
              <a:off x="798957" y="4479925"/>
              <a:ext cx="2688336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从五个小习惯开始，</a:t>
              </a:r>
              <a:b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为重要的事留出空间。</a:t>
              </a:r>
            </a:p>
          </p:txBody>
        </p:sp>
      </p:grpSp>
      <p:grpSp>
        <p:nvGrpSpPr>
          <p:cNvPr id="14" name="cover-motif"/>
          <p:cNvGrpSpPr/>
          <p:nvPr/>
        </p:nvGrpSpPr>
        <p:grpSpPr>
          <a:xfrm>
            <a:off x="9906000" y="1714500"/>
            <a:ext cx="952500" cy="3390900"/>
            <a:chOff x="9906000" y="1714500"/>
            <a:chExt cx="952500" cy="3390900"/>
          </a:xfrm>
        </p:grpSpPr>
        <p:sp>
          <p:nvSpPr>
            <p:cNvPr id="9" name="Rectangle 9"/>
            <p:cNvSpPr/>
            <p:nvPr/>
          </p:nvSpPr>
          <p:spPr>
            <a:xfrm>
              <a:off x="9906000" y="1714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D8AD6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906000" y="2476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D8AD6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906000" y="3238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D8AD69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906000" y="4000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D8AD69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906000" y="4762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D8AD69"/>
            </a:solidFill>
            <a:ln>
              <a:noFill/>
            </a:ln>
          </p:spPr>
        </p:sp>
      </p:grpSp>
      <p:grpSp>
        <p:nvGrpSpPr>
          <p:cNvPr id="17" name="cover-footer"/>
          <p:cNvGrpSpPr/>
          <p:nvPr/>
        </p:nvGrpSpPr>
        <p:grpSpPr>
          <a:xfrm>
            <a:off x="755142" y="6216650"/>
            <a:ext cx="10500627" cy="264033"/>
            <a:chOff x="755142" y="6216650"/>
            <a:chExt cx="10500627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755142" y="62166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D9CA"/>
                  </a:solidFill>
                  <a:latin typeface="+mn-lt"/>
                  <a:ea typeface="+mn-ea"/>
                  <a:cs typeface="+mn-cs"/>
                </a:rPr>
                <a:t>五个习惯，一次尝试一个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42142" y="62166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D9C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iority-title"/>
          <p:cNvGrpSpPr/>
          <p:nvPr/>
        </p:nvGrpSpPr>
        <p:grpSpPr>
          <a:xfrm>
            <a:off x="743712" y="787400"/>
            <a:ext cx="6336792" cy="1091438"/>
            <a:chOff x="743712" y="787400"/>
            <a:chExt cx="6336792" cy="1091438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787400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习惯 01 / 明确重点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117475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先决定，今天最重要的是什么</a:t>
              </a:r>
            </a:p>
          </p:txBody>
        </p:sp>
      </p:grpSp>
      <p:grpSp>
        <p:nvGrpSpPr>
          <p:cNvPr id="9" name="priority-focus"/>
          <p:cNvGrpSpPr/>
          <p:nvPr/>
        </p:nvGrpSpPr>
        <p:grpSpPr>
          <a:xfrm>
            <a:off x="762000" y="2286000"/>
            <a:ext cx="4476750" cy="3143250"/>
            <a:chOff x="762000" y="2286000"/>
            <a:chExt cx="4476750" cy="3143250"/>
          </a:xfrm>
        </p:grpSpPr>
        <p:sp>
          <p:nvSpPr>
            <p:cNvPr id="5" name="Rectangle 5"/>
            <p:cNvSpPr/>
            <p:nvPr/>
          </p:nvSpPr>
          <p:spPr>
            <a:xfrm>
              <a:off x="762000" y="2286000"/>
              <a:ext cx="4476750" cy="3143250"/>
            </a:xfrm>
            <a:prstGeom prst="roundRect">
              <a:avLst>
                <a:gd name="adj" fmla="val 6061"/>
              </a:avLst>
            </a:prstGeom>
            <a:solidFill>
              <a:srgbClr val="163D3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32332" y="26987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C5D9CA"/>
                  </a:solidFill>
                  <a:latin typeface="+mn-lt"/>
                  <a:ea typeface="+mn-ea"/>
                  <a:cs typeface="+mn-cs"/>
                </a:rPr>
                <a:t>今日重点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3950" y="3302000"/>
              <a:ext cx="234010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一件事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2332" y="46990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值得优先完成的成果</a:t>
              </a:r>
            </a:p>
          </p:txBody>
        </p:sp>
      </p:grpSp>
      <p:grpSp>
        <p:nvGrpSpPr>
          <p:cNvPr id="13" name="priority-practice"/>
          <p:cNvGrpSpPr/>
          <p:nvPr/>
        </p:nvGrpSpPr>
        <p:grpSpPr>
          <a:xfrm>
            <a:off x="6085332" y="2603500"/>
            <a:ext cx="3696462" cy="2649093"/>
            <a:chOff x="6085332" y="2603500"/>
            <a:chExt cx="3696462" cy="2649093"/>
          </a:xfrm>
        </p:grpSpPr>
        <p:sp>
          <p:nvSpPr>
            <p:cNvPr id="10" name="TextBox 10"/>
            <p:cNvSpPr txBox="1"/>
            <p:nvPr/>
          </p:nvSpPr>
          <p:spPr>
            <a:xfrm>
              <a:off x="6085332" y="260350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打开消息之前，先写下：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85332" y="3298825"/>
              <a:ext cx="2301621" cy="88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21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“今天结束时，</a:t>
              </a:r>
              <a:br>
                <a:rPr lang="zh-CN" sz="21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我希望完成什么？”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85332" y="484187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把它写成一个看得见的结果。</a:t>
              </a:r>
            </a:p>
          </p:txBody>
        </p:sp>
      </p:grpSp>
      <p:grpSp>
        <p:nvGrpSpPr>
          <p:cNvPr id="16" name="priority-footer"/>
          <p:cNvGrpSpPr/>
          <p:nvPr/>
        </p:nvGrpSpPr>
        <p:grpSpPr>
          <a:xfrm>
            <a:off x="755142" y="6216650"/>
            <a:ext cx="10500627" cy="264033"/>
            <a:chOff x="755142" y="6216650"/>
            <a:chExt cx="10500627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755142" y="6216650"/>
              <a:ext cx="3321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尝试：把“推进方案”改成“完成方案初稿”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042142" y="62166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focus-title"/>
          <p:cNvGrpSpPr/>
          <p:nvPr/>
        </p:nvGrpSpPr>
        <p:grpSpPr>
          <a:xfrm>
            <a:off x="743712" y="787400"/>
            <a:ext cx="6336792" cy="1091438"/>
            <a:chOff x="743712" y="787400"/>
            <a:chExt cx="6336792" cy="1091438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787400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习惯 02 / 留出专注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117475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给重要的事，留一段完整时间</a:t>
              </a:r>
            </a:p>
          </p:txBody>
        </p:sp>
      </p:grpSp>
      <p:grpSp>
        <p:nvGrpSpPr>
          <p:cNvPr id="6" name="focus-statement"/>
          <p:cNvGrpSpPr/>
          <p:nvPr/>
        </p:nvGrpSpPr>
        <p:grpSpPr>
          <a:xfrm>
            <a:off x="743712" y="2530475"/>
            <a:ext cx="5980176" cy="1323213"/>
            <a:chOff x="743712" y="2530475"/>
            <a:chExt cx="5980176" cy="1323213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530475"/>
              <a:ext cx="5980176" cy="13232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75"/>
                </a:lnSpc>
              </a:pPr>
              <a:r>
                <a:rPr lang="zh-CN" sz="36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关掉非必要提醒，</a:t>
              </a:r>
              <a:br>
                <a:rPr lang="zh-CN" sz="36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6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只打开当前任务需要的窗口。</a:t>
              </a:r>
            </a:p>
          </p:txBody>
        </p:sp>
      </p:grpSp>
      <p:grpSp>
        <p:nvGrpSpPr>
          <p:cNvPr id="10" name="focus-action"/>
          <p:cNvGrpSpPr/>
          <p:nvPr/>
        </p:nvGrpSpPr>
        <p:grpSpPr>
          <a:xfrm>
            <a:off x="762000" y="4429125"/>
            <a:ext cx="10668000" cy="1238250"/>
            <a:chOff x="762000" y="4429125"/>
            <a:chExt cx="10668000" cy="1238250"/>
          </a:xfrm>
        </p:grpSpPr>
        <p:sp>
          <p:nvSpPr>
            <p:cNvPr id="7" name="Rectangle 7"/>
            <p:cNvSpPr/>
            <p:nvPr/>
          </p:nvSpPr>
          <p:spPr>
            <a:xfrm>
              <a:off x="762000" y="4429125"/>
              <a:ext cx="10668000" cy="1238250"/>
            </a:xfrm>
            <a:prstGeom prst="roundRect">
              <a:avLst>
                <a:gd name="adj" fmla="val 12308"/>
              </a:avLst>
            </a:prstGeom>
            <a:solidFill>
              <a:srgbClr val="E4EAD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4707" y="465137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小练习：在日历里安排一段专注时间。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4707" y="5127625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遇到新想法先记下，完成当前步骤后再处理。</a:t>
              </a:r>
            </a:p>
          </p:txBody>
        </p:sp>
      </p:grpSp>
      <p:grpSp>
        <p:nvGrpSpPr>
          <p:cNvPr id="13" name="focus-footer"/>
          <p:cNvGrpSpPr/>
          <p:nvPr/>
        </p:nvGrpSpPr>
        <p:grpSpPr>
          <a:xfrm>
            <a:off x="755142" y="6216650"/>
            <a:ext cx="10500627" cy="264033"/>
            <a:chOff x="755142" y="6216650"/>
            <a:chExt cx="10500627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755142" y="62166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留白不是空闲，是为当前任务保留空间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042142" y="62166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apture-title"/>
          <p:cNvGrpSpPr/>
          <p:nvPr/>
        </p:nvGrpSpPr>
        <p:grpSpPr>
          <a:xfrm>
            <a:off x="743712" y="787400"/>
            <a:ext cx="6336792" cy="1091438"/>
            <a:chOff x="743712" y="787400"/>
            <a:chExt cx="6336792" cy="1091438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787400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习惯 03 / 随手记录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117475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把待办写下来，给头脑腾位置</a:t>
              </a:r>
            </a:p>
          </p:txBody>
        </p:sp>
      </p:grpSp>
      <p:grpSp>
        <p:nvGrpSpPr>
          <p:cNvPr id="8" name="capture-copy"/>
          <p:cNvGrpSpPr/>
          <p:nvPr/>
        </p:nvGrpSpPr>
        <p:grpSpPr>
          <a:xfrm>
            <a:off x="751332" y="2746375"/>
            <a:ext cx="3413760" cy="2391918"/>
            <a:chOff x="751332" y="2746375"/>
            <a:chExt cx="3413760" cy="2391918"/>
          </a:xfrm>
        </p:grpSpPr>
        <p:sp>
          <p:nvSpPr>
            <p:cNvPr id="5" name="TextBox 5"/>
            <p:cNvSpPr txBox="1"/>
            <p:nvPr/>
          </p:nvSpPr>
          <p:spPr>
            <a:xfrm>
              <a:off x="751332" y="274637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选一个固定的记录入口：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1332" y="336550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纸本、备忘录或任务清单。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1332" y="4251325"/>
              <a:ext cx="2688336" cy="88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210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临时请求先收进去，</a:t>
              </a:r>
              <a:br>
                <a:rPr lang="zh-CN" sz="210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再统一决定何时处理。</a:t>
              </a:r>
            </a:p>
          </p:txBody>
        </p:sp>
      </p:grpSp>
      <p:grpSp>
        <p:nvGrpSpPr>
          <p:cNvPr id="18" name="capture-example"/>
          <p:cNvGrpSpPr/>
          <p:nvPr/>
        </p:nvGrpSpPr>
        <p:grpSpPr>
          <a:xfrm>
            <a:off x="6381750" y="2286000"/>
            <a:ext cx="5048250" cy="3333750"/>
            <a:chOff x="6381750" y="2286000"/>
            <a:chExt cx="5048250" cy="3333750"/>
          </a:xfrm>
        </p:grpSpPr>
        <p:sp>
          <p:nvSpPr>
            <p:cNvPr id="9" name="Rectangle 9"/>
            <p:cNvSpPr/>
            <p:nvPr/>
          </p:nvSpPr>
          <p:spPr>
            <a:xfrm>
              <a:off x="6381750" y="2286000"/>
              <a:ext cx="5048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752082" y="2603500"/>
              <a:ext cx="2711577" cy="2458593"/>
              <a:chOff x="6752082" y="2603500"/>
              <a:chExt cx="2711577" cy="2458593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752082" y="2603500"/>
                <a:ext cx="175995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163D35"/>
                    </a:solidFill>
                    <a:latin typeface="+mn-lt"/>
                    <a:ea typeface="+mn-ea"/>
                    <a:cs typeface="+mn-cs"/>
                  </a:rPr>
                  <a:t>收集箱 · 示例</a:t>
                </a: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6838950" y="3409950"/>
                <a:ext cx="133350" cy="133350"/>
              </a:xfrm>
              <a:prstGeom prst="ellipse">
                <a:avLst/>
              </a:prstGeom>
              <a:solidFill>
                <a:srgbClr val="D8AD69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180707" y="3317875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163D35"/>
                    </a:solidFill>
                    <a:latin typeface="+mn-lt"/>
                    <a:ea typeface="+mn-ea"/>
                    <a:cs typeface="+mn-cs"/>
                  </a:rPr>
                  <a:t>回复客户的问题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6838950" y="4076700"/>
                <a:ext cx="133350" cy="133350"/>
              </a:xfrm>
              <a:prstGeom prst="ellipse">
                <a:avLst/>
              </a:prstGeom>
              <a:solidFill>
                <a:srgbClr val="D8AD69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180707" y="3984625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163D35"/>
                    </a:solidFill>
                    <a:latin typeface="+mn-lt"/>
                    <a:ea typeface="+mn-ea"/>
                    <a:cs typeface="+mn-cs"/>
                  </a:rPr>
                  <a:t>整理会议决定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6838950" y="4743450"/>
                <a:ext cx="133350" cy="133350"/>
              </a:xfrm>
              <a:prstGeom prst="ellipse">
                <a:avLst/>
              </a:prstGeom>
              <a:solidFill>
                <a:srgbClr val="D8AD69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180707" y="4651375"/>
                <a:ext cx="228295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163D35"/>
                    </a:solidFill>
                    <a:latin typeface="+mn-lt"/>
                    <a:ea typeface="+mn-ea"/>
                    <a:cs typeface="+mn-cs"/>
                  </a:rPr>
                  <a:t>补充方案里的示例</a:t>
                </a:r>
              </a:p>
            </p:txBody>
          </p:sp>
        </p:grpSp>
      </p:grpSp>
      <p:grpSp>
        <p:nvGrpSpPr>
          <p:cNvPr id="21" name="capture-footer"/>
          <p:cNvGrpSpPr/>
          <p:nvPr/>
        </p:nvGrpSpPr>
        <p:grpSpPr>
          <a:xfrm>
            <a:off x="755142" y="6216650"/>
            <a:ext cx="10500627" cy="264033"/>
            <a:chOff x="755142" y="6216650"/>
            <a:chExt cx="1050062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755142" y="62166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先记录，再整理；不必在每个念头出现时立刻行动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42142" y="62166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mmunicate-title"/>
          <p:cNvGrpSpPr/>
          <p:nvPr/>
        </p:nvGrpSpPr>
        <p:grpSpPr>
          <a:xfrm>
            <a:off x="743712" y="787400"/>
            <a:ext cx="6336792" cy="1091438"/>
            <a:chOff x="743712" y="787400"/>
            <a:chExt cx="6336792" cy="1091438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787400"/>
              <a:ext cx="174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习惯 04 / 说清下一步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117475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每次沟通，都留下明确的行动</a:t>
              </a:r>
            </a:p>
          </p:txBody>
        </p:sp>
      </p:grpSp>
      <p:grpSp>
        <p:nvGrpSpPr>
          <p:cNvPr id="6" name="communicate-prompt"/>
          <p:cNvGrpSpPr/>
          <p:nvPr/>
        </p:nvGrpSpPr>
        <p:grpSpPr>
          <a:xfrm>
            <a:off x="751332" y="2508250"/>
            <a:ext cx="5703646" cy="410718"/>
            <a:chOff x="751332" y="2508250"/>
            <a:chExt cx="5703646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751332" y="2508250"/>
              <a:ext cx="57036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结束讨论前，问一句：“接下来具体做什么？”</a:t>
              </a:r>
            </a:p>
          </p:txBody>
        </p:sp>
      </p:grpSp>
      <p:grpSp>
        <p:nvGrpSpPr>
          <p:cNvPr id="11" name="communicate-example"/>
          <p:cNvGrpSpPr/>
          <p:nvPr/>
        </p:nvGrpSpPr>
        <p:grpSpPr>
          <a:xfrm>
            <a:off x="762000" y="3381375"/>
            <a:ext cx="10668000" cy="2095500"/>
            <a:chOff x="762000" y="3381375"/>
            <a:chExt cx="10668000" cy="2095500"/>
          </a:xfrm>
        </p:grpSpPr>
        <p:sp>
          <p:nvSpPr>
            <p:cNvPr id="7" name="Rectangle 7"/>
            <p:cNvSpPr/>
            <p:nvPr/>
          </p:nvSpPr>
          <p:spPr>
            <a:xfrm>
              <a:off x="762000" y="3381375"/>
              <a:ext cx="10668000" cy="2095500"/>
            </a:xfrm>
            <a:prstGeom prst="roundRect">
              <a:avLst>
                <a:gd name="adj" fmla="val 7273"/>
              </a:avLst>
            </a:prstGeom>
            <a:solidFill>
              <a:srgbClr val="163D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6142" y="3787775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D9CA"/>
                  </a:solidFill>
                  <a:latin typeface="+mn-lt"/>
                  <a:ea typeface="+mn-ea"/>
                  <a:cs typeface="+mn-cs"/>
                </a:rPr>
                <a:t>行动描述 · 示例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2332" y="431800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小林在周五下班前，发出方案初稿；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2332" y="484187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评审人收到后，集中反馈需要调整的部分。</a:t>
              </a:r>
            </a:p>
          </p:txBody>
        </p:sp>
      </p:grpSp>
      <p:grpSp>
        <p:nvGrpSpPr>
          <p:cNvPr id="14" name="communicate-footer"/>
          <p:cNvGrpSpPr/>
          <p:nvPr/>
        </p:nvGrpSpPr>
        <p:grpSpPr>
          <a:xfrm>
            <a:off x="755142" y="6216650"/>
            <a:ext cx="10500627" cy="264033"/>
            <a:chOff x="755142" y="6216650"/>
            <a:chExt cx="10500627" cy="264033"/>
          </a:xfrm>
        </p:grpSpPr>
        <p:sp>
          <p:nvSpPr>
            <p:cNvPr id="12" name="TextBox 12"/>
            <p:cNvSpPr txBox="1"/>
            <p:nvPr/>
          </p:nvSpPr>
          <p:spPr>
            <a:xfrm>
              <a:off x="755142" y="62166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检查三个要素：负责人、交付物、完成时间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42142" y="62166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269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review-title"/>
          <p:cNvGrpSpPr/>
          <p:nvPr/>
        </p:nvGrpSpPr>
        <p:grpSpPr>
          <a:xfrm>
            <a:off x="743712" y="787400"/>
            <a:ext cx="6821424" cy="1091438"/>
            <a:chOff x="743712" y="787400"/>
            <a:chExt cx="6821424" cy="1091438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787400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D9CA"/>
                  </a:solidFill>
                  <a:latin typeface="+mn-lt"/>
                  <a:ea typeface="+mn-ea"/>
                  <a:cs typeface="+mn-cs"/>
                </a:rPr>
                <a:t>习惯 05 / 收尾复盘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3712" y="117475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结束一天，也为明天留一个起点</a:t>
              </a:r>
            </a:p>
          </p:txBody>
        </p:sp>
      </p:grpSp>
      <p:grpSp>
        <p:nvGrpSpPr>
          <p:cNvPr id="8" name="review-questions"/>
          <p:cNvGrpSpPr/>
          <p:nvPr/>
        </p:nvGrpSpPr>
        <p:grpSpPr>
          <a:xfrm>
            <a:off x="751332" y="2508250"/>
            <a:ext cx="3413760" cy="1553718"/>
            <a:chOff x="751332" y="2508250"/>
            <a:chExt cx="3413760" cy="1553718"/>
          </a:xfrm>
        </p:grpSpPr>
        <p:sp>
          <p:nvSpPr>
            <p:cNvPr id="5" name="TextBox 5"/>
            <p:cNvSpPr txBox="1"/>
            <p:nvPr/>
          </p:nvSpPr>
          <p:spPr>
            <a:xfrm>
              <a:off x="751332" y="25082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今天完成了什么？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1332" y="30797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还有什么需要接着做？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1332" y="365125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7F4EB"/>
                  </a:solidFill>
                  <a:latin typeface="+mn-lt"/>
                  <a:ea typeface="+mn-ea"/>
                  <a:cs typeface="+mn-cs"/>
                </a:rPr>
                <a:t>明天开始时，先迈哪一步？</a:t>
              </a:r>
            </a:p>
          </p:txBody>
        </p:sp>
      </p:grpSp>
      <p:grpSp>
        <p:nvGrpSpPr>
          <p:cNvPr id="11" name="review-call"/>
          <p:cNvGrpSpPr/>
          <p:nvPr/>
        </p:nvGrpSpPr>
        <p:grpSpPr>
          <a:xfrm>
            <a:off x="762000" y="4619625"/>
            <a:ext cx="10668000" cy="1047750"/>
            <a:chOff x="762000" y="4619625"/>
            <a:chExt cx="10668000" cy="1047750"/>
          </a:xfrm>
        </p:grpSpPr>
        <p:sp>
          <p:nvSpPr>
            <p:cNvPr id="9" name="Rectangle 9"/>
            <p:cNvSpPr/>
            <p:nvPr/>
          </p:nvSpPr>
          <p:spPr>
            <a:xfrm>
              <a:off x="762000" y="4619625"/>
              <a:ext cx="10668000" cy="1047750"/>
            </a:xfrm>
            <a:prstGeom prst="roundRect">
              <a:avLst>
                <a:gd name="adj" fmla="val 14545"/>
              </a:avLst>
            </a:prstGeom>
            <a:solidFill>
              <a:srgbClr val="D8AD6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4712" y="4841875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163D35"/>
                  </a:solidFill>
                  <a:latin typeface="+mn-lt"/>
                  <a:ea typeface="+mn-ea"/>
                  <a:cs typeface="+mn-cs"/>
                </a:rPr>
                <a:t>现在，选一个习惯，明天试一次。</a:t>
              </a:r>
            </a:p>
          </p:txBody>
        </p:sp>
      </p:grpSp>
      <p:grpSp>
        <p:nvGrpSpPr>
          <p:cNvPr id="14" name="review-footer"/>
          <p:cNvGrpSpPr/>
          <p:nvPr/>
        </p:nvGrpSpPr>
        <p:grpSpPr>
          <a:xfrm>
            <a:off x="755142" y="6216650"/>
            <a:ext cx="10500627" cy="264033"/>
            <a:chOff x="755142" y="6216650"/>
            <a:chExt cx="10500627" cy="264033"/>
          </a:xfrm>
        </p:grpSpPr>
        <p:sp>
          <p:nvSpPr>
            <p:cNvPr id="12" name="TextBox 12"/>
            <p:cNvSpPr txBox="1"/>
            <p:nvPr/>
          </p:nvSpPr>
          <p:spPr>
            <a:xfrm>
              <a:off x="755142" y="62166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D9CA"/>
                  </a:solidFill>
                  <a:latin typeface="+mn-lt"/>
                  <a:ea typeface="+mn-ea"/>
                  <a:cs typeface="+mn-cs"/>
                </a:rPr>
                <a:t>不必一次改变全部，从一个小动作开始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42142" y="62166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D9C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ighter_work">
  <a:themeElements>
    <a:clrScheme name="lighter_wor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ighter_work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ighter_wo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2026-10-22T14:23:09Z</dcterms:created>
  <dcterms:modified xsi:type="dcterms:W3CDTF">2026-10-22T14:23:09Z</dcterms:modified>
  <cp:category/>
  <cp:contentStatus/>
</cp:coreProperties>
</file>