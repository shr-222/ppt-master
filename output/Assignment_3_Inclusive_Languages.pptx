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25"/>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92000" cy="6858000" type="screen16x9"/>
  <p:notesSz cx="6858000" cy="9144000"/>
  <p:defaultTextStyle>
    <a:defPPr>
      <a:defRPr lang="en-AU"/>
    </a:defPPr>
    <a:lvl1pPr marL="0" algn="l" defTabSz="457200" rtl="0" eaLnBrk="1" latinLnBrk="0" hangingPunct="1">
      <a:defRPr sz="1800" kern="1200" lang="en-AU">
        <a:solidFill>
          <a:schemeClr val="tx1"/>
        </a:solidFill>
        <a:latin typeface="+mn-lt"/>
        <a:ea typeface="+mn-ea"/>
        <a:cs typeface="+mn-cs"/>
      </a:defRPr>
    </a:lvl1pPr>
    <a:lvl2pPr marL="457200" algn="l" defTabSz="457200" rtl="0" eaLnBrk="1" latinLnBrk="0" hangingPunct="1">
      <a:defRPr sz="1800" kern="1200" lang="en-AU">
        <a:solidFill>
          <a:schemeClr val="tx1"/>
        </a:solidFill>
        <a:latin typeface="+mn-lt"/>
        <a:ea typeface="+mn-ea"/>
        <a:cs typeface="+mn-cs"/>
      </a:defRPr>
    </a:lvl2pPr>
    <a:lvl3pPr marL="914400" algn="l" defTabSz="457200" rtl="0" eaLnBrk="1" latinLnBrk="0" hangingPunct="1">
      <a:defRPr sz="1800" kern="1200" lang="en-AU">
        <a:solidFill>
          <a:schemeClr val="tx1"/>
        </a:solidFill>
        <a:latin typeface="+mn-lt"/>
        <a:ea typeface="+mn-ea"/>
        <a:cs typeface="+mn-cs"/>
      </a:defRPr>
    </a:lvl3pPr>
    <a:lvl4pPr marL="1371600" algn="l" defTabSz="457200" rtl="0" eaLnBrk="1" latinLnBrk="0" hangingPunct="1">
      <a:defRPr sz="1800" kern="1200" lang="en-AU">
        <a:solidFill>
          <a:schemeClr val="tx1"/>
        </a:solidFill>
        <a:latin typeface="+mn-lt"/>
        <a:ea typeface="+mn-ea"/>
        <a:cs typeface="+mn-cs"/>
      </a:defRPr>
    </a:lvl4pPr>
    <a:lvl5pPr marL="1828800" algn="l" defTabSz="457200" rtl="0" eaLnBrk="1" latinLnBrk="0" hangingPunct="1">
      <a:defRPr sz="1800" kern="1200" lang="en-AU">
        <a:solidFill>
          <a:schemeClr val="tx1"/>
        </a:solidFill>
        <a:latin typeface="+mn-lt"/>
        <a:ea typeface="+mn-ea"/>
        <a:cs typeface="+mn-cs"/>
      </a:defRPr>
    </a:lvl5pPr>
    <a:lvl6pPr marL="2286000" algn="l" defTabSz="457200" rtl="0" eaLnBrk="1" latinLnBrk="0" hangingPunct="1">
      <a:defRPr sz="1800" kern="1200" lang="en-AU">
        <a:solidFill>
          <a:schemeClr val="tx1"/>
        </a:solidFill>
        <a:latin typeface="+mn-lt"/>
        <a:ea typeface="+mn-ea"/>
        <a:cs typeface="+mn-cs"/>
      </a:defRPr>
    </a:lvl6pPr>
    <a:lvl7pPr marL="2743200" algn="l" defTabSz="457200" rtl="0" eaLnBrk="1" latinLnBrk="0" hangingPunct="1">
      <a:defRPr sz="1800" kern="1200" lang="en-AU">
        <a:solidFill>
          <a:schemeClr val="tx1"/>
        </a:solidFill>
        <a:latin typeface="+mn-lt"/>
        <a:ea typeface="+mn-ea"/>
        <a:cs typeface="+mn-cs"/>
      </a:defRPr>
    </a:lvl7pPr>
    <a:lvl8pPr marL="3200400" algn="l" defTabSz="457200" rtl="0" eaLnBrk="1" latinLnBrk="0" hangingPunct="1">
      <a:defRPr sz="1800" kern="1200" lang="en-AU">
        <a:solidFill>
          <a:schemeClr val="tx1"/>
        </a:solidFill>
        <a:latin typeface="+mn-lt"/>
        <a:ea typeface="+mn-ea"/>
        <a:cs typeface="+mn-cs"/>
      </a:defRPr>
    </a:lvl8pPr>
    <a:lvl9pPr marL="3657600" algn="l" defTabSz="457200" rtl="0" eaLnBrk="1" latinLnBrk="0" hangingPunct="1">
      <a:defRPr sz="1800" kern="1200" lang="en-AU">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  <Relationship Id="rId25"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en-AU"/>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en-AU"/>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en-AU"/>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en-AU"/>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en-AU"/>
          </a:p>
        </p:txBody>
      </p:sp>
    </p:spTree>
  </p:cSld>
  <p:clrMap bg1="lt1" tx1="dk1" bg2="lt2" tx2="dk2" accent1="accent1" accent2="accent2" accent3="accent3" accent4="accent4" accent5="accent5" accent6="accent6" hlink="hlink" folHlink="folHlink"/>
  <p:hf/>
  <p:notesStyle>
    <a:lvl1pPr marL="0" algn="l">
      <a:defRPr sz="1200" lang="en-AU"/>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AU" dirty="0"/>
              <a:t>Colleagues, inclusion should be judged by what a student can access, contribute to and feel part of, rather than by classroom placement alone. I will revisit my submitted individual learning plan for Jode, then consider three hypothetical learners in beginner Chinese. My proposition is that ambitious learning and flexible access belong together. The original plan and tutor feedback are available; the wider unit-reading archive is not. The distinction matters: I will identify what I actually submitted, what I now propose, and what still needs consultation and evidence. The appendix supports the discussion rather than extending the timed presentation.</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AU" dirty="0"/>
              <a:t>Jode is thirteen and in Year Seven. Strong literacy, numeracy, reading and ICT are starting points, alongside swimming, outdoor interests and an app-development aspiration. The case describes working-memory difficulties, fatigue, limited verbal communication and left-side weakness following a brain injury. Jode uses a cane, not a wheelchair. Inaccessible rooms and disability-based taunts create further barriers. ASHA’s pediatric traumatic-brain-injury guidance describes possible cognitive and communication needs, but it does not establish Jode’s injury mechanism or prognosis. I would ask Jode and the family how these particular barriers affect participation. Graduate APST one point six connects disability knowledge with teaching strategies, rather than assumptions about ability.</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AU" dirty="0"/>
              <a:t>My submitted plan already included checklists, AAC, rest, flexible timing, family consultation, specialist input and access planning. It also included a year-end app aspiration. I should retain these foundations, including assessment adjustments the tutor praised. However, naming a support does not show that it was implemented or effective. The tutor identified incomplete profile fields, insufficiently developed goals, vague environmental wording and an overreliance on a trusted adult for safety. My revision would complete known family information without inventing cultural identity, assign school-wide responsibilities, and extend accountability across the school year. Standards should explain decisions throughout the plan, rather than appear mainly in the additional notes.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AU" dirty="0"/>
              <a:t>The original four-week goal already specified four of five tasks and two contributions using Jode’s preferred communication method. The gap is not an absence of numbers: completion alone does not establish Chinese learning, communication quality or belonging. I propose adding accuracy on a short listening task, prompt level and fatigue, compared with a first-week baseline. Appendix A offers trial criteria to negotiate, not results I have observed. Safety evidence would combine prompt responses to reports with Jode’s account of belonging; fewer reports alone could conceal fear. The year-end app aspiration also needs manageable milestones and feedback, while long-term access goals need a school-year horizon.</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AU" dirty="0"/>
              <a:t>Consider a Chinese food-order listening task. I model “Wǒ yào mǐfàn”, meaning “I want rice”, show the current step, play one short phrase and let Jode replay before selecting the corresponding menu item. I check understanding before adding another step and agree rest options without penalising their use. This makes chunking an actual activity rather than a label. CESE explains the limited processing of new information, while Rosenshine supports modelling, small steps, guided practice and checking. Neither source establishes a recovery prognosis. I would record response accuracy, prompts and fatigue. If fatigue rises despite correct answers, the trial may need shorter segments rather than easier learning. This preserves the comprehension objective.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AU" dirty="0"/>
              <a:t>The response mode depends on the assessed construct. If the goal is understanding an order and sustaining an exchange, pinyin input, character selection or typed and AAC-supported turns may provide access. The partner must wait and respond: device use alone is not reciprocal participation. I would trial input with Jode, their speech pathologist and occupational therapist, considering the student, environment, task and tool. ASHA supports individual, ongoing AAC assessment. Limited speech makes routine speech-to-text inappropriate. If Chinese speech production itself is assessed, typed output cannot simply be relabelled as the same achievement. We need a documented, consulted approach to that specific objective, while retaining access to the wider language curriculum.</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AU" dirty="0"/>
              <a:t>Amira is hypothetical: she has Arabic literacy and consistent prior schooling, and is developing English. These are chosen profile details, not assumptions about Arabic-speaking students. Complex English directions may hide her understanding of a beginner-Chinese matching task. I would model a match, clarify directions bilingually where useful, and collaborate with EAL/D staff. NSW guidance supports examining a task’s language and conceptual demands. The assessment then checks Chinese comprehension separately from English proficiency. I would look for independent matching after scaffolded practice and ask whether the directions helped. Graduate APST one point three requires responsiveness to linguistic diversity, not a judgment about cognitive ability.</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AU" dirty="0"/>
              <a:t>Noah is a hypothetical neurodivergent learner with strong vocabulary recall and reported attention, task-switching and sensory access needs; no diagnosis is inferred. Noisy rotating conversation stations delay his start. I would preview the task, offer a sequenced cue card and ask whether a quieter partner exchange helps. The quiet option must retain meaningful interaction, not become isolation or a lower expectation. CAST’s UDL framework supports choice, accessible information and attention to distraction; it is not proof that every adjustment works. I would compare task starts and Noah’s account of comfort and agency, rather than treating visible compliance as the only outcome.</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AU" dirty="0"/>
              <a:t>Maya’s hypothetical barriers are a shared device, limited data and costly transport after school. I would discuss these privately before interpreting unfinished practice as low motivation. Loan audio, printed menus and in-school practice provide routes to the same Chinese objective. An offline option should not quietly remove listening practice, and borrowing equipment should not publicly mark Maya as disadvantaged. I would check access and subsequent task completion, then ask whether the route is workable. This applies inclusive design and APST responsiveness to socioeconomic background. Socioeconomic disadvantage is not automatically disability under the DSE, even though a learner may experience intersecting needs.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AU" dirty="0"/>
              <a:t>Jode’s reluctance to attend should prompt attention to safety and belonging, not a behaviour-deficit explanation. A trusted adult is a useful contact but cannot carry the school’s entire response. Leadership needs prevention, explicit reporting and investigation procedures, appropriate supervision, fair consequences, staff development and follow-up for retaliation. DSE Part Eight addresses prevention and responses to disability harassment and victimisation. In Chinese group work I would explicitly teach respectful turn-taking and intervene in taunts. I would not attribute harassment to cultural background or require Jode to mediate it. Records, attendance and student feedback together help assess the response; a falling incident count alone is insufficient.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AU" dirty="0"/>
              <a:t>Swimming and a national-park excursion expose a genuine tension: staff must manage safety while providing comparable participation opportunities. Neither a blanket refusal nor an assurance that every activity must proceed is an adequate individual decision. I would consult Jode, family and relevant specialists, audit changing areas, transport, routes and evacuation, and consider trained support, rest and communication. If an option is unsuitable, document the evidence, adjustments considered and a meaningful alternative with Jode, then review. The submitted plan’s categorical legal conclusion goes beyond what this summary can establish. The barriers raise serious DSE compliance concerns; determining a breach requires fuller facts and proper legal analysis.</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AU" dirty="0"/>
              <a:t>Implementation needs named owners. The teacher collects weekly task accuracy, prompt and fatigue information; the coordinator checks accessible venues and whether agreed supports were delivered; the wellbeing lead follows up safety with Jode and family. Urgent safety concerns require immediate action, not a four-week wait. Four-week trial reviews sit within termly and year-end planning. If progress stalls, first check implementation, then consult and modify the support. Two weeks of difficulty could trigger an earlier classroom review; a safety concern triggers action immediately. Graduate APST five point one and five point four connect assessment and interpretation with teaching changes, while family feedback tests whether the response is acceptable.</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AU" dirty="0"/>
              <a:t>My first plan named many appropriate supports, but the feedback shows why a strategy list is not enough. My responsibility is to connect each barrier with a justified action, a responsible owner and evidence of participation. Universal options can benefit the class; Jode still needs individual consultation and adjustments. I would retain high expectations while staying willing to change the environment, task presentation and response mode. For our faculty, the immediate commitment is one adjustment, one owner and one review date. Success is not merely a completed checklist: it is whether students can learn, contribute and belong.</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AU" dirty="0"/>
              <a:t>Supporting material only. The numerical criteria are proposals to negotiate after baseline, not observed results or universal thresholds. The safety response target is a proposed local procedure, not a quoted statutory deadline. Track learning, communication, self-advocacy, access and wellbeing; review year-end activity access and the app prototype with Jode.</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AU" dirty="0"/>
              <a:t>Supporting material only. Each trial links a barrier, an action and evidence. CESE and Rosenshine concern general instruction; ASHA guidance supports individual communication and access assessment. Student, environment, task and tool are used here as an organising prompt, without making an unverified attribution to SETT. Facilities staff must verify physical routes rather than assume classroom supports remove school-wide barriers.</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AU" dirty="0"/>
              <a:t>Supporting material only. The crosswalk uses Graduate APST descriptors. The DSE are provider legal duties; APST describe professional practice. DSE Parts Three and Five to Eight address adjustments, participation, curriculum, support and harassment. The legislation checked was the August two thousand and twenty-six compilation. Reasonableness is assessed individually; unjustifiable hardship is a separate question and its exception does not apply to Part Eight.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AU" dirty="0"/>
              <a:t>Reference material only. These official or original sources were opened and checked. AITSL’s current online Graduate descriptors were verified, rather than the inaccessible original two thousand and eleven PDF. Rosenshine’s printed pages are twelve to nineteen and thirty-nine, correcting the overbroad range in the original ILP.</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AU" dirty="0"/>
              <a:t>Reference material only. ASHA’s AAC and pediatric traumatic-brain-injury pages, CAST’s UDL Guidelines and NSW EAL/D guidance were checked. The case is grounded in the submitted ILP, handoff and supplied feedback screenshots. The wider course-reading archive was not available, so no unseen chapter is quoted. Rehearse the main thirteen slides aloud to check the twelve-to-fifteen-minute delivery target.</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inclusion_a3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AU" smtClean="0"/>
              <a:t>1/27/13</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C1FF6DA9-008F-8B48-92A6-B652298478BF}" type="slidenum">
              <a:rPr lang="en-AU" smtClean="0"/>
              <a:t>‹#›</a:t>
            </a:fld>
            <a:endParaRPr lang="en-AU"/>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inclusion_a3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lang="en-AU">
                <a:solidFill>
                  <a:schemeClr val="tx1">
                    <a:tint val="75000"/>
                  </a:schemeClr>
                </a:solidFill>
              </a:defRPr>
            </a:lvl1pPr>
          </a:lstStyle>
          <a:p>
            <a:fld id="{5BCAD085-E8A6-8845-BD4E-CB4CCA059FC4}" type="datetimeFigureOut">
              <a:rPr lang="en-AU" smtClean="0"/>
              <a:t>1/27/13</a:t>
            </a:fld>
            <a:endParaRPr lang="en-AU"/>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lang="en-AU">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lang="en-AU">
                <a:solidFill>
                  <a:schemeClr val="tx1">
                    <a:tint val="75000"/>
                  </a:schemeClr>
                </a:solidFill>
              </a:defRPr>
            </a:lvl1pPr>
          </a:lstStyle>
          <a:p>
            <a:fld id="{C1FF6DA9-008F-8B48-92A6-B652298478BF}" type="slidenum">
              <a:rPr lang="en-AU" smtClean="0"/>
              <a:t>‹#›</a:t>
            </a:fld>
            <a:endParaRPr lang="en-AU"/>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3300" kern="1200" lang="en-AU">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2250" kern="1200" lang="en-AU">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100" kern="1200" lang="en-AU">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950" kern="1200" lang="en-AU">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850" kern="1200" lang="en-AU">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700" kern="1200" lang="en-AU">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550" kern="1200" lang="en-AU">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400" kern="1200" lang="en-AU">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250" kern="1200" lang="en-AU">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100" kern="1200" lang="en-AU">
          <a:solidFill>
            <a:schemeClr val="tx1"/>
          </a:solidFill>
          <a:latin typeface="+mn-lt"/>
          <a:ea typeface="+mn-ea"/>
          <a:cs typeface="+mn-cs"/>
        </a:defRPr>
      </a:lvl9pPr>
    </p:bodyStyle>
    <p:otherStyle>
      <a:defPPr>
        <a:defRPr lang="en-AU"/>
      </a:defPPr>
      <a:lvl1pPr marL="0" algn="l" defTabSz="457200" rtl="0" eaLnBrk="1" latinLnBrk="0" hangingPunct="1">
        <a:defRPr sz="2250" kern="1200" lang="en-AU">
          <a:solidFill>
            <a:schemeClr val="tx1"/>
          </a:solidFill>
          <a:latin typeface="+mn-lt"/>
          <a:ea typeface="+mn-ea"/>
          <a:cs typeface="+mn-cs"/>
        </a:defRPr>
      </a:lvl1pPr>
      <a:lvl2pPr marL="457200" algn="l" defTabSz="457200" rtl="0" eaLnBrk="1" latinLnBrk="0" hangingPunct="1">
        <a:defRPr sz="2100" kern="1200" lang="en-AU">
          <a:solidFill>
            <a:schemeClr val="tx1"/>
          </a:solidFill>
          <a:latin typeface="+mn-lt"/>
          <a:ea typeface="+mn-ea"/>
          <a:cs typeface="+mn-cs"/>
        </a:defRPr>
      </a:lvl2pPr>
      <a:lvl3pPr marL="914400" algn="l" defTabSz="457200" rtl="0" eaLnBrk="1" latinLnBrk="0" hangingPunct="1">
        <a:defRPr sz="1950" kern="1200" lang="en-AU">
          <a:solidFill>
            <a:schemeClr val="tx1"/>
          </a:solidFill>
          <a:latin typeface="+mn-lt"/>
          <a:ea typeface="+mn-ea"/>
          <a:cs typeface="+mn-cs"/>
        </a:defRPr>
      </a:lvl3pPr>
      <a:lvl4pPr marL="1371600" algn="l" defTabSz="457200" rtl="0" eaLnBrk="1" latinLnBrk="0" hangingPunct="1">
        <a:defRPr sz="1850" kern="1200" lang="en-AU">
          <a:solidFill>
            <a:schemeClr val="tx1"/>
          </a:solidFill>
          <a:latin typeface="+mn-lt"/>
          <a:ea typeface="+mn-ea"/>
          <a:cs typeface="+mn-cs"/>
        </a:defRPr>
      </a:lvl4pPr>
      <a:lvl5pPr marL="1828800" algn="l" defTabSz="457200" rtl="0" eaLnBrk="1" latinLnBrk="0" hangingPunct="1">
        <a:defRPr sz="1700" kern="1200" lang="en-AU">
          <a:solidFill>
            <a:schemeClr val="tx1"/>
          </a:solidFill>
          <a:latin typeface="+mn-lt"/>
          <a:ea typeface="+mn-ea"/>
          <a:cs typeface="+mn-cs"/>
        </a:defRPr>
      </a:lvl5pPr>
      <a:lvl6pPr marL="2286000" algn="l" defTabSz="457200" rtl="0" eaLnBrk="1" latinLnBrk="0" hangingPunct="1">
        <a:defRPr sz="1550" kern="1200" lang="en-AU">
          <a:solidFill>
            <a:schemeClr val="tx1"/>
          </a:solidFill>
          <a:latin typeface="+mn-lt"/>
          <a:ea typeface="+mn-ea"/>
          <a:cs typeface="+mn-cs"/>
        </a:defRPr>
      </a:lvl6pPr>
      <a:lvl7pPr marL="2743200" algn="l" defTabSz="457200" rtl="0" eaLnBrk="1" latinLnBrk="0" hangingPunct="1">
        <a:defRPr sz="1400" kern="1200" lang="en-AU">
          <a:solidFill>
            <a:schemeClr val="tx1"/>
          </a:solidFill>
          <a:latin typeface="+mn-lt"/>
          <a:ea typeface="+mn-ea"/>
          <a:cs typeface="+mn-cs"/>
        </a:defRPr>
      </a:lvl7pPr>
      <a:lvl8pPr marL="3200400" algn="l" defTabSz="457200" rtl="0" eaLnBrk="1" latinLnBrk="0" hangingPunct="1">
        <a:defRPr sz="1250" kern="1200" lang="en-AU">
          <a:solidFill>
            <a:schemeClr val="tx1"/>
          </a:solidFill>
          <a:latin typeface="+mn-lt"/>
          <a:ea typeface="+mn-ea"/>
          <a:cs typeface="+mn-cs"/>
        </a:defRPr>
      </a:lvl8pPr>
      <a:lvl9pPr marL="3657600" algn="l" defTabSz="457200" rtl="0" eaLnBrk="1" latinLnBrk="0" hangingPunct="1">
        <a:defRPr sz="1100" kern="1200" lang="en-AU">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5.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6.xml"/>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hyperlink" Target="https://www.legislation.gov.au/F2005L00767/2026-08-01/2026-08-01/text/original/epub/OEBPS/document_1/document_1.html" TargetMode="External"/>
  <Relationship Id="rId3" Type="http://schemas.openxmlformats.org/officeDocument/2006/relationships/hyperlink" Target="https://www.aitsl.edu.au/the-standards/teacher-standards" TargetMode="External"/>
  <Relationship Id="rId4" Type="http://schemas.openxmlformats.org/officeDocument/2006/relationships/hyperlink" Target="https://education.nsw.gov.au/content/dam/main-education/about-us/educational-data/cese/2017-cognitive-load-theory.pdf" TargetMode="External"/>
  <Relationship Id="rId5" Type="http://schemas.openxmlformats.org/officeDocument/2006/relationships/hyperlink" Target="https://www.aft.org/sites/default/files/Rosenshine.pdf" TargetMode="External"/>
  <Relationship Id="rId6" Type="http://schemas.openxmlformats.org/officeDocument/2006/relationships/notesSlide" Target="../notesSlides/notesSlide17.xml"/>
</Relationships>
</file>

<file path=ppt/slides/_rels/slide1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hyperlink" Target="https://www.asha.org/practice-portal/professional-issues/augmentative-and-alternative-communication/" TargetMode="External"/>
  <Relationship Id="rId3" Type="http://schemas.openxmlformats.org/officeDocument/2006/relationships/hyperlink" Target="https://www.asha.org/practice-portal/clinical-topics/pediatric-traumatic-brain-injury/" TargetMode="External"/>
  <Relationship Id="rId4" Type="http://schemas.openxmlformats.org/officeDocument/2006/relationships/hyperlink" Target="https://udlguidelines.cast.org/" TargetMode="External"/>
  <Relationship Id="rId5" Type="http://schemas.openxmlformats.org/officeDocument/2006/relationships/hyperlink" Target="https://education.nsw.gov.au/teaching-and-learning/multicultural-education/english-as-an-additional-language-or-dialect/teaching-and-learning" TargetMode="External"/>
  <Relationship Id="rId6" Type="http://schemas.openxmlformats.org/officeDocument/2006/relationships/notesSlide" Target="../notesSlides/notesSlide18.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grpSp>
        <p:nvGrpSpPr>
          <p:cNvPr id="3" name="p01-context"/>
          <p:cNvGrpSpPr/>
          <p:nvPr/>
        </p:nvGrpSpPr>
        <p:grpSpPr>
          <a:xfrm>
            <a:off x="600456" y="676275"/>
            <a:ext cx="6633745" cy="352044"/>
            <a:chOff x="600456" y="676275"/>
            <a:chExt cx="6633745" cy="352044"/>
          </a:xfrm>
        </p:grpSpPr>
        <p:sp>
          <p:nvSpPr>
            <p:cNvPr id="2" name="TextBox 2"/>
            <p:cNvSpPr txBox="1"/>
            <p:nvPr/>
          </p:nvSpPr>
          <p:spPr>
            <a:xfrm>
              <a:off x="600456" y="676275"/>
              <a:ext cx="6633745" cy="352044"/>
            </a:xfrm>
            <a:prstGeom prst="rect">
              <a:avLst/>
            </a:prstGeom>
            <a:noFill/>
            <a:ln>
              <a:noFill/>
            </a:ln>
          </p:spPr>
          <p:txBody>
            <a:bodyPr wrap="none" lIns="0" tIns="0" rIns="0" bIns="0" anchor="t" anchorCtr="0">
              <a:spAutoFit/>
            </a:bodyPr>
            <a:lstStyle/>
            <a:p>
              <a:pPr algn="l"/>
              <a:r>
                <a:rPr lang="en-AU" sz="1800" dirty="0">
                  <a:solidFill>
                    <a:srgbClr val="B8D8D2"/>
                  </a:solidFill>
                  <a:latin typeface="+mn-lt"/>
                  <a:ea typeface="+mn-ea"/>
                  <a:cs typeface="+mn-cs"/>
                </a:rPr>
                <a:t>EDUCATION FOR DIVERSITY · 11355 · ASSIGNMENT 3</a:t>
              </a:r>
            </a:p>
          </p:txBody>
        </p:sp>
      </p:grpSp>
      <p:grpSp>
        <p:nvGrpSpPr>
          <p:cNvPr id="6" name="p01-title"/>
          <p:cNvGrpSpPr/>
          <p:nvPr/>
        </p:nvGrpSpPr>
        <p:grpSpPr>
          <a:xfrm>
            <a:off x="592836" y="1879600"/>
            <a:ext cx="9690216" cy="1407414"/>
            <a:chOff x="592836" y="1879600"/>
            <a:chExt cx="9690216" cy="1407414"/>
          </a:xfrm>
        </p:grpSpPr>
        <p:sp>
          <p:nvSpPr>
            <p:cNvPr id="4" name="TextBox 4"/>
            <p:cNvSpPr txBox="1"/>
            <p:nvPr/>
          </p:nvSpPr>
          <p:spPr>
            <a:xfrm>
              <a:off x="592836" y="1879600"/>
              <a:ext cx="5032222" cy="645414"/>
            </a:xfrm>
            <a:prstGeom prst="rect">
              <a:avLst/>
            </a:prstGeom>
            <a:noFill/>
            <a:ln>
              <a:noFill/>
            </a:ln>
          </p:spPr>
          <p:txBody>
            <a:bodyPr wrap="none" lIns="0" tIns="0" rIns="0" bIns="0" anchor="t" anchorCtr="0">
              <a:spAutoFit/>
            </a:bodyPr>
            <a:lstStyle/>
            <a:p>
              <a:pPr algn="l"/>
              <a:r>
                <a:rPr lang="en-AU" sz="3300" dirty="0">
                  <a:solidFill>
                    <a:srgbClr val="FFFFFF"/>
                  </a:solidFill>
                  <a:latin typeface="+mn-lt"/>
                  <a:ea typeface="+mn-ea"/>
                  <a:cs typeface="+mn-cs"/>
                </a:rPr>
                <a:t xml:space="preserve">Inclusion is </a:t>
              </a:r>
              <a:r>
                <a:rPr lang="en-AU" sz="3300" b="1" dirty="0">
                  <a:solidFill>
                    <a:srgbClr val="A6DDD2"/>
                  </a:solidFill>
                  <a:latin typeface="+mn-lt"/>
                  <a:ea typeface="+mn-ea"/>
                  <a:cs typeface="+mn-cs"/>
                </a:rPr>
                <a:t>participation</a:t>
              </a:r>
            </a:p>
          </p:txBody>
        </p:sp>
        <p:sp>
          <p:nvSpPr>
            <p:cNvPr id="5" name="TextBox 5"/>
            <p:cNvSpPr txBox="1"/>
            <p:nvPr/>
          </p:nvSpPr>
          <p:spPr>
            <a:xfrm>
              <a:off x="592836" y="2641600"/>
              <a:ext cx="9690216" cy="645414"/>
            </a:xfrm>
            <a:prstGeom prst="rect">
              <a:avLst/>
            </a:prstGeom>
            <a:noFill/>
            <a:ln>
              <a:noFill/>
            </a:ln>
          </p:spPr>
          <p:txBody>
            <a:bodyPr wrap="none" lIns="0" tIns="0" rIns="0" bIns="0" anchor="t" anchorCtr="0">
              <a:spAutoFit/>
            </a:bodyPr>
            <a:lstStyle/>
            <a:p>
              <a:pPr algn="l"/>
              <a:r>
                <a:rPr lang="en-AU" sz="3300" dirty="0">
                  <a:solidFill>
                    <a:srgbClr val="FFFFFF"/>
                  </a:solidFill>
                  <a:latin typeface="+mn-lt"/>
                  <a:ea typeface="+mn-ea"/>
                  <a:cs typeface="+mn-cs"/>
                </a:rPr>
                <a:t>Ambitious learning. Accessible ways to take part.</a:t>
              </a:r>
            </a:p>
          </p:txBody>
        </p:sp>
      </p:grpSp>
      <p:grpSp>
        <p:nvGrpSpPr>
          <p:cNvPr id="9" name="p01-subtitle"/>
          <p:cNvGrpSpPr/>
          <p:nvPr/>
        </p:nvGrpSpPr>
        <p:grpSpPr>
          <a:xfrm>
            <a:off x="598170" y="3863975"/>
            <a:ext cx="7683422" cy="926719"/>
            <a:chOff x="598170" y="3863975"/>
            <a:chExt cx="7683422" cy="926719"/>
          </a:xfrm>
        </p:grpSpPr>
        <p:sp>
          <p:nvSpPr>
            <p:cNvPr id="7" name="TextBox 7"/>
            <p:cNvSpPr txBox="1"/>
            <p:nvPr/>
          </p:nvSpPr>
          <p:spPr>
            <a:xfrm>
              <a:off x="598170" y="3863975"/>
              <a:ext cx="7683422" cy="440055"/>
            </a:xfrm>
            <a:prstGeom prst="rect">
              <a:avLst/>
            </a:prstGeom>
            <a:noFill/>
            <a:ln>
              <a:noFill/>
            </a:ln>
          </p:spPr>
          <p:txBody>
            <a:bodyPr wrap="none" lIns="0" tIns="0" rIns="0" bIns="0" anchor="t" anchorCtr="0">
              <a:spAutoFit/>
            </a:bodyPr>
            <a:lstStyle/>
            <a:p>
              <a:pPr algn="l"/>
              <a:r>
                <a:rPr lang="en-AU" sz="2250" dirty="0">
                  <a:solidFill>
                    <a:srgbClr val="FFFFFF"/>
                  </a:solidFill>
                  <a:latin typeface="+mn-lt"/>
                  <a:ea typeface="+mn-ea"/>
                  <a:cs typeface="+mn-cs"/>
                </a:rPr>
                <a:t>Revisiting Jode’s ILP in a Year 7 beginner Chinese class</a:t>
              </a:r>
            </a:p>
          </p:txBody>
        </p:sp>
        <p:sp>
          <p:nvSpPr>
            <p:cNvPr id="8" name="TextBox 8"/>
            <p:cNvSpPr txBox="1"/>
            <p:nvPr/>
          </p:nvSpPr>
          <p:spPr>
            <a:xfrm>
              <a:off x="600456" y="4438650"/>
              <a:ext cx="5493799" cy="352044"/>
            </a:xfrm>
            <a:prstGeom prst="rect">
              <a:avLst/>
            </a:prstGeom>
            <a:noFill/>
            <a:ln>
              <a:noFill/>
            </a:ln>
          </p:spPr>
          <p:txBody>
            <a:bodyPr wrap="none" lIns="0" tIns="0" rIns="0" bIns="0" anchor="t" anchorCtr="0">
              <a:spAutoFit/>
            </a:bodyPr>
            <a:lstStyle/>
            <a:p>
              <a:pPr algn="l"/>
              <a:r>
                <a:rPr lang="en-AU" sz="1800" dirty="0">
                  <a:solidFill>
                    <a:srgbClr val="FFFFFF"/>
                  </a:solidFill>
                  <a:latin typeface="+mn-lt"/>
                  <a:ea typeface="+mn-ea"/>
                  <a:cs typeface="+mn-cs"/>
                </a:rPr>
                <a:t>A professional conversation with faculty colleagues</a:t>
              </a:r>
            </a:p>
          </p:txBody>
        </p:sp>
      </p:grpSp>
      <p:grpSp>
        <p:nvGrpSpPr>
          <p:cNvPr id="11" name="p01-admin"/>
          <p:cNvGrpSpPr/>
          <p:nvPr/>
        </p:nvGrpSpPr>
        <p:grpSpPr>
          <a:xfrm>
            <a:off x="600456" y="5534025"/>
            <a:ext cx="7543046" cy="352044"/>
            <a:chOff x="600456" y="5534025"/>
            <a:chExt cx="7543046" cy="352044"/>
          </a:xfrm>
        </p:grpSpPr>
        <p:sp>
          <p:nvSpPr>
            <p:cNvPr id="10" name="TextBox 10"/>
            <p:cNvSpPr txBox="1"/>
            <p:nvPr/>
          </p:nvSpPr>
          <p:spPr>
            <a:xfrm>
              <a:off x="600456" y="5534025"/>
              <a:ext cx="7543046" cy="352044"/>
            </a:xfrm>
            <a:prstGeom prst="rect">
              <a:avLst/>
            </a:prstGeom>
            <a:noFill/>
            <a:ln>
              <a:noFill/>
            </a:ln>
          </p:spPr>
          <p:txBody>
            <a:bodyPr wrap="none" lIns="0" tIns="0" rIns="0" bIns="0" anchor="t" anchorCtr="0">
              <a:spAutoFit/>
            </a:bodyPr>
            <a:lstStyle/>
            <a:p>
              <a:pPr algn="l"/>
              <a:r>
                <a:rPr lang="en-AU" sz="1800" dirty="0">
                  <a:solidFill>
                    <a:srgbClr val="B8D8D2"/>
                  </a:solidFill>
                  <a:latin typeface="+mn-lt"/>
                  <a:ea typeface="+mn-ea"/>
                  <a:cs typeface="+mn-cs"/>
                </a:rPr>
                <a:t>Name: __________ Student number: __________ Date: __________</a:t>
              </a:r>
            </a:p>
          </p:txBody>
        </p:sp>
      </p:grpSp>
      <p:grpSp>
        <p:nvGrpSpPr>
          <p:cNvPr id="14" name="p01-footer"/>
          <p:cNvGrpSpPr/>
          <p:nvPr/>
        </p:nvGrpSpPr>
        <p:grpSpPr>
          <a:xfrm>
            <a:off x="603504" y="6276975"/>
            <a:ext cx="10774169" cy="234696"/>
            <a:chOff x="603504" y="6276975"/>
            <a:chExt cx="10774169" cy="234696"/>
          </a:xfrm>
        </p:grpSpPr>
        <p:sp>
          <p:nvSpPr>
            <p:cNvPr id="12" name="TextBox 12"/>
            <p:cNvSpPr txBox="1"/>
            <p:nvPr/>
          </p:nvSpPr>
          <p:spPr>
            <a:xfrm>
              <a:off x="603504" y="6276975"/>
              <a:ext cx="4394751" cy="234696"/>
            </a:xfrm>
            <a:prstGeom prst="rect">
              <a:avLst/>
            </a:prstGeom>
            <a:noFill/>
            <a:ln>
              <a:noFill/>
            </a:ln>
          </p:spPr>
          <p:txBody>
            <a:bodyPr wrap="none" lIns="0" tIns="0" rIns="0" bIns="0" anchor="t" anchorCtr="0">
              <a:spAutoFit/>
            </a:bodyPr>
            <a:lstStyle/>
            <a:p>
              <a:pPr algn="l"/>
              <a:r>
                <a:rPr lang="en-AU" sz="1200" dirty="0">
                  <a:solidFill>
                    <a:srgbClr val="B8D8D2"/>
                  </a:solidFill>
                  <a:latin typeface="+mn-lt"/>
                  <a:ea typeface="+mn-ea"/>
                  <a:cs typeface="+mn-cs"/>
                </a:rPr>
                <a:t>13 spoken slides · supporting appendix and references follow</a:t>
              </a:r>
            </a:p>
          </p:txBody>
        </p:sp>
        <p:sp>
          <p:nvSpPr>
            <p:cNvPr id="13" name="TextBox 13"/>
            <p:cNvSpPr txBox="1"/>
            <p:nvPr/>
          </p:nvSpPr>
          <p:spPr>
            <a:xfrm>
              <a:off x="11185779" y="6276975"/>
              <a:ext cx="191894" cy="234696"/>
            </a:xfrm>
            <a:prstGeom prst="rect">
              <a:avLst/>
            </a:prstGeom>
            <a:noFill/>
            <a:ln>
              <a:noFill/>
            </a:ln>
          </p:spPr>
          <p:txBody>
            <a:bodyPr wrap="none" lIns="0" tIns="0" rIns="0" bIns="0" anchor="t" anchorCtr="0">
              <a:spAutoFit/>
            </a:bodyPr>
            <a:lstStyle/>
            <a:p>
              <a:pPr algn="l"/>
              <a:r>
                <a:rPr lang="en-AU" sz="1200" dirty="0">
                  <a:solidFill>
                    <a:srgbClr val="B8D8D2"/>
                  </a:solidFill>
                  <a:latin typeface="+mn-lt"/>
                  <a:ea typeface="+mn-ea"/>
                  <a:cs typeface="+mn-cs"/>
                </a:rPr>
                <a:t>01</a:t>
              </a:r>
            </a:p>
          </p:txBody>
        </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02-heading"/>
          <p:cNvGrpSpPr/>
          <p:nvPr/>
        </p:nvGrpSpPr>
        <p:grpSpPr>
          <a:xfrm>
            <a:off x="592836" y="704850"/>
            <a:ext cx="8061395" cy="1058164"/>
            <a:chOff x="592836" y="704850"/>
            <a:chExt cx="8061395" cy="1058164"/>
          </a:xfrm>
        </p:grpSpPr>
        <p:sp>
          <p:nvSpPr>
            <p:cNvPr id="2" name="TextBox 2"/>
            <p:cNvSpPr txBox="1"/>
            <p:nvPr/>
          </p:nvSpPr>
          <p:spPr>
            <a:xfrm>
              <a:off x="603504" y="704850"/>
              <a:ext cx="2772251" cy="234696"/>
            </a:xfrm>
            <a:prstGeom prst="rect">
              <a:avLst/>
            </a:prstGeom>
            <a:noFill/>
            <a:ln>
              <a:noFill/>
            </a:ln>
          </p:spPr>
          <p:txBody>
            <a:bodyPr wrap="none" lIns="0" tIns="0" rIns="0" bIns="0" anchor="t" anchorCtr="0">
              <a:spAutoFit/>
            </a:bodyPr>
            <a:lstStyle/>
            <a:p>
              <a:pPr algn="l"/>
              <a:r>
                <a:rPr lang="en-AU" sz="1200" dirty="0">
                  <a:solidFill>
                    <a:schemeClr val="accent2"/>
                  </a:solidFill>
                  <a:latin typeface="+mn-lt"/>
                  <a:ea typeface="+mn-ea"/>
                  <a:cs typeface="+mn-cs"/>
                </a:rPr>
                <a:t>01 / UNDERSTAND THE LEARNER</a:t>
              </a:r>
            </a:p>
          </p:txBody>
        </p:sp>
        <p:sp>
          <p:nvSpPr>
            <p:cNvPr id="3" name="TextBox 3"/>
            <p:cNvSpPr txBox="1"/>
            <p:nvPr/>
          </p:nvSpPr>
          <p:spPr>
            <a:xfrm>
              <a:off x="592836" y="1117600"/>
              <a:ext cx="8061395" cy="645414"/>
            </a:xfrm>
            <a:prstGeom prst="rect">
              <a:avLst/>
            </a:prstGeom>
            <a:noFill/>
            <a:ln>
              <a:noFill/>
            </a:ln>
          </p:spPr>
          <p:txBody>
            <a:bodyPr wrap="none" lIns="0" tIns="0" rIns="0" bIns="0" anchor="t" anchorCtr="0">
              <a:spAutoFit/>
            </a:bodyPr>
            <a:lstStyle/>
            <a:p>
              <a:pPr algn="l"/>
              <a:r>
                <a:rPr lang="en-AU" sz="3300" dirty="0">
                  <a:solidFill>
                    <a:schemeClr val="dk1"/>
                  </a:solidFill>
                  <a:latin typeface="+mn-lt"/>
                  <a:ea typeface="+mn-ea"/>
                  <a:cs typeface="+mn-cs"/>
                </a:rPr>
                <a:t>Start with Jode, then change the barriers</a:t>
              </a:r>
            </a:p>
          </p:txBody>
        </p:sp>
      </p:grpSp>
      <p:grpSp>
        <p:nvGrpSpPr>
          <p:cNvPr id="11" name="p02-strengths"/>
          <p:cNvGrpSpPr/>
          <p:nvPr/>
        </p:nvGrpSpPr>
        <p:grpSpPr>
          <a:xfrm>
            <a:off x="609600" y="2238375"/>
            <a:ext cx="5143500" cy="2857500"/>
            <a:chOff x="609600" y="2238375"/>
            <a:chExt cx="5143500" cy="2857500"/>
          </a:xfrm>
        </p:grpSpPr>
        <p:sp>
          <p:nvSpPr>
            <p:cNvPr id="5" name="Rectangle 5"/>
            <p:cNvSpPr/>
            <p:nvPr/>
          </p:nvSpPr>
          <p:spPr>
            <a:xfrm>
              <a:off x="609600" y="2238375"/>
              <a:ext cx="5143500" cy="2857500"/>
            </a:xfrm>
            <a:prstGeom prst="roundRect">
              <a:avLst>
                <a:gd name="adj" fmla="val 4000"/>
              </a:avLst>
            </a:prstGeom>
            <a:solidFill>
              <a:schemeClr val="lt2"/>
            </a:solidFill>
            <a:ln>
              <a:noFill/>
            </a:ln>
          </p:spPr>
        </p:sp>
        <p:sp>
          <p:nvSpPr>
            <p:cNvPr id="6" name="TextBox 6"/>
            <p:cNvSpPr txBox="1"/>
            <p:nvPr/>
          </p:nvSpPr>
          <p:spPr>
            <a:xfrm>
              <a:off x="895731" y="2533650"/>
              <a:ext cx="3361349" cy="352044"/>
            </a:xfrm>
            <a:prstGeom prst="rect">
              <a:avLst/>
            </a:prstGeom>
            <a:noFill/>
            <a:ln>
              <a:noFill/>
            </a:ln>
          </p:spPr>
          <p:txBody>
            <a:bodyPr wrap="none" lIns="0" tIns="0" rIns="0" bIns="0" anchor="t" anchorCtr="0">
              <a:spAutoFit/>
            </a:bodyPr>
            <a:lstStyle/>
            <a:p>
              <a:pPr algn="l"/>
              <a:r>
                <a:rPr lang="en-AU" sz="1800" dirty="0">
                  <a:solidFill>
                    <a:schemeClr val="accent2"/>
                  </a:solidFill>
                  <a:latin typeface="+mn-lt"/>
                  <a:ea typeface="+mn-ea"/>
                  <a:cs typeface="+mn-cs"/>
                </a:rPr>
                <a:t>STRENGTHS AND AGENCY</a:t>
              </a:r>
            </a:p>
          </p:txBody>
        </p:sp>
        <p:grpSp>
          <p:nvGrpSpPr>
            <p:cNvPr id="10" name="Group 10"/>
            <p:cNvGrpSpPr/>
            <p:nvPr/>
          </p:nvGrpSpPr>
          <p:grpSpPr>
            <a:xfrm>
              <a:off x="893445" y="3054350"/>
              <a:ext cx="4655910" cy="1678305"/>
              <a:chOff x="893445" y="3054350"/>
              <a:chExt cx="4655910" cy="1678305"/>
            </a:xfrm>
          </p:grpSpPr>
          <p:sp>
            <p:nvSpPr>
              <p:cNvPr id="7" name="TextBox 7"/>
              <p:cNvSpPr txBox="1"/>
              <p:nvPr/>
            </p:nvSpPr>
            <p:spPr>
              <a:xfrm>
                <a:off x="893445" y="3054350"/>
                <a:ext cx="4655910" cy="440055"/>
              </a:xfrm>
              <a:prstGeom prst="rect">
                <a:avLst/>
              </a:prstGeom>
              <a:noFill/>
              <a:ln>
                <a:noFill/>
              </a:ln>
            </p:spPr>
            <p:txBody>
              <a:bodyPr wrap="none" lIns="0" tIns="0" rIns="0" bIns="0" anchor="t" anchorCtr="0">
                <a:spAutoFit/>
              </a:bodyPr>
              <a:lstStyle/>
              <a:p>
                <a:pPr algn="l"/>
                <a:r>
                  <a:rPr lang="en-AU" sz="2250" dirty="0">
                    <a:solidFill>
                      <a:schemeClr val="dk1"/>
                    </a:solidFill>
                    <a:latin typeface="+mn-lt"/>
                    <a:ea typeface="+mn-ea"/>
                    <a:cs typeface="+mn-cs"/>
                  </a:rPr>
                  <a:t>Strong literacy, numeracy and ICT</a:t>
                </a:r>
              </a:p>
            </p:txBody>
          </p:sp>
          <p:sp>
            <p:nvSpPr>
              <p:cNvPr id="8" name="TextBox 8"/>
              <p:cNvSpPr txBox="1"/>
              <p:nvPr/>
            </p:nvSpPr>
            <p:spPr>
              <a:xfrm>
                <a:off x="893445" y="3673475"/>
                <a:ext cx="4528215" cy="440055"/>
              </a:xfrm>
              <a:prstGeom prst="rect">
                <a:avLst/>
              </a:prstGeom>
              <a:noFill/>
              <a:ln>
                <a:noFill/>
              </a:ln>
            </p:spPr>
            <p:txBody>
              <a:bodyPr wrap="none" lIns="0" tIns="0" rIns="0" bIns="0" anchor="t" anchorCtr="0">
                <a:spAutoFit/>
              </a:bodyPr>
              <a:lstStyle/>
              <a:p>
                <a:pPr algn="l"/>
                <a:r>
                  <a:rPr lang="en-AU" sz="2250" dirty="0">
                    <a:solidFill>
                      <a:schemeClr val="dk1"/>
                    </a:solidFill>
                    <a:latin typeface="+mn-lt"/>
                    <a:ea typeface="+mn-ea"/>
                    <a:cs typeface="+mn-cs"/>
                  </a:rPr>
                  <a:t>Reading, swimming and outdoors</a:t>
                </a:r>
              </a:p>
            </p:txBody>
          </p:sp>
          <p:sp>
            <p:nvSpPr>
              <p:cNvPr id="9" name="TextBox 9"/>
              <p:cNvSpPr txBox="1"/>
              <p:nvPr/>
            </p:nvSpPr>
            <p:spPr>
              <a:xfrm>
                <a:off x="893445" y="4292600"/>
                <a:ext cx="4409085" cy="440055"/>
              </a:xfrm>
              <a:prstGeom prst="rect">
                <a:avLst/>
              </a:prstGeom>
              <a:noFill/>
              <a:ln>
                <a:noFill/>
              </a:ln>
            </p:spPr>
            <p:txBody>
              <a:bodyPr wrap="none" lIns="0" tIns="0" rIns="0" bIns="0" anchor="t" anchorCtr="0">
                <a:spAutoFit/>
              </a:bodyPr>
              <a:lstStyle/>
              <a:p>
                <a:pPr algn="l"/>
                <a:r>
                  <a:rPr lang="en-AU" sz="2250" dirty="0">
                    <a:solidFill>
                      <a:schemeClr val="dk1"/>
                    </a:solidFill>
                    <a:latin typeface="+mn-lt"/>
                    <a:ea typeface="+mn-ea"/>
                    <a:cs typeface="+mn-cs"/>
                  </a:rPr>
                  <a:t>A disability-support app ambition</a:t>
                </a:r>
              </a:p>
            </p:txBody>
          </p:sp>
        </p:grpSp>
      </p:grpSp>
      <p:grpSp>
        <p:nvGrpSpPr>
          <p:cNvPr id="17" name="p02-barriers"/>
          <p:cNvGrpSpPr/>
          <p:nvPr/>
        </p:nvGrpSpPr>
        <p:grpSpPr>
          <a:xfrm>
            <a:off x="6275070" y="2533650"/>
            <a:ext cx="4813754" cy="2828544"/>
            <a:chOff x="6275070" y="2533650"/>
            <a:chExt cx="4813754" cy="2828544"/>
          </a:xfrm>
        </p:grpSpPr>
        <p:sp>
          <p:nvSpPr>
            <p:cNvPr id="12" name="TextBox 12"/>
            <p:cNvSpPr txBox="1"/>
            <p:nvPr/>
          </p:nvSpPr>
          <p:spPr>
            <a:xfrm>
              <a:off x="6277356" y="2533650"/>
              <a:ext cx="4385938" cy="352044"/>
            </a:xfrm>
            <a:prstGeom prst="rect">
              <a:avLst/>
            </a:prstGeom>
            <a:noFill/>
            <a:ln>
              <a:noFill/>
            </a:ln>
          </p:spPr>
          <p:txBody>
            <a:bodyPr wrap="none" lIns="0" tIns="0" rIns="0" bIns="0" anchor="t" anchorCtr="0">
              <a:spAutoFit/>
            </a:bodyPr>
            <a:lstStyle/>
            <a:p>
              <a:pPr algn="l"/>
              <a:r>
                <a:rPr lang="en-AU" sz="1800" dirty="0">
                  <a:solidFill>
                    <a:schemeClr val="accent2"/>
                  </a:solidFill>
                  <a:latin typeface="+mn-lt"/>
                  <a:ea typeface="+mn-ea"/>
                  <a:cs typeface="+mn-cs"/>
                </a:rPr>
                <a:t>ACCESS NEEDS, NOT LOW ABILITY</a:t>
              </a:r>
            </a:p>
          </p:txBody>
        </p:sp>
        <p:sp>
          <p:nvSpPr>
            <p:cNvPr id="13" name="TextBox 13"/>
            <p:cNvSpPr txBox="1"/>
            <p:nvPr/>
          </p:nvSpPr>
          <p:spPr>
            <a:xfrm>
              <a:off x="6275070" y="3054350"/>
              <a:ext cx="4813754" cy="440055"/>
            </a:xfrm>
            <a:prstGeom prst="rect">
              <a:avLst/>
            </a:prstGeom>
            <a:noFill/>
            <a:ln>
              <a:noFill/>
            </a:ln>
          </p:spPr>
          <p:txBody>
            <a:bodyPr wrap="none" lIns="0" tIns="0" rIns="0" bIns="0" anchor="t" anchorCtr="0">
              <a:spAutoFit/>
            </a:bodyPr>
            <a:lstStyle/>
            <a:p>
              <a:pPr algn="l"/>
              <a:r>
                <a:rPr lang="en-AU" sz="2250" dirty="0">
                  <a:solidFill>
                    <a:schemeClr val="dk1"/>
                  </a:solidFill>
                  <a:latin typeface="+mn-lt"/>
                  <a:ea typeface="+mn-ea"/>
                  <a:cs typeface="+mn-cs"/>
                </a:rPr>
                <a:t>Memory, fatigue and limited speech</a:t>
              </a:r>
            </a:p>
          </p:txBody>
        </p:sp>
        <p:sp>
          <p:nvSpPr>
            <p:cNvPr id="14" name="TextBox 14"/>
            <p:cNvSpPr txBox="1"/>
            <p:nvPr/>
          </p:nvSpPr>
          <p:spPr>
            <a:xfrm>
              <a:off x="6275070" y="3673475"/>
              <a:ext cx="4274162" cy="440055"/>
            </a:xfrm>
            <a:prstGeom prst="rect">
              <a:avLst/>
            </a:prstGeom>
            <a:noFill/>
            <a:ln>
              <a:noFill/>
            </a:ln>
          </p:spPr>
          <p:txBody>
            <a:bodyPr wrap="none" lIns="0" tIns="0" rIns="0" bIns="0" anchor="t" anchorCtr="0">
              <a:spAutoFit/>
            </a:bodyPr>
            <a:lstStyle/>
            <a:p>
              <a:pPr algn="l"/>
              <a:r>
                <a:rPr lang="en-AU" sz="2250" dirty="0">
                  <a:solidFill>
                    <a:schemeClr val="dk1"/>
                  </a:solidFill>
                  <a:latin typeface="+mn-lt"/>
                  <a:ea typeface="+mn-ea"/>
                  <a:cs typeface="+mn-cs"/>
                </a:rPr>
                <a:t>Motor support; cane for mobility</a:t>
              </a:r>
            </a:p>
          </p:txBody>
        </p:sp>
        <p:sp>
          <p:nvSpPr>
            <p:cNvPr id="15" name="TextBox 15"/>
            <p:cNvSpPr txBox="1"/>
            <p:nvPr/>
          </p:nvSpPr>
          <p:spPr>
            <a:xfrm>
              <a:off x="6275070" y="4292600"/>
              <a:ext cx="4779562" cy="440055"/>
            </a:xfrm>
            <a:prstGeom prst="rect">
              <a:avLst/>
            </a:prstGeom>
            <a:noFill/>
            <a:ln>
              <a:noFill/>
            </a:ln>
          </p:spPr>
          <p:txBody>
            <a:bodyPr wrap="none" lIns="0" tIns="0" rIns="0" bIns="0" anchor="t" anchorCtr="0">
              <a:spAutoFit/>
            </a:bodyPr>
            <a:lstStyle/>
            <a:p>
              <a:pPr algn="l"/>
              <a:r>
                <a:rPr lang="en-AU" sz="2250" dirty="0">
                  <a:solidFill>
                    <a:schemeClr val="dk1"/>
                  </a:solidFill>
                  <a:latin typeface="+mn-lt"/>
                  <a:ea typeface="+mn-ea"/>
                  <a:cs typeface="+mn-cs"/>
                </a:rPr>
                <a:t>Blocked routes and disability taunts</a:t>
              </a:r>
            </a:p>
          </p:txBody>
        </p:sp>
        <p:sp>
          <p:nvSpPr>
            <p:cNvPr id="16" name="TextBox 16"/>
            <p:cNvSpPr txBox="1"/>
            <p:nvPr/>
          </p:nvSpPr>
          <p:spPr>
            <a:xfrm>
              <a:off x="6277356" y="5010150"/>
              <a:ext cx="3637654" cy="352044"/>
            </a:xfrm>
            <a:prstGeom prst="rect">
              <a:avLst/>
            </a:prstGeom>
            <a:noFill/>
            <a:ln>
              <a:noFill/>
            </a:ln>
          </p:spPr>
          <p:txBody>
            <a:bodyPr wrap="none" lIns="0" tIns="0" rIns="0" bIns="0" anchor="t" anchorCtr="0">
              <a:spAutoFit/>
            </a:bodyPr>
            <a:lstStyle/>
            <a:p>
              <a:pPr algn="l"/>
              <a:r>
                <a:rPr lang="en-AU" sz="1800" dirty="0">
                  <a:solidFill>
                    <a:schemeClr val="accent5"/>
                  </a:solidFill>
                  <a:latin typeface="+mn-lt"/>
                  <a:ea typeface="+mn-ea"/>
                  <a:cs typeface="+mn-cs"/>
                </a:rPr>
                <a:t>Year 7 · age 13 · family advocacy</a:t>
              </a:r>
            </a:p>
          </p:txBody>
        </p:sp>
      </p:grpSp>
      <p:grpSp>
        <p:nvGrpSpPr>
          <p:cNvPr id="20" name="p02-footer"/>
          <p:cNvGrpSpPr/>
          <p:nvPr/>
        </p:nvGrpSpPr>
        <p:grpSpPr>
          <a:xfrm>
            <a:off x="603504" y="6276975"/>
            <a:ext cx="10774169" cy="234696"/>
            <a:chOff x="603504" y="6276975"/>
            <a:chExt cx="10774169" cy="234696"/>
          </a:xfrm>
        </p:grpSpPr>
        <p:sp>
          <p:nvSpPr>
            <p:cNvPr id="18" name="TextBox 18"/>
            <p:cNvSpPr txBox="1"/>
            <p:nvPr/>
          </p:nvSpPr>
          <p:spPr>
            <a:xfrm>
              <a:off x="603504" y="6276975"/>
              <a:ext cx="4519590" cy="234696"/>
            </a:xfrm>
            <a:prstGeom prst="rect">
              <a:avLst/>
            </a:prstGeom>
            <a:noFill/>
            <a:ln>
              <a:noFill/>
            </a:ln>
          </p:spPr>
          <p:txBody>
            <a:bodyPr wrap="none" lIns="0" tIns="0" rIns="0" bIns="0" anchor="t" anchorCtr="0">
              <a:spAutoFit/>
            </a:bodyPr>
            <a:lstStyle/>
            <a:p>
              <a:pPr algn="l"/>
              <a:r>
                <a:rPr lang="en-AU" sz="1200" dirty="0">
                  <a:solidFill>
                    <a:schemeClr val="accent5"/>
                  </a:solidFill>
                  <a:latin typeface="+mn-lt"/>
                  <a:ea typeface="+mn-ea"/>
                  <a:cs typeface="+mn-cs"/>
                </a:rPr>
                <a:t>Case: submitted ILP and supplied handoff. APST 1.1, 1.6, 4.4.</a:t>
              </a:r>
            </a:p>
          </p:txBody>
        </p:sp>
        <p:sp>
          <p:nvSpPr>
            <p:cNvPr id="19" name="TextBox 19"/>
            <p:cNvSpPr txBox="1"/>
            <p:nvPr/>
          </p:nvSpPr>
          <p:spPr>
            <a:xfrm>
              <a:off x="11185779" y="6276975"/>
              <a:ext cx="191894" cy="234696"/>
            </a:xfrm>
            <a:prstGeom prst="rect">
              <a:avLst/>
            </a:prstGeom>
            <a:noFill/>
            <a:ln>
              <a:noFill/>
            </a:ln>
          </p:spPr>
          <p:txBody>
            <a:bodyPr wrap="none" lIns="0" tIns="0" rIns="0" bIns="0" anchor="t" anchorCtr="0">
              <a:spAutoFit/>
            </a:bodyPr>
            <a:lstStyle/>
            <a:p>
              <a:pPr algn="l"/>
              <a:r>
                <a:rPr lang="en-AU" sz="1200" dirty="0">
                  <a:solidFill>
                    <a:schemeClr val="accent5"/>
                  </a:solidFill>
                  <a:latin typeface="+mn-lt"/>
                  <a:ea typeface="+mn-ea"/>
                  <a:cs typeface="+mn-cs"/>
                </a:rPr>
                <a:t>02</a:t>
              </a:r>
            </a:p>
          </p:txBody>
        </p:sp>
      </p:gr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03-heading"/>
          <p:cNvGrpSpPr/>
          <p:nvPr/>
        </p:nvGrpSpPr>
        <p:grpSpPr>
          <a:xfrm>
            <a:off x="592836" y="704850"/>
            <a:ext cx="8467233" cy="1058164"/>
            <a:chOff x="592836" y="704850"/>
            <a:chExt cx="8467233" cy="1058164"/>
          </a:xfrm>
        </p:grpSpPr>
        <p:sp>
          <p:nvSpPr>
            <p:cNvPr id="2" name="TextBox 2"/>
            <p:cNvSpPr txBox="1"/>
            <p:nvPr/>
          </p:nvSpPr>
          <p:spPr>
            <a:xfrm>
              <a:off x="603504" y="704850"/>
              <a:ext cx="3341188" cy="234696"/>
            </a:xfrm>
            <a:prstGeom prst="rect">
              <a:avLst/>
            </a:prstGeom>
            <a:noFill/>
            <a:ln>
              <a:noFill/>
            </a:ln>
          </p:spPr>
          <p:txBody>
            <a:bodyPr wrap="none" lIns="0" tIns="0" rIns="0" bIns="0" anchor="t" anchorCtr="0">
              <a:spAutoFit/>
            </a:bodyPr>
            <a:lstStyle/>
            <a:p>
              <a:pPr algn="l"/>
              <a:r>
                <a:rPr lang="en-AU" sz="1200" dirty="0">
                  <a:solidFill>
                    <a:schemeClr val="accent2"/>
                  </a:solidFill>
                  <a:latin typeface="+mn-lt"/>
                  <a:ea typeface="+mn-ea"/>
                  <a:cs typeface="+mn-cs"/>
                </a:rPr>
                <a:t>02 / REFLECT ON THE SUBMITTED PLAN</a:t>
              </a:r>
            </a:p>
          </p:txBody>
        </p:sp>
        <p:sp>
          <p:nvSpPr>
            <p:cNvPr id="3" name="TextBox 3"/>
            <p:cNvSpPr txBox="1"/>
            <p:nvPr/>
          </p:nvSpPr>
          <p:spPr>
            <a:xfrm>
              <a:off x="592836" y="1117600"/>
              <a:ext cx="8467233" cy="645414"/>
            </a:xfrm>
            <a:prstGeom prst="rect">
              <a:avLst/>
            </a:prstGeom>
            <a:noFill/>
            <a:ln>
              <a:noFill/>
            </a:ln>
          </p:spPr>
          <p:txBody>
            <a:bodyPr wrap="none" lIns="0" tIns="0" rIns="0" bIns="0" anchor="t" anchorCtr="0">
              <a:spAutoFit/>
            </a:bodyPr>
            <a:lstStyle/>
            <a:p>
              <a:pPr algn="l"/>
              <a:r>
                <a:rPr lang="en-AU" sz="3300" dirty="0">
                  <a:solidFill>
                    <a:schemeClr val="dk1"/>
                  </a:solidFill>
                  <a:latin typeface="+mn-lt"/>
                  <a:ea typeface="+mn-ea"/>
                  <a:cs typeface="+mn-cs"/>
                </a:rPr>
                <a:t>Keep the foundations; clarify accountability</a:t>
              </a:r>
            </a:p>
          </p:txBody>
        </p:sp>
      </p:grpSp>
      <p:grpSp>
        <p:nvGrpSpPr>
          <p:cNvPr id="10" name="p03-original"/>
          <p:cNvGrpSpPr/>
          <p:nvPr/>
        </p:nvGrpSpPr>
        <p:grpSpPr>
          <a:xfrm>
            <a:off x="598170" y="2438400"/>
            <a:ext cx="4908727" cy="2780919"/>
            <a:chOff x="598170" y="2438400"/>
            <a:chExt cx="4908727" cy="2780919"/>
          </a:xfrm>
        </p:grpSpPr>
        <p:sp>
          <p:nvSpPr>
            <p:cNvPr id="5" name="TextBox 5"/>
            <p:cNvSpPr txBox="1"/>
            <p:nvPr/>
          </p:nvSpPr>
          <p:spPr>
            <a:xfrm>
              <a:off x="600456" y="2438400"/>
              <a:ext cx="2579376" cy="352044"/>
            </a:xfrm>
            <a:prstGeom prst="rect">
              <a:avLst/>
            </a:prstGeom>
            <a:noFill/>
            <a:ln>
              <a:noFill/>
            </a:ln>
          </p:spPr>
          <p:txBody>
            <a:bodyPr wrap="none" lIns="0" tIns="0" rIns="0" bIns="0" anchor="t" anchorCtr="0">
              <a:spAutoFit/>
            </a:bodyPr>
            <a:lstStyle/>
            <a:p>
              <a:pPr algn="l"/>
              <a:r>
                <a:rPr lang="en-AU" sz="1800" dirty="0">
                  <a:solidFill>
                    <a:schemeClr val="accent2"/>
                  </a:solidFill>
                  <a:latin typeface="+mn-lt"/>
                  <a:ea typeface="+mn-ea"/>
                  <a:cs typeface="+mn-cs"/>
                </a:rPr>
                <a:t>ALREADY IN THE ILP</a:t>
              </a:r>
            </a:p>
          </p:txBody>
        </p:sp>
        <p:sp>
          <p:nvSpPr>
            <p:cNvPr id="6" name="TextBox 6"/>
            <p:cNvSpPr txBox="1"/>
            <p:nvPr/>
          </p:nvSpPr>
          <p:spPr>
            <a:xfrm>
              <a:off x="598170" y="3006725"/>
              <a:ext cx="4908727" cy="440055"/>
            </a:xfrm>
            <a:prstGeom prst="rect">
              <a:avLst/>
            </a:prstGeom>
            <a:noFill/>
            <a:ln>
              <a:noFill/>
            </a:ln>
          </p:spPr>
          <p:txBody>
            <a:bodyPr wrap="none" lIns="0" tIns="0" rIns="0" bIns="0" anchor="t" anchorCtr="0">
              <a:spAutoFit/>
            </a:bodyPr>
            <a:lstStyle/>
            <a:p>
              <a:pPr algn="l"/>
              <a:r>
                <a:rPr lang="en-AU" sz="2250" dirty="0">
                  <a:solidFill>
                    <a:schemeClr val="dk1"/>
                  </a:solidFill>
                  <a:latin typeface="+mn-lt"/>
                  <a:ea typeface="+mn-ea"/>
                  <a:cs typeface="+mn-cs"/>
                </a:rPr>
                <a:t>Checklists, AAC, rest and extra time</a:t>
              </a:r>
            </a:p>
          </p:txBody>
        </p:sp>
        <p:sp>
          <p:nvSpPr>
            <p:cNvPr id="7" name="TextBox 7"/>
            <p:cNvSpPr txBox="1"/>
            <p:nvPr/>
          </p:nvSpPr>
          <p:spPr>
            <a:xfrm>
              <a:off x="598170" y="3625850"/>
              <a:ext cx="4543204" cy="440055"/>
            </a:xfrm>
            <a:prstGeom prst="rect">
              <a:avLst/>
            </a:prstGeom>
            <a:noFill/>
            <a:ln>
              <a:noFill/>
            </a:ln>
          </p:spPr>
          <p:txBody>
            <a:bodyPr wrap="none" lIns="0" tIns="0" rIns="0" bIns="0" anchor="t" anchorCtr="0">
              <a:spAutoFit/>
            </a:bodyPr>
            <a:lstStyle/>
            <a:p>
              <a:pPr algn="l"/>
              <a:r>
                <a:rPr lang="en-AU" sz="2250" dirty="0">
                  <a:solidFill>
                    <a:schemeClr val="dk1"/>
                  </a:solidFill>
                  <a:latin typeface="+mn-lt"/>
                  <a:ea typeface="+mn-ea"/>
                  <a:cs typeface="+mn-cs"/>
                </a:rPr>
                <a:t>Family and specialist consultation</a:t>
              </a:r>
            </a:p>
          </p:txBody>
        </p:sp>
        <p:sp>
          <p:nvSpPr>
            <p:cNvPr id="8" name="TextBox 8"/>
            <p:cNvSpPr txBox="1"/>
            <p:nvPr/>
          </p:nvSpPr>
          <p:spPr>
            <a:xfrm>
              <a:off x="598170" y="4244975"/>
              <a:ext cx="4764241" cy="440055"/>
            </a:xfrm>
            <a:prstGeom prst="rect">
              <a:avLst/>
            </a:prstGeom>
            <a:noFill/>
            <a:ln>
              <a:noFill/>
            </a:ln>
          </p:spPr>
          <p:txBody>
            <a:bodyPr wrap="none" lIns="0" tIns="0" rIns="0" bIns="0" anchor="t" anchorCtr="0">
              <a:spAutoFit/>
            </a:bodyPr>
            <a:lstStyle/>
            <a:p>
              <a:pPr algn="l"/>
              <a:r>
                <a:rPr lang="en-AU" sz="2250" dirty="0">
                  <a:solidFill>
                    <a:schemeClr val="dk1"/>
                  </a:solidFill>
                  <a:latin typeface="+mn-lt"/>
                  <a:ea typeface="+mn-ea"/>
                  <a:cs typeface="+mn-cs"/>
                </a:rPr>
                <a:t>Access planning; year-end app aim</a:t>
              </a:r>
            </a:p>
          </p:txBody>
        </p:sp>
        <p:sp>
          <p:nvSpPr>
            <p:cNvPr id="9" name="TextBox 9"/>
            <p:cNvSpPr txBox="1"/>
            <p:nvPr/>
          </p:nvSpPr>
          <p:spPr>
            <a:xfrm>
              <a:off x="600456" y="4867275"/>
              <a:ext cx="4174242" cy="352044"/>
            </a:xfrm>
            <a:prstGeom prst="rect">
              <a:avLst/>
            </a:prstGeom>
            <a:noFill/>
            <a:ln>
              <a:noFill/>
            </a:ln>
          </p:spPr>
          <p:txBody>
            <a:bodyPr wrap="none" lIns="0" tIns="0" rIns="0" bIns="0" anchor="t" anchorCtr="0">
              <a:spAutoFit/>
            </a:bodyPr>
            <a:lstStyle/>
            <a:p>
              <a:pPr algn="l"/>
              <a:r>
                <a:rPr lang="en-AU" sz="1800" dirty="0">
                  <a:solidFill>
                    <a:schemeClr val="accent5"/>
                  </a:solidFill>
                  <a:latin typeface="+mn-lt"/>
                  <a:ea typeface="+mn-ea"/>
                  <a:cs typeface="+mn-cs"/>
                </a:rPr>
                <a:t>Useful foundations, not proof of impact</a:t>
              </a:r>
            </a:p>
          </p:txBody>
        </p:sp>
      </p:grpSp>
      <p:grpSp>
        <p:nvGrpSpPr>
          <p:cNvPr id="16" name="p03-revisions"/>
          <p:cNvGrpSpPr/>
          <p:nvPr/>
        </p:nvGrpSpPr>
        <p:grpSpPr>
          <a:xfrm>
            <a:off x="6275070" y="2438400"/>
            <a:ext cx="4931739" cy="2780919"/>
            <a:chOff x="6275070" y="2438400"/>
            <a:chExt cx="4931739" cy="2780919"/>
          </a:xfrm>
        </p:grpSpPr>
        <p:sp>
          <p:nvSpPr>
            <p:cNvPr id="11" name="TextBox 11"/>
            <p:cNvSpPr txBox="1"/>
            <p:nvPr/>
          </p:nvSpPr>
          <p:spPr>
            <a:xfrm>
              <a:off x="6277356" y="2438400"/>
              <a:ext cx="3831014" cy="352044"/>
            </a:xfrm>
            <a:prstGeom prst="rect">
              <a:avLst/>
            </a:prstGeom>
            <a:noFill/>
            <a:ln>
              <a:noFill/>
            </a:ln>
          </p:spPr>
          <p:txBody>
            <a:bodyPr wrap="none" lIns="0" tIns="0" rIns="0" bIns="0" anchor="t" anchorCtr="0">
              <a:spAutoFit/>
            </a:bodyPr>
            <a:lstStyle/>
            <a:p>
              <a:pPr algn="l"/>
              <a:r>
                <a:rPr lang="en-AU" sz="1800" dirty="0">
                  <a:solidFill>
                    <a:schemeClr val="accent2"/>
                  </a:solidFill>
                  <a:latin typeface="+mn-lt"/>
                  <a:ea typeface="+mn-ea"/>
                  <a:cs typeface="+mn-cs"/>
                </a:rPr>
                <a:t>PROPOSED AFTER FEEDBACK</a:t>
              </a:r>
            </a:p>
          </p:txBody>
        </p:sp>
        <p:sp>
          <p:nvSpPr>
            <p:cNvPr id="12" name="TextBox 12"/>
            <p:cNvSpPr txBox="1"/>
            <p:nvPr/>
          </p:nvSpPr>
          <p:spPr>
            <a:xfrm>
              <a:off x="6275070" y="3006725"/>
              <a:ext cx="4544076" cy="440055"/>
            </a:xfrm>
            <a:prstGeom prst="rect">
              <a:avLst/>
            </a:prstGeom>
            <a:noFill/>
            <a:ln>
              <a:noFill/>
            </a:ln>
          </p:spPr>
          <p:txBody>
            <a:bodyPr wrap="none" lIns="0" tIns="0" rIns="0" bIns="0" anchor="t" anchorCtr="0">
              <a:spAutoFit/>
            </a:bodyPr>
            <a:lstStyle/>
            <a:p>
              <a:pPr algn="l"/>
              <a:r>
                <a:rPr lang="en-AU" sz="2250" dirty="0">
                  <a:solidFill>
                    <a:schemeClr val="dk1"/>
                  </a:solidFill>
                  <a:latin typeface="+mn-lt"/>
                  <a:ea typeface="+mn-ea"/>
                  <a:cs typeface="+mn-cs"/>
                </a:rPr>
                <a:t>Complete profile and team details</a:t>
              </a:r>
            </a:p>
          </p:txBody>
        </p:sp>
        <p:sp>
          <p:nvSpPr>
            <p:cNvPr id="13" name="TextBox 13"/>
            <p:cNvSpPr txBox="1"/>
            <p:nvPr/>
          </p:nvSpPr>
          <p:spPr>
            <a:xfrm>
              <a:off x="6275070" y="3625850"/>
              <a:ext cx="4931739" cy="440055"/>
            </a:xfrm>
            <a:prstGeom prst="rect">
              <a:avLst/>
            </a:prstGeom>
            <a:noFill/>
            <a:ln>
              <a:noFill/>
            </a:ln>
          </p:spPr>
          <p:txBody>
            <a:bodyPr wrap="none" lIns="0" tIns="0" rIns="0" bIns="0" anchor="t" anchorCtr="0">
              <a:spAutoFit/>
            </a:bodyPr>
            <a:lstStyle/>
            <a:p>
              <a:pPr algn="l"/>
              <a:r>
                <a:rPr lang="en-AU" sz="2250" dirty="0">
                  <a:solidFill>
                    <a:schemeClr val="dk1"/>
                  </a:solidFill>
                  <a:latin typeface="+mn-lt"/>
                  <a:ea typeface="+mn-ea"/>
                  <a:cs typeface="+mn-cs"/>
                </a:rPr>
                <a:t>Specify academic and inclusion data</a:t>
              </a:r>
            </a:p>
          </p:txBody>
        </p:sp>
        <p:sp>
          <p:nvSpPr>
            <p:cNvPr id="14" name="TextBox 14"/>
            <p:cNvSpPr txBox="1"/>
            <p:nvPr/>
          </p:nvSpPr>
          <p:spPr>
            <a:xfrm>
              <a:off x="6275070" y="4244975"/>
              <a:ext cx="4577702" cy="440055"/>
            </a:xfrm>
            <a:prstGeom prst="rect">
              <a:avLst/>
            </a:prstGeom>
            <a:noFill/>
            <a:ln>
              <a:noFill/>
            </a:ln>
          </p:spPr>
          <p:txBody>
            <a:bodyPr wrap="none" lIns="0" tIns="0" rIns="0" bIns="0" anchor="t" anchorCtr="0">
              <a:spAutoFit/>
            </a:bodyPr>
            <a:lstStyle/>
            <a:p>
              <a:pPr algn="l"/>
              <a:r>
                <a:rPr lang="en-AU" sz="2250" dirty="0">
                  <a:solidFill>
                    <a:schemeClr val="dk1"/>
                  </a:solidFill>
                  <a:latin typeface="+mn-lt"/>
                  <a:ea typeface="+mn-ea"/>
                  <a:cs typeface="+mn-cs"/>
                </a:rPr>
                <a:t>Assign whole-school safety duties</a:t>
              </a:r>
            </a:p>
          </p:txBody>
        </p:sp>
        <p:sp>
          <p:nvSpPr>
            <p:cNvPr id="15" name="TextBox 15"/>
            <p:cNvSpPr txBox="1"/>
            <p:nvPr/>
          </p:nvSpPr>
          <p:spPr>
            <a:xfrm>
              <a:off x="6277356" y="4867275"/>
              <a:ext cx="4039339" cy="352044"/>
            </a:xfrm>
            <a:prstGeom prst="rect">
              <a:avLst/>
            </a:prstGeom>
            <a:noFill/>
            <a:ln>
              <a:noFill/>
            </a:ln>
          </p:spPr>
          <p:txBody>
            <a:bodyPr wrap="none" lIns="0" tIns="0" rIns="0" bIns="0" anchor="t" anchorCtr="0">
              <a:spAutoFit/>
            </a:bodyPr>
            <a:lstStyle/>
            <a:p>
              <a:pPr algn="l"/>
              <a:r>
                <a:rPr lang="en-AU" sz="1800" dirty="0">
                  <a:solidFill>
                    <a:schemeClr val="accent5"/>
                  </a:solidFill>
                  <a:latin typeface="+mn-lt"/>
                  <a:ea typeface="+mn-ea"/>
                  <a:cs typeface="+mn-cs"/>
                </a:rPr>
                <a:t>Extend review across the school year</a:t>
              </a:r>
            </a:p>
          </p:txBody>
        </p:sp>
      </p:grpSp>
      <p:grpSp>
        <p:nvGrpSpPr>
          <p:cNvPr id="19" name="p03-footer"/>
          <p:cNvGrpSpPr/>
          <p:nvPr/>
        </p:nvGrpSpPr>
        <p:grpSpPr>
          <a:xfrm>
            <a:off x="603504" y="6276975"/>
            <a:ext cx="10774169" cy="234696"/>
            <a:chOff x="603504" y="6276975"/>
            <a:chExt cx="10774169" cy="234696"/>
          </a:xfrm>
        </p:grpSpPr>
        <p:sp>
          <p:nvSpPr>
            <p:cNvPr id="17" name="TextBox 17"/>
            <p:cNvSpPr txBox="1"/>
            <p:nvPr/>
          </p:nvSpPr>
          <p:spPr>
            <a:xfrm>
              <a:off x="603504" y="6276975"/>
              <a:ext cx="6490435" cy="234696"/>
            </a:xfrm>
            <a:prstGeom prst="rect">
              <a:avLst/>
            </a:prstGeom>
            <a:noFill/>
            <a:ln>
              <a:noFill/>
            </a:ln>
          </p:spPr>
          <p:txBody>
            <a:bodyPr wrap="none" lIns="0" tIns="0" rIns="0" bIns="0" anchor="t" anchorCtr="0">
              <a:spAutoFit/>
            </a:bodyPr>
            <a:lstStyle/>
            <a:p>
              <a:pPr algn="l"/>
              <a:r>
                <a:rPr lang="en-AU" sz="1200" dirty="0">
                  <a:solidFill>
                    <a:schemeClr val="accent5"/>
                  </a:solidFill>
                  <a:latin typeface="+mn-lt"/>
                  <a:ea typeface="+mn-ea"/>
                  <a:cs typeface="+mn-cs"/>
                </a:rPr>
                <a:t>Sources: submitted ILP §§1–12; Cheyne’s supplied feedback screenshots. APST 6.3, 7.2.</a:t>
              </a:r>
            </a:p>
          </p:txBody>
        </p:sp>
        <p:sp>
          <p:nvSpPr>
            <p:cNvPr id="18" name="TextBox 18"/>
            <p:cNvSpPr txBox="1"/>
            <p:nvPr/>
          </p:nvSpPr>
          <p:spPr>
            <a:xfrm>
              <a:off x="11185779" y="6276975"/>
              <a:ext cx="191894" cy="234696"/>
            </a:xfrm>
            <a:prstGeom prst="rect">
              <a:avLst/>
            </a:prstGeom>
            <a:noFill/>
            <a:ln>
              <a:noFill/>
            </a:ln>
          </p:spPr>
          <p:txBody>
            <a:bodyPr wrap="none" lIns="0" tIns="0" rIns="0" bIns="0" anchor="t" anchorCtr="0">
              <a:spAutoFit/>
            </a:bodyPr>
            <a:lstStyle/>
            <a:p>
              <a:pPr algn="l"/>
              <a:r>
                <a:rPr lang="en-AU" sz="1200" dirty="0">
                  <a:solidFill>
                    <a:schemeClr val="accent5"/>
                  </a:solidFill>
                  <a:latin typeface="+mn-lt"/>
                  <a:ea typeface="+mn-ea"/>
                  <a:cs typeface="+mn-cs"/>
                </a:rPr>
                <a:t>03</a:t>
              </a:r>
            </a:p>
          </p:txBody>
        </p:sp>
      </p:gr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04-heading"/>
          <p:cNvGrpSpPr/>
          <p:nvPr/>
        </p:nvGrpSpPr>
        <p:grpSpPr>
          <a:xfrm>
            <a:off x="592836" y="704850"/>
            <a:ext cx="8244096" cy="1058164"/>
            <a:chOff x="592836" y="704850"/>
            <a:chExt cx="8244096" cy="1058164"/>
          </a:xfrm>
        </p:grpSpPr>
        <p:sp>
          <p:nvSpPr>
            <p:cNvPr id="2" name="TextBox 2"/>
            <p:cNvSpPr txBox="1"/>
            <p:nvPr/>
          </p:nvSpPr>
          <p:spPr>
            <a:xfrm>
              <a:off x="603504" y="704850"/>
              <a:ext cx="3066312" cy="234696"/>
            </a:xfrm>
            <a:prstGeom prst="rect">
              <a:avLst/>
            </a:prstGeom>
            <a:noFill/>
            <a:ln>
              <a:noFill/>
            </a:ln>
          </p:spPr>
          <p:txBody>
            <a:bodyPr wrap="none" lIns="0" tIns="0" rIns="0" bIns="0" anchor="t" anchorCtr="0">
              <a:spAutoFit/>
            </a:bodyPr>
            <a:lstStyle/>
            <a:p>
              <a:pPr algn="l"/>
              <a:r>
                <a:rPr lang="en-AU" sz="1200" dirty="0">
                  <a:solidFill>
                    <a:schemeClr val="accent2"/>
                  </a:solidFill>
                  <a:latin typeface="+mn-lt"/>
                  <a:ea typeface="+mn-ea"/>
                  <a:cs typeface="+mn-cs"/>
                </a:rPr>
                <a:t>03 / GOALS THAT CAN BE REVIEWED</a:t>
              </a:r>
            </a:p>
          </p:txBody>
        </p:sp>
        <p:sp>
          <p:nvSpPr>
            <p:cNvPr id="3" name="TextBox 3"/>
            <p:cNvSpPr txBox="1"/>
            <p:nvPr/>
          </p:nvSpPr>
          <p:spPr>
            <a:xfrm>
              <a:off x="592836" y="1117600"/>
              <a:ext cx="8244096" cy="645414"/>
            </a:xfrm>
            <a:prstGeom prst="rect">
              <a:avLst/>
            </a:prstGeom>
            <a:noFill/>
            <a:ln>
              <a:noFill/>
            </a:ln>
          </p:spPr>
          <p:txBody>
            <a:bodyPr wrap="none" lIns="0" tIns="0" rIns="0" bIns="0" anchor="t" anchorCtr="0">
              <a:spAutoFit/>
            </a:bodyPr>
            <a:lstStyle/>
            <a:p>
              <a:pPr algn="l"/>
              <a:r>
                <a:rPr lang="en-AU" sz="3300" dirty="0">
                  <a:solidFill>
                    <a:schemeClr val="dk1"/>
                  </a:solidFill>
                  <a:latin typeface="+mn-lt"/>
                  <a:ea typeface="+mn-ea"/>
                  <a:cs typeface="+mn-cs"/>
                </a:rPr>
                <a:t>Make progress visible, without inventing it</a:t>
              </a:r>
            </a:p>
          </p:txBody>
        </p:sp>
      </p:grpSp>
      <p:grpSp>
        <p:nvGrpSpPr>
          <p:cNvPr id="7" name="p04-existing"/>
          <p:cNvGrpSpPr/>
          <p:nvPr/>
        </p:nvGrpSpPr>
        <p:grpSpPr>
          <a:xfrm>
            <a:off x="598170" y="2339975"/>
            <a:ext cx="8562817" cy="879094"/>
            <a:chOff x="598170" y="2339975"/>
            <a:chExt cx="8562817" cy="879094"/>
          </a:xfrm>
        </p:grpSpPr>
        <p:sp>
          <p:nvSpPr>
            <p:cNvPr id="5" name="TextBox 5"/>
            <p:cNvSpPr txBox="1"/>
            <p:nvPr/>
          </p:nvSpPr>
          <p:spPr>
            <a:xfrm>
              <a:off x="598170" y="2339975"/>
              <a:ext cx="8146311" cy="440055"/>
            </a:xfrm>
            <a:prstGeom prst="rect">
              <a:avLst/>
            </a:prstGeom>
            <a:noFill/>
            <a:ln>
              <a:noFill/>
            </a:ln>
          </p:spPr>
          <p:txBody>
            <a:bodyPr wrap="none" lIns="0" tIns="0" rIns="0" bIns="0" anchor="t" anchorCtr="0">
              <a:spAutoFit/>
            </a:bodyPr>
            <a:lstStyle/>
            <a:p>
              <a:pPr algn="l"/>
              <a:r>
                <a:rPr lang="en-AU" sz="2250" dirty="0">
                  <a:solidFill>
                    <a:schemeClr val="dk1"/>
                  </a:solidFill>
                  <a:latin typeface="+mn-lt"/>
                  <a:ea typeface="+mn-ea"/>
                  <a:cs typeface="+mn-cs"/>
                </a:rPr>
                <a:t>Original: four of five tasks; two preferred-mode contributions.</a:t>
              </a:r>
            </a:p>
          </p:txBody>
        </p:sp>
        <p:sp>
          <p:nvSpPr>
            <p:cNvPr id="6" name="TextBox 6"/>
            <p:cNvSpPr txBox="1"/>
            <p:nvPr/>
          </p:nvSpPr>
          <p:spPr>
            <a:xfrm>
              <a:off x="600456" y="2867025"/>
              <a:ext cx="8560531" cy="352044"/>
            </a:xfrm>
            <a:prstGeom prst="rect">
              <a:avLst/>
            </a:prstGeom>
            <a:noFill/>
            <a:ln>
              <a:noFill/>
            </a:ln>
          </p:spPr>
          <p:txBody>
            <a:bodyPr wrap="none" lIns="0" tIns="0" rIns="0" bIns="0" anchor="t" anchorCtr="0">
              <a:spAutoFit/>
            </a:bodyPr>
            <a:lstStyle/>
            <a:p>
              <a:pPr algn="l"/>
              <a:r>
                <a:rPr lang="en-AU" sz="1800" dirty="0">
                  <a:solidFill>
                    <a:schemeClr val="accent5"/>
                  </a:solidFill>
                  <a:latin typeface="+mn-lt"/>
                  <a:ea typeface="+mn-ea"/>
                  <a:cs typeface="+mn-cs"/>
                </a:rPr>
                <a:t>The completion goal exists. The language-learning evidence needs sharpening.</a:t>
              </a:r>
            </a:p>
          </p:txBody>
        </p:sp>
      </p:grpSp>
      <p:grpSp>
        <p:nvGrpSpPr>
          <p:cNvPr id="13" name="p04-proposals"/>
          <p:cNvGrpSpPr/>
          <p:nvPr/>
        </p:nvGrpSpPr>
        <p:grpSpPr>
          <a:xfrm>
            <a:off x="609600" y="3619500"/>
            <a:ext cx="10972800" cy="1809750"/>
            <a:chOff x="609600" y="3619500"/>
            <a:chExt cx="10972800" cy="1809750"/>
          </a:xfrm>
        </p:grpSpPr>
        <p:sp>
          <p:nvSpPr>
            <p:cNvPr id="8" name="Rectangle 8"/>
            <p:cNvSpPr/>
            <p:nvPr/>
          </p:nvSpPr>
          <p:spPr>
            <a:xfrm>
              <a:off x="609600" y="3619500"/>
              <a:ext cx="10972800" cy="1809750"/>
            </a:xfrm>
            <a:prstGeom prst="roundRect">
              <a:avLst>
                <a:gd name="adj" fmla="val 6316"/>
              </a:avLst>
            </a:prstGeom>
            <a:solidFill>
              <a:schemeClr val="lt2"/>
            </a:solidFill>
            <a:ln>
              <a:noFill/>
            </a:ln>
          </p:spPr>
        </p:sp>
        <p:grpSp>
          <p:nvGrpSpPr>
            <p:cNvPr id="12" name="Group 12"/>
            <p:cNvGrpSpPr/>
            <p:nvPr/>
          </p:nvGrpSpPr>
          <p:grpSpPr>
            <a:xfrm>
              <a:off x="902970" y="3863975"/>
              <a:ext cx="7726406" cy="1487805"/>
              <a:chOff x="902970" y="3863975"/>
              <a:chExt cx="7726406" cy="1487805"/>
            </a:xfrm>
          </p:grpSpPr>
          <p:sp>
            <p:nvSpPr>
              <p:cNvPr id="9" name="TextBox 9"/>
              <p:cNvSpPr txBox="1"/>
              <p:nvPr/>
            </p:nvSpPr>
            <p:spPr>
              <a:xfrm>
                <a:off x="902970" y="3863975"/>
                <a:ext cx="6642344" cy="440055"/>
              </a:xfrm>
              <a:prstGeom prst="rect">
                <a:avLst/>
              </a:prstGeom>
              <a:noFill/>
              <a:ln>
                <a:noFill/>
              </a:ln>
            </p:spPr>
            <p:txBody>
              <a:bodyPr wrap="none" lIns="0" tIns="0" rIns="0" bIns="0" anchor="t" anchorCtr="0">
                <a:spAutoFit/>
              </a:bodyPr>
              <a:lstStyle/>
              <a:p>
                <a:pPr algn="l"/>
                <a:r>
                  <a:rPr lang="en-AU" sz="2250" dirty="0">
                    <a:solidFill>
                      <a:schemeClr val="dk1"/>
                    </a:solidFill>
                    <a:latin typeface="+mn-lt"/>
                    <a:ea typeface="+mn-ea"/>
                    <a:cs typeface="+mn-cs"/>
                  </a:rPr>
                  <a:t>Add: Chinese accuracy, prompt level and fatigue.</a:t>
                </a:r>
              </a:p>
            </p:txBody>
          </p:sp>
          <p:sp>
            <p:nvSpPr>
              <p:cNvPr id="10" name="TextBox 10"/>
              <p:cNvSpPr txBox="1"/>
              <p:nvPr/>
            </p:nvSpPr>
            <p:spPr>
              <a:xfrm>
                <a:off x="902970" y="4387850"/>
                <a:ext cx="6761361" cy="440055"/>
              </a:xfrm>
              <a:prstGeom prst="rect">
                <a:avLst/>
              </a:prstGeom>
              <a:noFill/>
              <a:ln>
                <a:noFill/>
              </a:ln>
            </p:spPr>
            <p:txBody>
              <a:bodyPr wrap="none" lIns="0" tIns="0" rIns="0" bIns="0" anchor="t" anchorCtr="0">
                <a:spAutoFit/>
              </a:bodyPr>
              <a:lstStyle/>
              <a:p>
                <a:pPr algn="l"/>
                <a:r>
                  <a:rPr lang="en-AU" sz="2250" dirty="0">
                    <a:solidFill>
                      <a:schemeClr val="dk1"/>
                    </a:solidFill>
                    <a:latin typeface="+mn-lt"/>
                    <a:ea typeface="+mn-ea"/>
                    <a:cs typeface="+mn-cs"/>
                  </a:rPr>
                  <a:t>Add: Jode-defined safety and belonging evidence.</a:t>
                </a:r>
              </a:p>
            </p:txBody>
          </p:sp>
          <p:sp>
            <p:nvSpPr>
              <p:cNvPr id="11" name="TextBox 11"/>
              <p:cNvSpPr txBox="1"/>
              <p:nvPr/>
            </p:nvSpPr>
            <p:spPr>
              <a:xfrm>
                <a:off x="902970" y="4911725"/>
                <a:ext cx="7726406" cy="440055"/>
              </a:xfrm>
              <a:prstGeom prst="rect">
                <a:avLst/>
              </a:prstGeom>
              <a:noFill/>
              <a:ln>
                <a:noFill/>
              </a:ln>
            </p:spPr>
            <p:txBody>
              <a:bodyPr wrap="none" lIns="0" tIns="0" rIns="0" bIns="0" anchor="t" anchorCtr="0">
                <a:spAutoFit/>
              </a:bodyPr>
              <a:lstStyle/>
              <a:p>
                <a:pPr algn="l"/>
                <a:r>
                  <a:rPr lang="en-AU" sz="2250" dirty="0">
                    <a:solidFill>
                      <a:schemeClr val="dk1"/>
                    </a:solidFill>
                    <a:latin typeface="+mn-lt"/>
                    <a:ea typeface="+mn-ea"/>
                    <a:cs typeface="+mn-cs"/>
                  </a:rPr>
                  <a:t>Clarify: year-end app milestones and school-year access.</a:t>
                </a:r>
              </a:p>
            </p:txBody>
          </p:sp>
        </p:grpSp>
      </p:grpSp>
      <p:grpSp>
        <p:nvGrpSpPr>
          <p:cNvPr id="16" name="p04-footer"/>
          <p:cNvGrpSpPr/>
          <p:nvPr/>
        </p:nvGrpSpPr>
        <p:grpSpPr>
          <a:xfrm>
            <a:off x="603504" y="6276975"/>
            <a:ext cx="10774169" cy="234696"/>
            <a:chOff x="603504" y="6276975"/>
            <a:chExt cx="10774169" cy="234696"/>
          </a:xfrm>
        </p:grpSpPr>
        <p:sp>
          <p:nvSpPr>
            <p:cNvPr id="14" name="TextBox 14"/>
            <p:cNvSpPr txBox="1"/>
            <p:nvPr/>
          </p:nvSpPr>
          <p:spPr>
            <a:xfrm>
              <a:off x="603504" y="6276975"/>
              <a:ext cx="8452080" cy="234696"/>
            </a:xfrm>
            <a:prstGeom prst="rect">
              <a:avLst/>
            </a:prstGeom>
            <a:noFill/>
            <a:ln>
              <a:noFill/>
            </a:ln>
          </p:spPr>
          <p:txBody>
            <a:bodyPr wrap="none" lIns="0" tIns="0" rIns="0" bIns="0" anchor="t" anchorCtr="0">
              <a:spAutoFit/>
            </a:bodyPr>
            <a:lstStyle/>
            <a:p>
              <a:pPr algn="l"/>
              <a:r>
                <a:rPr lang="en-AU" sz="1200" dirty="0">
                  <a:solidFill>
                    <a:schemeClr val="accent5"/>
                  </a:solidFill>
                  <a:latin typeface="+mn-lt"/>
                  <a:ea typeface="+mn-ea"/>
                  <a:cs typeface="+mn-cs"/>
                </a:rPr>
                <a:t>Proposed refinements, not measured outcomes. Baseline and criteria agreed with Jode. APST 5.1; DSE consultation.</a:t>
              </a:r>
            </a:p>
          </p:txBody>
        </p:sp>
        <p:sp>
          <p:nvSpPr>
            <p:cNvPr id="15" name="TextBox 15"/>
            <p:cNvSpPr txBox="1"/>
            <p:nvPr/>
          </p:nvSpPr>
          <p:spPr>
            <a:xfrm>
              <a:off x="11185779" y="6276975"/>
              <a:ext cx="191894" cy="234696"/>
            </a:xfrm>
            <a:prstGeom prst="rect">
              <a:avLst/>
            </a:prstGeom>
            <a:noFill/>
            <a:ln>
              <a:noFill/>
            </a:ln>
          </p:spPr>
          <p:txBody>
            <a:bodyPr wrap="none" lIns="0" tIns="0" rIns="0" bIns="0" anchor="t" anchorCtr="0">
              <a:spAutoFit/>
            </a:bodyPr>
            <a:lstStyle/>
            <a:p>
              <a:pPr algn="l"/>
              <a:r>
                <a:rPr lang="en-AU" sz="1200" dirty="0">
                  <a:solidFill>
                    <a:schemeClr val="accent5"/>
                  </a:solidFill>
                  <a:latin typeface="+mn-lt"/>
                  <a:ea typeface="+mn-ea"/>
                  <a:cs typeface="+mn-cs"/>
                </a:rPr>
                <a:t>04</a:t>
              </a:r>
            </a:p>
          </p:txBody>
        </p:sp>
      </p:gr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05-heading"/>
          <p:cNvGrpSpPr/>
          <p:nvPr/>
        </p:nvGrpSpPr>
        <p:grpSpPr>
          <a:xfrm>
            <a:off x="592836" y="704850"/>
            <a:ext cx="5158263" cy="1058164"/>
            <a:chOff x="592836" y="704850"/>
            <a:chExt cx="5158263" cy="1058164"/>
          </a:xfrm>
        </p:grpSpPr>
        <p:sp>
          <p:nvSpPr>
            <p:cNvPr id="2" name="TextBox 2"/>
            <p:cNvSpPr txBox="1"/>
            <p:nvPr/>
          </p:nvSpPr>
          <p:spPr>
            <a:xfrm>
              <a:off x="603504" y="704850"/>
              <a:ext cx="2914195" cy="234696"/>
            </a:xfrm>
            <a:prstGeom prst="rect">
              <a:avLst/>
            </a:prstGeom>
            <a:noFill/>
            <a:ln>
              <a:noFill/>
            </a:ln>
          </p:spPr>
          <p:txBody>
            <a:bodyPr wrap="none" lIns="0" tIns="0" rIns="0" bIns="0" anchor="t" anchorCtr="0">
              <a:spAutoFit/>
            </a:bodyPr>
            <a:lstStyle/>
            <a:p>
              <a:pPr algn="l"/>
              <a:r>
                <a:rPr lang="en-AU" sz="1200" dirty="0">
                  <a:solidFill>
                    <a:schemeClr val="accent2"/>
                  </a:solidFill>
                  <a:latin typeface="+mn-lt"/>
                  <a:ea typeface="+mn-ea"/>
                  <a:cs typeface="+mn-cs"/>
                </a:rPr>
                <a:t>04 / JODE · MEMORY AND FATIGUE</a:t>
              </a:r>
            </a:p>
          </p:txBody>
        </p:sp>
        <p:sp>
          <p:nvSpPr>
            <p:cNvPr id="3" name="TextBox 3"/>
            <p:cNvSpPr txBox="1"/>
            <p:nvPr/>
          </p:nvSpPr>
          <p:spPr>
            <a:xfrm>
              <a:off x="592836" y="1117600"/>
              <a:ext cx="5158263" cy="645414"/>
            </a:xfrm>
            <a:prstGeom prst="rect">
              <a:avLst/>
            </a:prstGeom>
            <a:noFill/>
            <a:ln>
              <a:noFill/>
            </a:ln>
          </p:spPr>
          <p:txBody>
            <a:bodyPr wrap="none" lIns="0" tIns="0" rIns="0" bIns="0" anchor="t" anchorCtr="0">
              <a:spAutoFit/>
            </a:bodyPr>
            <a:lstStyle/>
            <a:p>
              <a:pPr algn="l"/>
              <a:r>
                <a:rPr lang="en-AU" sz="3300" dirty="0">
                  <a:solidFill>
                    <a:schemeClr val="dk1"/>
                  </a:solidFill>
                  <a:latin typeface="+mn-lt"/>
                  <a:ea typeface="+mn-ea"/>
                  <a:cs typeface="+mn-cs"/>
                </a:rPr>
                <a:t>Make the next step visible</a:t>
              </a:r>
            </a:p>
          </p:txBody>
        </p:sp>
      </p:grpSp>
      <p:grpSp>
        <p:nvGrpSpPr>
          <p:cNvPr id="8" name="p05-task"/>
          <p:cNvGrpSpPr/>
          <p:nvPr/>
        </p:nvGrpSpPr>
        <p:grpSpPr>
          <a:xfrm>
            <a:off x="598170" y="2339975"/>
            <a:ext cx="7141350" cy="1368044"/>
            <a:chOff x="598170" y="2339975"/>
            <a:chExt cx="7141350" cy="1368044"/>
          </a:xfrm>
        </p:grpSpPr>
        <p:sp>
          <p:nvSpPr>
            <p:cNvPr id="5" name="TextBox 5"/>
            <p:cNvSpPr txBox="1"/>
            <p:nvPr/>
          </p:nvSpPr>
          <p:spPr>
            <a:xfrm>
              <a:off x="598170" y="2339975"/>
              <a:ext cx="6120654" cy="440055"/>
            </a:xfrm>
            <a:prstGeom prst="rect">
              <a:avLst/>
            </a:prstGeom>
            <a:noFill/>
            <a:ln>
              <a:noFill/>
            </a:ln>
          </p:spPr>
          <p:txBody>
            <a:bodyPr wrap="none" lIns="0" tIns="0" rIns="0" bIns="0" anchor="t" anchorCtr="0">
              <a:spAutoFit/>
            </a:bodyPr>
            <a:lstStyle/>
            <a:p>
              <a:pPr algn="l"/>
              <a:r>
                <a:rPr lang="en-AU" sz="2250" dirty="0">
                  <a:solidFill>
                    <a:schemeClr val="dk1"/>
                  </a:solidFill>
                  <a:latin typeface="+mn-lt"/>
                  <a:ea typeface="+mn-ea"/>
                  <a:cs typeface="+mn-cs"/>
                </a:rPr>
                <a:t>Goal: understand a short Chinese food order.</a:t>
              </a:r>
            </a:p>
          </p:txBody>
        </p:sp>
        <p:sp>
          <p:nvSpPr>
            <p:cNvPr id="6" name="TextBox 6"/>
            <p:cNvSpPr txBox="1"/>
            <p:nvPr/>
          </p:nvSpPr>
          <p:spPr>
            <a:xfrm>
              <a:off x="600456" y="2867025"/>
              <a:ext cx="7139064" cy="352044"/>
            </a:xfrm>
            <a:prstGeom prst="rect">
              <a:avLst/>
            </a:prstGeom>
            <a:noFill/>
            <a:ln>
              <a:noFill/>
            </a:ln>
          </p:spPr>
          <p:txBody>
            <a:bodyPr wrap="none" lIns="0" tIns="0" rIns="0" bIns="0" anchor="t" anchorCtr="0">
              <a:spAutoFit/>
            </a:bodyPr>
            <a:lstStyle/>
            <a:p>
              <a:pPr algn="l"/>
              <a:r>
                <a:rPr lang="en-AU" sz="1800" dirty="0">
                  <a:solidFill>
                    <a:schemeClr val="accent5"/>
                  </a:solidFill>
                  <a:latin typeface="+mn-lt"/>
                  <a:ea typeface="+mn-ea"/>
                  <a:cs typeface="+mn-cs"/>
                </a:rPr>
                <a:t>Model once. Keep the current task step visible. Offer planned rest.</a:t>
              </a:r>
            </a:p>
          </p:txBody>
        </p:sp>
        <p:sp>
          <p:nvSpPr>
            <p:cNvPr id="7" name="TextBox 7"/>
            <p:cNvSpPr txBox="1"/>
            <p:nvPr/>
          </p:nvSpPr>
          <p:spPr>
            <a:xfrm>
              <a:off x="600456" y="3355975"/>
              <a:ext cx="5621153"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Example: 我要米饭。 / Wǒ yào mǐfàn. / “I want rice.”</a:t>
              </a:r>
            </a:p>
          </p:txBody>
        </p:sp>
      </p:grpSp>
      <p:grpSp>
        <p:nvGrpSpPr>
          <p:cNvPr id="13" name="p05-sequence"/>
          <p:cNvGrpSpPr/>
          <p:nvPr/>
        </p:nvGrpSpPr>
        <p:grpSpPr>
          <a:xfrm>
            <a:off x="609600" y="3857625"/>
            <a:ext cx="10972800" cy="1524000"/>
            <a:chOff x="609600" y="3857625"/>
            <a:chExt cx="10972800" cy="1524000"/>
          </a:xfrm>
        </p:grpSpPr>
        <p:sp>
          <p:nvSpPr>
            <p:cNvPr id="9" name="Rectangle 9"/>
            <p:cNvSpPr/>
            <p:nvPr/>
          </p:nvSpPr>
          <p:spPr>
            <a:xfrm>
              <a:off x="609600" y="3857625"/>
              <a:ext cx="10972800" cy="1524000"/>
            </a:xfrm>
            <a:prstGeom prst="roundRect">
              <a:avLst>
                <a:gd name="adj" fmla="val 7500"/>
              </a:avLst>
            </a:prstGeom>
            <a:solidFill>
              <a:schemeClr val="lt2"/>
            </a:solidFill>
            <a:ln>
              <a:noFill/>
            </a:ln>
          </p:spPr>
        </p:sp>
        <p:grpSp>
          <p:nvGrpSpPr>
            <p:cNvPr id="12" name="Group 12"/>
            <p:cNvGrpSpPr/>
            <p:nvPr/>
          </p:nvGrpSpPr>
          <p:grpSpPr>
            <a:xfrm>
              <a:off x="902970" y="4102100"/>
              <a:ext cx="8266164" cy="1021969"/>
              <a:chOff x="902970" y="4102100"/>
              <a:chExt cx="8266164" cy="1021969"/>
            </a:xfrm>
          </p:grpSpPr>
          <p:sp>
            <p:nvSpPr>
              <p:cNvPr id="10" name="TextBox 10"/>
              <p:cNvSpPr txBox="1"/>
              <p:nvPr/>
            </p:nvSpPr>
            <p:spPr>
              <a:xfrm>
                <a:off x="902970" y="4102100"/>
                <a:ext cx="8266164" cy="440055"/>
              </a:xfrm>
              <a:prstGeom prst="rect">
                <a:avLst/>
              </a:prstGeom>
              <a:noFill/>
              <a:ln>
                <a:noFill/>
              </a:ln>
            </p:spPr>
            <p:txBody>
              <a:bodyPr wrap="none" lIns="0" tIns="0" rIns="0" bIns="0" anchor="t" anchorCtr="0">
                <a:spAutoFit/>
              </a:bodyPr>
              <a:lstStyle/>
              <a:p>
                <a:pPr algn="l"/>
                <a:r>
                  <a:rPr lang="en-AU" sz="2250" dirty="0">
                    <a:solidFill>
                      <a:schemeClr val="dk1"/>
                    </a:solidFill>
                    <a:latin typeface="+mn-lt"/>
                    <a:ea typeface="+mn-ea"/>
                    <a:cs typeface="+mn-cs"/>
                  </a:rPr>
                  <a:t>Listen to one phrase · replay if needed · select the menu item</a:t>
                </a:r>
              </a:p>
            </p:txBody>
          </p:sp>
          <p:sp>
            <p:nvSpPr>
              <p:cNvPr id="11" name="TextBox 11"/>
              <p:cNvSpPr txBox="1"/>
              <p:nvPr/>
            </p:nvSpPr>
            <p:spPr>
              <a:xfrm>
                <a:off x="905256" y="4772025"/>
                <a:ext cx="8081196" cy="352044"/>
              </a:xfrm>
              <a:prstGeom prst="rect">
                <a:avLst/>
              </a:prstGeom>
              <a:noFill/>
              <a:ln>
                <a:noFill/>
              </a:ln>
            </p:spPr>
            <p:txBody>
              <a:bodyPr wrap="none" lIns="0" tIns="0" rIns="0" bIns="0" anchor="t" anchorCtr="0">
                <a:spAutoFit/>
              </a:bodyPr>
              <a:lstStyle/>
              <a:p>
                <a:pPr algn="l"/>
                <a:r>
                  <a:rPr lang="en-AU" sz="1800" dirty="0">
                    <a:solidFill>
                      <a:schemeClr val="dk1"/>
                    </a:solidFill>
                    <a:latin typeface="+mn-lt"/>
                    <a:ea typeface="+mn-ea"/>
                    <a:cs typeface="+mn-cs"/>
                  </a:rPr>
                  <a:t>Check understanding before continuing; log accuracy, prompts and fatigue.</a:t>
                </a:r>
              </a:p>
            </p:txBody>
          </p:sp>
        </p:grpSp>
      </p:grpSp>
      <p:grpSp>
        <p:nvGrpSpPr>
          <p:cNvPr id="16" name="p05-footer"/>
          <p:cNvGrpSpPr/>
          <p:nvPr/>
        </p:nvGrpSpPr>
        <p:grpSpPr>
          <a:xfrm>
            <a:off x="603504" y="6276975"/>
            <a:ext cx="10774169" cy="234696"/>
            <a:chOff x="603504" y="6276975"/>
            <a:chExt cx="10774169" cy="234696"/>
          </a:xfrm>
        </p:grpSpPr>
        <p:sp>
          <p:nvSpPr>
            <p:cNvPr id="14" name="TextBox 14"/>
            <p:cNvSpPr txBox="1"/>
            <p:nvPr/>
          </p:nvSpPr>
          <p:spPr>
            <a:xfrm>
              <a:off x="603504" y="6276975"/>
              <a:ext cx="6406835" cy="234696"/>
            </a:xfrm>
            <a:prstGeom prst="rect">
              <a:avLst/>
            </a:prstGeom>
            <a:noFill/>
            <a:ln>
              <a:noFill/>
            </a:ln>
          </p:spPr>
          <p:txBody>
            <a:bodyPr wrap="none" lIns="0" tIns="0" rIns="0" bIns="0" anchor="t" anchorCtr="0">
              <a:spAutoFit/>
            </a:bodyPr>
            <a:lstStyle/>
            <a:p>
              <a:pPr algn="l"/>
              <a:r>
                <a:rPr lang="en-AU" sz="1200" dirty="0">
                  <a:solidFill>
                    <a:schemeClr val="accent5"/>
                  </a:solidFill>
                  <a:latin typeface="+mn-lt"/>
                  <a:ea typeface="+mn-ea"/>
                  <a:cs typeface="+mn-cs"/>
                </a:rPr>
                <a:t>CESE (2017); Rosenshine (2012). APST 1.5, 3.3, 5.1; DSE curriculum and participation.</a:t>
              </a:r>
            </a:p>
          </p:txBody>
        </p:sp>
        <p:sp>
          <p:nvSpPr>
            <p:cNvPr id="15" name="TextBox 15"/>
            <p:cNvSpPr txBox="1"/>
            <p:nvPr/>
          </p:nvSpPr>
          <p:spPr>
            <a:xfrm>
              <a:off x="11185779" y="6276975"/>
              <a:ext cx="191894" cy="234696"/>
            </a:xfrm>
            <a:prstGeom prst="rect">
              <a:avLst/>
            </a:prstGeom>
            <a:noFill/>
            <a:ln>
              <a:noFill/>
            </a:ln>
          </p:spPr>
          <p:txBody>
            <a:bodyPr wrap="none" lIns="0" tIns="0" rIns="0" bIns="0" anchor="t" anchorCtr="0">
              <a:spAutoFit/>
            </a:bodyPr>
            <a:lstStyle/>
            <a:p>
              <a:pPr algn="l"/>
              <a:r>
                <a:rPr lang="en-AU" sz="1200" dirty="0">
                  <a:solidFill>
                    <a:schemeClr val="accent5"/>
                  </a:solidFill>
                  <a:latin typeface="+mn-lt"/>
                  <a:ea typeface="+mn-ea"/>
                  <a:cs typeface="+mn-cs"/>
                </a:rPr>
                <a:t>05</a:t>
              </a:r>
            </a:p>
          </p:txBody>
        </p:sp>
      </p:gr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06-heading"/>
          <p:cNvGrpSpPr/>
          <p:nvPr/>
        </p:nvGrpSpPr>
        <p:grpSpPr>
          <a:xfrm>
            <a:off x="592836" y="704850"/>
            <a:ext cx="8840176" cy="1058164"/>
            <a:chOff x="592836" y="704850"/>
            <a:chExt cx="8840176" cy="1058164"/>
          </a:xfrm>
        </p:grpSpPr>
        <p:sp>
          <p:nvSpPr>
            <p:cNvPr id="2" name="TextBox 2"/>
            <p:cNvSpPr txBox="1"/>
            <p:nvPr/>
          </p:nvSpPr>
          <p:spPr>
            <a:xfrm>
              <a:off x="603504" y="704850"/>
              <a:ext cx="4270209" cy="234696"/>
            </a:xfrm>
            <a:prstGeom prst="rect">
              <a:avLst/>
            </a:prstGeom>
            <a:noFill/>
            <a:ln>
              <a:noFill/>
            </a:ln>
          </p:spPr>
          <p:txBody>
            <a:bodyPr wrap="none" lIns="0" tIns="0" rIns="0" bIns="0" anchor="t" anchorCtr="0">
              <a:spAutoFit/>
            </a:bodyPr>
            <a:lstStyle/>
            <a:p>
              <a:pPr algn="l"/>
              <a:r>
                <a:rPr lang="en-AU" sz="1200" dirty="0">
                  <a:solidFill>
                    <a:schemeClr val="accent2"/>
                  </a:solidFill>
                  <a:latin typeface="+mn-lt"/>
                  <a:ea typeface="+mn-ea"/>
                  <a:cs typeface="+mn-cs"/>
                </a:rPr>
                <a:t>05 / JODE · MOTOR AND COMMUNICATION ACCESS</a:t>
              </a:r>
            </a:p>
          </p:txBody>
        </p:sp>
        <p:sp>
          <p:nvSpPr>
            <p:cNvPr id="3" name="TextBox 3"/>
            <p:cNvSpPr txBox="1"/>
            <p:nvPr/>
          </p:nvSpPr>
          <p:spPr>
            <a:xfrm>
              <a:off x="592836" y="1117600"/>
              <a:ext cx="8840176" cy="645414"/>
            </a:xfrm>
            <a:prstGeom prst="rect">
              <a:avLst/>
            </a:prstGeom>
            <a:noFill/>
            <a:ln>
              <a:noFill/>
            </a:ln>
          </p:spPr>
          <p:txBody>
            <a:bodyPr wrap="none" lIns="0" tIns="0" rIns="0" bIns="0" anchor="t" anchorCtr="0">
              <a:spAutoFit/>
            </a:bodyPr>
            <a:lstStyle/>
            <a:p>
              <a:pPr algn="l"/>
              <a:r>
                <a:rPr lang="en-AU" sz="3300" dirty="0">
                  <a:solidFill>
                    <a:schemeClr val="dk1"/>
                  </a:solidFill>
                  <a:latin typeface="+mn-lt"/>
                  <a:ea typeface="+mn-ea"/>
                  <a:cs typeface="+mn-cs"/>
                </a:rPr>
                <a:t>Change the response mode, protect the goal</a:t>
              </a:r>
            </a:p>
          </p:txBody>
        </p:sp>
      </p:grpSp>
      <p:grpSp>
        <p:nvGrpSpPr>
          <p:cNvPr id="11" name="p06-example"/>
          <p:cNvGrpSpPr/>
          <p:nvPr/>
        </p:nvGrpSpPr>
        <p:grpSpPr>
          <a:xfrm>
            <a:off x="609600" y="2238375"/>
            <a:ext cx="5143500" cy="3095625"/>
            <a:chOff x="609600" y="2238375"/>
            <a:chExt cx="5143500" cy="3095625"/>
          </a:xfrm>
        </p:grpSpPr>
        <p:sp>
          <p:nvSpPr>
            <p:cNvPr id="5" name="Rectangle 5"/>
            <p:cNvSpPr/>
            <p:nvPr/>
          </p:nvSpPr>
          <p:spPr>
            <a:xfrm>
              <a:off x="609600" y="2238375"/>
              <a:ext cx="5143500" cy="3095625"/>
            </a:xfrm>
            <a:prstGeom prst="roundRect">
              <a:avLst>
                <a:gd name="adj" fmla="val 3692"/>
              </a:avLst>
            </a:prstGeom>
            <a:solidFill>
              <a:schemeClr val="lt2"/>
            </a:solidFill>
            <a:ln>
              <a:noFill/>
            </a:ln>
          </p:spPr>
        </p:sp>
        <p:grpSp>
          <p:nvGrpSpPr>
            <p:cNvPr id="10" name="Group 10"/>
            <p:cNvGrpSpPr/>
            <p:nvPr/>
          </p:nvGrpSpPr>
          <p:grpSpPr>
            <a:xfrm>
              <a:off x="902970" y="2581275"/>
              <a:ext cx="4577130" cy="2294255"/>
              <a:chOff x="902970" y="2581275"/>
              <a:chExt cx="4577130" cy="2294255"/>
            </a:xfrm>
          </p:grpSpPr>
          <p:sp>
            <p:nvSpPr>
              <p:cNvPr id="6" name="TextBox 6"/>
              <p:cNvSpPr txBox="1"/>
              <p:nvPr/>
            </p:nvSpPr>
            <p:spPr>
              <a:xfrm>
                <a:off x="905256" y="2581275"/>
                <a:ext cx="3531969" cy="352044"/>
              </a:xfrm>
              <a:prstGeom prst="rect">
                <a:avLst/>
              </a:prstGeom>
              <a:noFill/>
              <a:ln>
                <a:noFill/>
              </a:ln>
            </p:spPr>
            <p:txBody>
              <a:bodyPr wrap="none" lIns="0" tIns="0" rIns="0" bIns="0" anchor="t" anchorCtr="0">
                <a:spAutoFit/>
              </a:bodyPr>
              <a:lstStyle/>
              <a:p>
                <a:pPr algn="l"/>
                <a:r>
                  <a:rPr lang="en-AU" sz="1800" dirty="0">
                    <a:solidFill>
                      <a:schemeClr val="accent2"/>
                    </a:solidFill>
                    <a:latin typeface="+mn-lt"/>
                    <a:ea typeface="+mn-ea"/>
                    <a:cs typeface="+mn-cs"/>
                  </a:rPr>
                  <a:t>PAIRED FOOD-ORDER TASK</a:t>
                </a:r>
              </a:p>
            </p:txBody>
          </p:sp>
          <p:sp>
            <p:nvSpPr>
              <p:cNvPr id="7" name="TextBox 7"/>
              <p:cNvSpPr txBox="1"/>
              <p:nvPr/>
            </p:nvSpPr>
            <p:spPr>
              <a:xfrm>
                <a:off x="902970" y="3197225"/>
                <a:ext cx="4577130" cy="440055"/>
              </a:xfrm>
              <a:prstGeom prst="rect">
                <a:avLst/>
              </a:prstGeom>
              <a:noFill/>
              <a:ln>
                <a:noFill/>
              </a:ln>
            </p:spPr>
            <p:txBody>
              <a:bodyPr wrap="none" lIns="0" tIns="0" rIns="0" bIns="0" anchor="t" anchorCtr="0">
                <a:spAutoFit/>
              </a:bodyPr>
              <a:lstStyle/>
              <a:p>
                <a:pPr algn="l"/>
                <a:r>
                  <a:rPr lang="en-AU" sz="2250" dirty="0">
                    <a:solidFill>
                      <a:schemeClr val="dk1"/>
                    </a:solidFill>
                    <a:latin typeface="+mn-lt"/>
                    <a:ea typeface="+mn-ea"/>
                    <a:cs typeface="+mn-cs"/>
                  </a:rPr>
                  <a:t>Pinyin input or character selection</a:t>
                </a:r>
              </a:p>
            </p:txBody>
          </p:sp>
          <p:sp>
            <p:nvSpPr>
              <p:cNvPr id="8" name="TextBox 8"/>
              <p:cNvSpPr txBox="1"/>
              <p:nvPr/>
            </p:nvSpPr>
            <p:spPr>
              <a:xfrm>
                <a:off x="902970" y="3816350"/>
                <a:ext cx="4169598" cy="440055"/>
              </a:xfrm>
              <a:prstGeom prst="rect">
                <a:avLst/>
              </a:prstGeom>
              <a:noFill/>
              <a:ln>
                <a:noFill/>
              </a:ln>
            </p:spPr>
            <p:txBody>
              <a:bodyPr wrap="none" lIns="0" tIns="0" rIns="0" bIns="0" anchor="t" anchorCtr="0">
                <a:spAutoFit/>
              </a:bodyPr>
              <a:lstStyle/>
              <a:p>
                <a:pPr algn="l"/>
                <a:r>
                  <a:rPr lang="en-AU" sz="2250" dirty="0">
                    <a:solidFill>
                      <a:schemeClr val="dk1"/>
                    </a:solidFill>
                    <a:latin typeface="+mn-lt"/>
                    <a:ea typeface="+mn-ea"/>
                    <a:cs typeface="+mn-cs"/>
                  </a:rPr>
                  <a:t>Typed or AAC-supported turns</a:t>
                </a:r>
              </a:p>
            </p:txBody>
          </p:sp>
          <p:sp>
            <p:nvSpPr>
              <p:cNvPr id="9" name="TextBox 9"/>
              <p:cNvSpPr txBox="1"/>
              <p:nvPr/>
            </p:nvSpPr>
            <p:spPr>
              <a:xfrm>
                <a:off x="902970" y="4435475"/>
                <a:ext cx="3719318" cy="440055"/>
              </a:xfrm>
              <a:prstGeom prst="rect">
                <a:avLst/>
              </a:prstGeom>
              <a:noFill/>
              <a:ln>
                <a:noFill/>
              </a:ln>
            </p:spPr>
            <p:txBody>
              <a:bodyPr wrap="none" lIns="0" tIns="0" rIns="0" bIns="0" anchor="t" anchorCtr="0">
                <a:spAutoFit/>
              </a:bodyPr>
              <a:lstStyle/>
              <a:p>
                <a:pPr algn="l"/>
                <a:r>
                  <a:rPr lang="en-AU" sz="2250" dirty="0">
                    <a:solidFill>
                      <a:schemeClr val="dk1"/>
                    </a:solidFill>
                    <a:latin typeface="+mn-lt"/>
                    <a:ea typeface="+mn-ea"/>
                    <a:cs typeface="+mn-cs"/>
                  </a:rPr>
                  <a:t>Partner waits and responds</a:t>
                </a:r>
              </a:p>
            </p:txBody>
          </p:sp>
        </p:grpSp>
      </p:grpSp>
      <p:grpSp>
        <p:nvGrpSpPr>
          <p:cNvPr id="17" name="p06-test"/>
          <p:cNvGrpSpPr/>
          <p:nvPr/>
        </p:nvGrpSpPr>
        <p:grpSpPr>
          <a:xfrm>
            <a:off x="6275070" y="2581275"/>
            <a:ext cx="5380672" cy="2876169"/>
            <a:chOff x="6275070" y="2581275"/>
            <a:chExt cx="5380672" cy="2876169"/>
          </a:xfrm>
        </p:grpSpPr>
        <p:sp>
          <p:nvSpPr>
            <p:cNvPr id="12" name="TextBox 12"/>
            <p:cNvSpPr txBox="1"/>
            <p:nvPr/>
          </p:nvSpPr>
          <p:spPr>
            <a:xfrm>
              <a:off x="6277356" y="2581275"/>
              <a:ext cx="4371703" cy="352044"/>
            </a:xfrm>
            <a:prstGeom prst="rect">
              <a:avLst/>
            </a:prstGeom>
            <a:noFill/>
            <a:ln>
              <a:noFill/>
            </a:ln>
          </p:spPr>
          <p:txBody>
            <a:bodyPr wrap="none" lIns="0" tIns="0" rIns="0" bIns="0" anchor="t" anchorCtr="0">
              <a:spAutoFit/>
            </a:bodyPr>
            <a:lstStyle/>
            <a:p>
              <a:pPr algn="l"/>
              <a:r>
                <a:rPr lang="en-AU" sz="1800" dirty="0">
                  <a:solidFill>
                    <a:schemeClr val="accent2"/>
                  </a:solidFill>
                  <a:latin typeface="+mn-lt"/>
                  <a:ea typeface="+mn-ea"/>
                  <a:cs typeface="+mn-cs"/>
                </a:rPr>
                <a:t>CHECK WHAT IS BEING ASSESSED</a:t>
              </a:r>
            </a:p>
          </p:txBody>
        </p:sp>
        <p:sp>
          <p:nvSpPr>
            <p:cNvPr id="13" name="TextBox 13"/>
            <p:cNvSpPr txBox="1"/>
            <p:nvPr/>
          </p:nvSpPr>
          <p:spPr>
            <a:xfrm>
              <a:off x="6275070" y="3197225"/>
              <a:ext cx="5311574" cy="440055"/>
            </a:xfrm>
            <a:prstGeom prst="rect">
              <a:avLst/>
            </a:prstGeom>
            <a:noFill/>
            <a:ln>
              <a:noFill/>
            </a:ln>
          </p:spPr>
          <p:txBody>
            <a:bodyPr wrap="none" lIns="0" tIns="0" rIns="0" bIns="0" anchor="t" anchorCtr="0">
              <a:spAutoFit/>
            </a:bodyPr>
            <a:lstStyle/>
            <a:p>
              <a:pPr algn="l"/>
              <a:r>
                <a:rPr lang="en-AU" sz="2250" dirty="0">
                  <a:solidFill>
                    <a:schemeClr val="dk1"/>
                  </a:solidFill>
                  <a:latin typeface="+mn-lt"/>
                  <a:ea typeface="+mn-ea"/>
                  <a:cs typeface="+mn-cs"/>
                </a:rPr>
                <a:t>Meaning and interaction? Offer access.</a:t>
              </a:r>
            </a:p>
          </p:txBody>
        </p:sp>
        <p:sp>
          <p:nvSpPr>
            <p:cNvPr id="14" name="TextBox 14"/>
            <p:cNvSpPr txBox="1"/>
            <p:nvPr/>
          </p:nvSpPr>
          <p:spPr>
            <a:xfrm>
              <a:off x="6275070" y="3816350"/>
              <a:ext cx="4502846" cy="440055"/>
            </a:xfrm>
            <a:prstGeom prst="rect">
              <a:avLst/>
            </a:prstGeom>
            <a:noFill/>
            <a:ln>
              <a:noFill/>
            </a:ln>
          </p:spPr>
          <p:txBody>
            <a:bodyPr wrap="none" lIns="0" tIns="0" rIns="0" bIns="0" anchor="t" anchorCtr="0">
              <a:spAutoFit/>
            </a:bodyPr>
            <a:lstStyle/>
            <a:p>
              <a:pPr algn="l"/>
              <a:r>
                <a:rPr lang="en-AU" sz="2250" dirty="0">
                  <a:solidFill>
                    <a:schemeClr val="dk1"/>
                  </a:solidFill>
                  <a:latin typeface="+mn-lt"/>
                  <a:ea typeface="+mn-ea"/>
                  <a:cs typeface="+mn-cs"/>
                </a:rPr>
                <a:t>Speech production? Consult first.</a:t>
              </a:r>
            </a:p>
          </p:txBody>
        </p:sp>
        <p:sp>
          <p:nvSpPr>
            <p:cNvPr id="15" name="TextBox 15"/>
            <p:cNvSpPr txBox="1"/>
            <p:nvPr/>
          </p:nvSpPr>
          <p:spPr>
            <a:xfrm>
              <a:off x="6275070" y="4435475"/>
              <a:ext cx="5380672" cy="440055"/>
            </a:xfrm>
            <a:prstGeom prst="rect">
              <a:avLst/>
            </a:prstGeom>
            <a:noFill/>
            <a:ln>
              <a:noFill/>
            </a:ln>
          </p:spPr>
          <p:txBody>
            <a:bodyPr wrap="none" lIns="0" tIns="0" rIns="0" bIns="0" anchor="t" anchorCtr="0">
              <a:spAutoFit/>
            </a:bodyPr>
            <a:lstStyle/>
            <a:p>
              <a:pPr algn="l"/>
              <a:r>
                <a:rPr lang="en-AU" sz="2250" dirty="0">
                  <a:solidFill>
                    <a:schemeClr val="dk1"/>
                  </a:solidFill>
                  <a:latin typeface="+mn-lt"/>
                  <a:ea typeface="+mn-ea"/>
                  <a:cs typeface="+mn-cs"/>
                </a:rPr>
                <a:t>Trial with Jode, speech pathologist, OT.</a:t>
              </a:r>
            </a:p>
          </p:txBody>
        </p:sp>
        <p:sp>
          <p:nvSpPr>
            <p:cNvPr id="16" name="TextBox 16"/>
            <p:cNvSpPr txBox="1"/>
            <p:nvPr/>
          </p:nvSpPr>
          <p:spPr>
            <a:xfrm>
              <a:off x="6277356" y="5105400"/>
              <a:ext cx="4174125" cy="352044"/>
            </a:xfrm>
            <a:prstGeom prst="rect">
              <a:avLst/>
            </a:prstGeom>
            <a:noFill/>
            <a:ln>
              <a:noFill/>
            </a:ln>
          </p:spPr>
          <p:txBody>
            <a:bodyPr wrap="none" lIns="0" tIns="0" rIns="0" bIns="0" anchor="t" anchorCtr="0">
              <a:spAutoFit/>
            </a:bodyPr>
            <a:lstStyle/>
            <a:p>
              <a:pPr algn="l"/>
              <a:r>
                <a:rPr lang="en-AU" sz="1800" dirty="0">
                  <a:solidFill>
                    <a:schemeClr val="accent5"/>
                  </a:solidFill>
                  <a:latin typeface="+mn-lt"/>
                  <a:ea typeface="+mn-ea"/>
                  <a:cs typeface="+mn-cs"/>
                </a:rPr>
                <a:t>No routine speech-to-text requirement.</a:t>
              </a:r>
            </a:p>
          </p:txBody>
        </p:sp>
      </p:grpSp>
      <p:grpSp>
        <p:nvGrpSpPr>
          <p:cNvPr id="20" name="p06-footer"/>
          <p:cNvGrpSpPr/>
          <p:nvPr/>
        </p:nvGrpSpPr>
        <p:grpSpPr>
          <a:xfrm>
            <a:off x="603504" y="6276975"/>
            <a:ext cx="10774169" cy="234696"/>
            <a:chOff x="603504" y="6276975"/>
            <a:chExt cx="10774169" cy="234696"/>
          </a:xfrm>
        </p:grpSpPr>
        <p:sp>
          <p:nvSpPr>
            <p:cNvPr id="18" name="TextBox 18"/>
            <p:cNvSpPr txBox="1"/>
            <p:nvPr/>
          </p:nvSpPr>
          <p:spPr>
            <a:xfrm>
              <a:off x="603504" y="6276975"/>
              <a:ext cx="6353560" cy="234696"/>
            </a:xfrm>
            <a:prstGeom prst="rect">
              <a:avLst/>
            </a:prstGeom>
            <a:noFill/>
            <a:ln>
              <a:noFill/>
            </a:ln>
          </p:spPr>
          <p:txBody>
            <a:bodyPr wrap="none" lIns="0" tIns="0" rIns="0" bIns="0" anchor="t" anchorCtr="0">
              <a:spAutoFit/>
            </a:bodyPr>
            <a:lstStyle/>
            <a:p>
              <a:pPr algn="l"/>
              <a:r>
                <a:rPr lang="en-AU" sz="1200" dirty="0">
                  <a:solidFill>
                    <a:schemeClr val="accent5"/>
                  </a:solidFill>
                  <a:latin typeface="+mn-lt"/>
                  <a:ea typeface="+mn-ea"/>
                  <a:cs typeface="+mn-cs"/>
                </a:rPr>
                <a:t>ASHA (n.d.-a, n.d.-b); submitted ILP §7–8. APST 1.6, 5.1; DSE curriculum and support.</a:t>
              </a:r>
            </a:p>
          </p:txBody>
        </p:sp>
        <p:sp>
          <p:nvSpPr>
            <p:cNvPr id="19" name="TextBox 19"/>
            <p:cNvSpPr txBox="1"/>
            <p:nvPr/>
          </p:nvSpPr>
          <p:spPr>
            <a:xfrm>
              <a:off x="11185779" y="6276975"/>
              <a:ext cx="191894" cy="234696"/>
            </a:xfrm>
            <a:prstGeom prst="rect">
              <a:avLst/>
            </a:prstGeom>
            <a:noFill/>
            <a:ln>
              <a:noFill/>
            </a:ln>
          </p:spPr>
          <p:txBody>
            <a:bodyPr wrap="none" lIns="0" tIns="0" rIns="0" bIns="0" anchor="t" anchorCtr="0">
              <a:spAutoFit/>
            </a:bodyPr>
            <a:lstStyle/>
            <a:p>
              <a:pPr algn="l"/>
              <a:r>
                <a:rPr lang="en-AU" sz="1200" dirty="0">
                  <a:solidFill>
                    <a:schemeClr val="accent5"/>
                  </a:solidFill>
                  <a:latin typeface="+mn-lt"/>
                  <a:ea typeface="+mn-ea"/>
                  <a:cs typeface="+mn-cs"/>
                </a:rPr>
                <a:t>06</a:t>
              </a:r>
            </a:p>
          </p:txBody>
        </p:sp>
      </p:gr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07-heading"/>
          <p:cNvGrpSpPr/>
          <p:nvPr/>
        </p:nvGrpSpPr>
        <p:grpSpPr>
          <a:xfrm>
            <a:off x="592836" y="704850"/>
            <a:ext cx="9259466" cy="1058164"/>
            <a:chOff x="592836" y="704850"/>
            <a:chExt cx="9259466" cy="1058164"/>
          </a:xfrm>
        </p:grpSpPr>
        <p:sp>
          <p:nvSpPr>
            <p:cNvPr id="2" name="TextBox 2"/>
            <p:cNvSpPr txBox="1"/>
            <p:nvPr/>
          </p:nvSpPr>
          <p:spPr>
            <a:xfrm>
              <a:off x="603504" y="704850"/>
              <a:ext cx="2810383" cy="234696"/>
            </a:xfrm>
            <a:prstGeom prst="rect">
              <a:avLst/>
            </a:prstGeom>
            <a:noFill/>
            <a:ln>
              <a:noFill/>
            </a:ln>
          </p:spPr>
          <p:txBody>
            <a:bodyPr wrap="none" lIns="0" tIns="0" rIns="0" bIns="0" anchor="t" anchorCtr="0">
              <a:spAutoFit/>
            </a:bodyPr>
            <a:lstStyle/>
            <a:p>
              <a:pPr algn="l"/>
              <a:r>
                <a:rPr lang="en-AU" sz="1200" dirty="0">
                  <a:solidFill>
                    <a:schemeClr val="accent2"/>
                  </a:solidFill>
                  <a:latin typeface="+mn-lt"/>
                  <a:ea typeface="+mn-ea"/>
                  <a:cs typeface="+mn-cs"/>
                </a:rPr>
                <a:t>06 / HYPOTHETICAL CASE · EAL/D</a:t>
              </a:r>
            </a:p>
          </p:txBody>
        </p:sp>
        <p:sp>
          <p:nvSpPr>
            <p:cNvPr id="3" name="TextBox 3"/>
            <p:cNvSpPr txBox="1"/>
            <p:nvPr/>
          </p:nvSpPr>
          <p:spPr>
            <a:xfrm>
              <a:off x="592836" y="1117600"/>
              <a:ext cx="9259466" cy="645414"/>
            </a:xfrm>
            <a:prstGeom prst="rect">
              <a:avLst/>
            </a:prstGeom>
            <a:noFill/>
            <a:ln>
              <a:noFill/>
            </a:ln>
          </p:spPr>
          <p:txBody>
            <a:bodyPr wrap="none" lIns="0" tIns="0" rIns="0" bIns="0" anchor="t" anchorCtr="0">
              <a:spAutoFit/>
            </a:bodyPr>
            <a:lstStyle/>
            <a:p>
              <a:pPr algn="l"/>
              <a:r>
                <a:rPr lang="en-AU" sz="3300" dirty="0">
                  <a:solidFill>
                    <a:schemeClr val="dk1"/>
                  </a:solidFill>
                  <a:latin typeface="+mn-lt"/>
                  <a:ea typeface="+mn-ea"/>
                  <a:cs typeface="+mn-cs"/>
                </a:rPr>
                <a:t>Amira: separate English from Chinese learning</a:t>
              </a:r>
            </a:p>
          </p:txBody>
        </p:sp>
      </p:grpSp>
      <p:grpSp>
        <p:nvGrpSpPr>
          <p:cNvPr id="7" name="p07-profile"/>
          <p:cNvGrpSpPr/>
          <p:nvPr/>
        </p:nvGrpSpPr>
        <p:grpSpPr>
          <a:xfrm>
            <a:off x="598170" y="2387600"/>
            <a:ext cx="8829241" cy="879094"/>
            <a:chOff x="598170" y="2387600"/>
            <a:chExt cx="8829241" cy="879094"/>
          </a:xfrm>
        </p:grpSpPr>
        <p:sp>
          <p:nvSpPr>
            <p:cNvPr id="5" name="TextBox 5"/>
            <p:cNvSpPr txBox="1"/>
            <p:nvPr/>
          </p:nvSpPr>
          <p:spPr>
            <a:xfrm>
              <a:off x="598170" y="2387600"/>
              <a:ext cx="8829241" cy="440055"/>
            </a:xfrm>
            <a:prstGeom prst="rect">
              <a:avLst/>
            </a:prstGeom>
            <a:noFill/>
            <a:ln>
              <a:noFill/>
            </a:ln>
          </p:spPr>
          <p:txBody>
            <a:bodyPr wrap="none" lIns="0" tIns="0" rIns="0" bIns="0" anchor="t" anchorCtr="0">
              <a:spAutoFit/>
            </a:bodyPr>
            <a:lstStyle/>
            <a:p>
              <a:pPr algn="l"/>
              <a:r>
                <a:rPr lang="en-AU" sz="2250" dirty="0">
                  <a:solidFill>
                    <a:schemeClr val="dk1"/>
                  </a:solidFill>
                  <a:latin typeface="+mn-lt"/>
                  <a:ea typeface="+mn-ea"/>
                  <a:cs typeface="+mn-cs"/>
                </a:rPr>
                <a:t>Arabic literacy and consistent prior schooling; developing English.</a:t>
              </a:r>
            </a:p>
          </p:txBody>
        </p:sp>
        <p:sp>
          <p:nvSpPr>
            <p:cNvPr id="6" name="TextBox 6"/>
            <p:cNvSpPr txBox="1"/>
            <p:nvPr/>
          </p:nvSpPr>
          <p:spPr>
            <a:xfrm>
              <a:off x="600456" y="2914650"/>
              <a:ext cx="8444109" cy="352044"/>
            </a:xfrm>
            <a:prstGeom prst="rect">
              <a:avLst/>
            </a:prstGeom>
            <a:noFill/>
            <a:ln>
              <a:noFill/>
            </a:ln>
          </p:spPr>
          <p:txBody>
            <a:bodyPr wrap="none" lIns="0" tIns="0" rIns="0" bIns="0" anchor="t" anchorCtr="0">
              <a:spAutoFit/>
            </a:bodyPr>
            <a:lstStyle/>
            <a:p>
              <a:pPr algn="l"/>
              <a:r>
                <a:rPr lang="en-AU" sz="1800" dirty="0">
                  <a:solidFill>
                    <a:schemeClr val="accent5"/>
                  </a:solidFill>
                  <a:latin typeface="+mn-lt"/>
                  <a:ea typeface="+mn-ea"/>
                  <a:cs typeface="+mn-cs"/>
                </a:rPr>
                <a:t>Barrier: complex English instructions obscure a simple Chinese matching task.</a:t>
              </a:r>
            </a:p>
          </p:txBody>
        </p:sp>
      </p:grpSp>
      <p:grpSp>
        <p:nvGrpSpPr>
          <p:cNvPr id="13" name="p07-adjustment"/>
          <p:cNvGrpSpPr/>
          <p:nvPr/>
        </p:nvGrpSpPr>
        <p:grpSpPr>
          <a:xfrm>
            <a:off x="609600" y="3714750"/>
            <a:ext cx="10972800" cy="1714500"/>
            <a:chOff x="609600" y="3714750"/>
            <a:chExt cx="10972800" cy="1714500"/>
          </a:xfrm>
        </p:grpSpPr>
        <p:sp>
          <p:nvSpPr>
            <p:cNvPr id="8" name="Rectangle 8"/>
            <p:cNvSpPr/>
            <p:nvPr/>
          </p:nvSpPr>
          <p:spPr>
            <a:xfrm>
              <a:off x="609600" y="3714750"/>
              <a:ext cx="10972800" cy="1714500"/>
            </a:xfrm>
            <a:prstGeom prst="roundRect">
              <a:avLst>
                <a:gd name="adj" fmla="val 6667"/>
              </a:avLst>
            </a:prstGeom>
            <a:solidFill>
              <a:schemeClr val="lt2"/>
            </a:solidFill>
            <a:ln>
              <a:noFill/>
            </a:ln>
          </p:spPr>
        </p:sp>
        <p:grpSp>
          <p:nvGrpSpPr>
            <p:cNvPr id="12" name="Group 12"/>
            <p:cNvGrpSpPr/>
            <p:nvPr/>
          </p:nvGrpSpPr>
          <p:grpSpPr>
            <a:xfrm>
              <a:off x="902970" y="3959225"/>
              <a:ext cx="7593517" cy="1402969"/>
              <a:chOff x="902970" y="3959225"/>
              <a:chExt cx="7593517" cy="1402969"/>
            </a:xfrm>
          </p:grpSpPr>
          <p:sp>
            <p:nvSpPr>
              <p:cNvPr id="9" name="TextBox 9"/>
              <p:cNvSpPr txBox="1"/>
              <p:nvPr/>
            </p:nvSpPr>
            <p:spPr>
              <a:xfrm>
                <a:off x="902970" y="3959225"/>
                <a:ext cx="7236874" cy="440055"/>
              </a:xfrm>
              <a:prstGeom prst="rect">
                <a:avLst/>
              </a:prstGeom>
              <a:noFill/>
              <a:ln>
                <a:noFill/>
              </a:ln>
            </p:spPr>
            <p:txBody>
              <a:bodyPr wrap="none" lIns="0" tIns="0" rIns="0" bIns="0" anchor="t" anchorCtr="0">
                <a:spAutoFit/>
              </a:bodyPr>
              <a:lstStyle/>
              <a:p>
                <a:pPr algn="l"/>
                <a:r>
                  <a:rPr lang="en-AU" sz="2250" dirty="0">
                    <a:solidFill>
                      <a:schemeClr val="dk1"/>
                    </a:solidFill>
                    <a:latin typeface="+mn-lt"/>
                    <a:ea typeface="+mn-ea"/>
                    <a:cs typeface="+mn-cs"/>
                  </a:rPr>
                  <a:t>Model the match; clarify directions bilingually if useful.</a:t>
                </a:r>
              </a:p>
            </p:txBody>
          </p:sp>
          <p:sp>
            <p:nvSpPr>
              <p:cNvPr id="10" name="TextBox 10"/>
              <p:cNvSpPr txBox="1"/>
              <p:nvPr/>
            </p:nvSpPr>
            <p:spPr>
              <a:xfrm>
                <a:off x="902970" y="4530725"/>
                <a:ext cx="7593517" cy="440055"/>
              </a:xfrm>
              <a:prstGeom prst="rect">
                <a:avLst/>
              </a:prstGeom>
              <a:noFill/>
              <a:ln>
                <a:noFill/>
              </a:ln>
            </p:spPr>
            <p:txBody>
              <a:bodyPr wrap="none" lIns="0" tIns="0" rIns="0" bIns="0" anchor="t" anchorCtr="0">
                <a:spAutoFit/>
              </a:bodyPr>
              <a:lstStyle/>
              <a:p>
                <a:pPr algn="l"/>
                <a:r>
                  <a:rPr lang="en-AU" sz="2250" dirty="0">
                    <a:solidFill>
                      <a:schemeClr val="dk1"/>
                    </a:solidFill>
                    <a:latin typeface="+mn-lt"/>
                    <a:ea typeface="+mn-ea"/>
                    <a:cs typeface="+mn-cs"/>
                  </a:rPr>
                  <a:t>Check Chinese comprehension separately from English.</a:t>
                </a:r>
              </a:p>
            </p:txBody>
          </p:sp>
          <p:sp>
            <p:nvSpPr>
              <p:cNvPr id="11" name="TextBox 11"/>
              <p:cNvSpPr txBox="1"/>
              <p:nvPr/>
            </p:nvSpPr>
            <p:spPr>
              <a:xfrm>
                <a:off x="905256" y="5010150"/>
                <a:ext cx="6060188" cy="352044"/>
              </a:xfrm>
              <a:prstGeom prst="rect">
                <a:avLst/>
              </a:prstGeom>
              <a:noFill/>
              <a:ln>
                <a:noFill/>
              </a:ln>
            </p:spPr>
            <p:txBody>
              <a:bodyPr wrap="none" lIns="0" tIns="0" rIns="0" bIns="0" anchor="t" anchorCtr="0">
                <a:spAutoFit/>
              </a:bodyPr>
              <a:lstStyle/>
              <a:p>
                <a:pPr algn="l"/>
                <a:r>
                  <a:rPr lang="en-AU" sz="1800" dirty="0">
                    <a:solidFill>
                      <a:schemeClr val="dk1"/>
                    </a:solidFill>
                    <a:latin typeface="+mn-lt"/>
                    <a:ea typeface="+mn-ea"/>
                    <a:cs typeface="+mn-cs"/>
                  </a:rPr>
                  <a:t>Look for independent matching after scaffolded practice.</a:t>
                </a:r>
              </a:p>
            </p:txBody>
          </p:sp>
        </p:grpSp>
      </p:grpSp>
      <p:grpSp>
        <p:nvGrpSpPr>
          <p:cNvPr id="16" name="p07-footer"/>
          <p:cNvGrpSpPr/>
          <p:nvPr/>
        </p:nvGrpSpPr>
        <p:grpSpPr>
          <a:xfrm>
            <a:off x="603504" y="6276975"/>
            <a:ext cx="10774169" cy="234696"/>
            <a:chOff x="603504" y="6276975"/>
            <a:chExt cx="10774169" cy="234696"/>
          </a:xfrm>
        </p:grpSpPr>
        <p:sp>
          <p:nvSpPr>
            <p:cNvPr id="14" name="TextBox 14"/>
            <p:cNvSpPr txBox="1"/>
            <p:nvPr/>
          </p:nvSpPr>
          <p:spPr>
            <a:xfrm>
              <a:off x="603504" y="6276975"/>
              <a:ext cx="7776483" cy="234696"/>
            </a:xfrm>
            <a:prstGeom prst="rect">
              <a:avLst/>
            </a:prstGeom>
            <a:noFill/>
            <a:ln>
              <a:noFill/>
            </a:ln>
          </p:spPr>
          <p:txBody>
            <a:bodyPr wrap="none" lIns="0" tIns="0" rIns="0" bIns="0" anchor="t" anchorCtr="0">
              <a:spAutoFit/>
            </a:bodyPr>
            <a:lstStyle/>
            <a:p>
              <a:pPr algn="l"/>
              <a:r>
                <a:rPr lang="en-AU" sz="1200" dirty="0">
                  <a:solidFill>
                    <a:schemeClr val="accent5"/>
                  </a:solidFill>
                  <a:latin typeface="+mn-lt"/>
                  <a:ea typeface="+mn-ea"/>
                  <a:cs typeface="+mn-cs"/>
                </a:rPr>
                <a:t>Hypothetical profile, not a cultural generalisation. NSW Department of Education (2026). APST 1.3, 1.5, 5.1.</a:t>
              </a:r>
            </a:p>
          </p:txBody>
        </p:sp>
        <p:sp>
          <p:nvSpPr>
            <p:cNvPr id="15" name="TextBox 15"/>
            <p:cNvSpPr txBox="1"/>
            <p:nvPr/>
          </p:nvSpPr>
          <p:spPr>
            <a:xfrm>
              <a:off x="11185779" y="6276975"/>
              <a:ext cx="191894" cy="234696"/>
            </a:xfrm>
            <a:prstGeom prst="rect">
              <a:avLst/>
            </a:prstGeom>
            <a:noFill/>
            <a:ln>
              <a:noFill/>
            </a:ln>
          </p:spPr>
          <p:txBody>
            <a:bodyPr wrap="none" lIns="0" tIns="0" rIns="0" bIns="0" anchor="t" anchorCtr="0">
              <a:spAutoFit/>
            </a:bodyPr>
            <a:lstStyle/>
            <a:p>
              <a:pPr algn="l"/>
              <a:r>
                <a:rPr lang="en-AU" sz="1200" dirty="0">
                  <a:solidFill>
                    <a:schemeClr val="accent5"/>
                  </a:solidFill>
                  <a:latin typeface="+mn-lt"/>
                  <a:ea typeface="+mn-ea"/>
                  <a:cs typeface="+mn-cs"/>
                </a:rPr>
                <a:t>07</a:t>
              </a:r>
            </a:p>
          </p:txBody>
        </p:sp>
      </p:gr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08-heading"/>
          <p:cNvGrpSpPr/>
          <p:nvPr/>
        </p:nvGrpSpPr>
        <p:grpSpPr>
          <a:xfrm>
            <a:off x="592836" y="704850"/>
            <a:ext cx="7257373" cy="1058164"/>
            <a:chOff x="592836" y="704850"/>
            <a:chExt cx="7257373" cy="1058164"/>
          </a:xfrm>
        </p:grpSpPr>
        <p:sp>
          <p:nvSpPr>
            <p:cNvPr id="2" name="TextBox 2"/>
            <p:cNvSpPr txBox="1"/>
            <p:nvPr/>
          </p:nvSpPr>
          <p:spPr>
            <a:xfrm>
              <a:off x="603504" y="704850"/>
              <a:ext cx="4062140" cy="234696"/>
            </a:xfrm>
            <a:prstGeom prst="rect">
              <a:avLst/>
            </a:prstGeom>
            <a:noFill/>
            <a:ln>
              <a:noFill/>
            </a:ln>
          </p:spPr>
          <p:txBody>
            <a:bodyPr wrap="none" lIns="0" tIns="0" rIns="0" bIns="0" anchor="t" anchorCtr="0">
              <a:spAutoFit/>
            </a:bodyPr>
            <a:lstStyle/>
            <a:p>
              <a:pPr algn="l"/>
              <a:r>
                <a:rPr lang="en-AU" sz="1200" dirty="0">
                  <a:solidFill>
                    <a:schemeClr val="accent2"/>
                  </a:solidFill>
                  <a:latin typeface="+mn-lt"/>
                  <a:ea typeface="+mn-ea"/>
                  <a:cs typeface="+mn-cs"/>
                </a:rPr>
                <a:t>07 / HYPOTHETICAL CASE · NEURODIVERGENCE</a:t>
              </a:r>
            </a:p>
          </p:txBody>
        </p:sp>
        <p:sp>
          <p:nvSpPr>
            <p:cNvPr id="3" name="TextBox 3"/>
            <p:cNvSpPr txBox="1"/>
            <p:nvPr/>
          </p:nvSpPr>
          <p:spPr>
            <a:xfrm>
              <a:off x="592836" y="1117600"/>
              <a:ext cx="7257373" cy="645414"/>
            </a:xfrm>
            <a:prstGeom prst="rect">
              <a:avLst/>
            </a:prstGeom>
            <a:noFill/>
            <a:ln>
              <a:noFill/>
            </a:ln>
          </p:spPr>
          <p:txBody>
            <a:bodyPr wrap="none" lIns="0" tIns="0" rIns="0" bIns="0" anchor="t" anchorCtr="0">
              <a:spAutoFit/>
            </a:bodyPr>
            <a:lstStyle/>
            <a:p>
              <a:pPr algn="l"/>
              <a:r>
                <a:rPr lang="en-AU" sz="3300" dirty="0">
                  <a:solidFill>
                    <a:schemeClr val="dk1"/>
                  </a:solidFill>
                  <a:latin typeface="+mn-lt"/>
                  <a:ea typeface="+mn-ea"/>
                  <a:cs typeface="+mn-cs"/>
                </a:rPr>
                <a:t>Noah: make participation predictable</a:t>
              </a:r>
            </a:p>
          </p:txBody>
        </p:sp>
      </p:grpSp>
      <p:grpSp>
        <p:nvGrpSpPr>
          <p:cNvPr id="9" name="p08-profile"/>
          <p:cNvGrpSpPr/>
          <p:nvPr/>
        </p:nvGrpSpPr>
        <p:grpSpPr>
          <a:xfrm>
            <a:off x="598170" y="2486025"/>
            <a:ext cx="4662576" cy="2294255"/>
            <a:chOff x="598170" y="2486025"/>
            <a:chExt cx="4662576" cy="2294255"/>
          </a:xfrm>
        </p:grpSpPr>
        <p:sp>
          <p:nvSpPr>
            <p:cNvPr id="5" name="TextBox 5"/>
            <p:cNvSpPr txBox="1"/>
            <p:nvPr/>
          </p:nvSpPr>
          <p:spPr>
            <a:xfrm>
              <a:off x="600456" y="2486025"/>
              <a:ext cx="3133788" cy="352044"/>
            </a:xfrm>
            <a:prstGeom prst="rect">
              <a:avLst/>
            </a:prstGeom>
            <a:noFill/>
            <a:ln>
              <a:noFill/>
            </a:ln>
          </p:spPr>
          <p:txBody>
            <a:bodyPr wrap="none" lIns="0" tIns="0" rIns="0" bIns="0" anchor="t" anchorCtr="0">
              <a:spAutoFit/>
            </a:bodyPr>
            <a:lstStyle/>
            <a:p>
              <a:pPr algn="l"/>
              <a:r>
                <a:rPr lang="en-AU" sz="1800" dirty="0">
                  <a:solidFill>
                    <a:schemeClr val="accent2"/>
                  </a:solidFill>
                  <a:latin typeface="+mn-lt"/>
                  <a:ea typeface="+mn-ea"/>
                  <a:cs typeface="+mn-cs"/>
                </a:rPr>
                <a:t>OBSERVE THE CONTEXT</a:t>
              </a:r>
            </a:p>
          </p:txBody>
        </p:sp>
        <p:sp>
          <p:nvSpPr>
            <p:cNvPr id="6" name="TextBox 6"/>
            <p:cNvSpPr txBox="1"/>
            <p:nvPr/>
          </p:nvSpPr>
          <p:spPr>
            <a:xfrm>
              <a:off x="598170" y="3101975"/>
              <a:ext cx="3365039" cy="440055"/>
            </a:xfrm>
            <a:prstGeom prst="rect">
              <a:avLst/>
            </a:prstGeom>
            <a:noFill/>
            <a:ln>
              <a:noFill/>
            </a:ln>
          </p:spPr>
          <p:txBody>
            <a:bodyPr wrap="none" lIns="0" tIns="0" rIns="0" bIns="0" anchor="t" anchorCtr="0">
              <a:spAutoFit/>
            </a:bodyPr>
            <a:lstStyle/>
            <a:p>
              <a:pPr algn="l"/>
              <a:r>
                <a:rPr lang="en-AU" sz="2250" dirty="0">
                  <a:solidFill>
                    <a:schemeClr val="dk1"/>
                  </a:solidFill>
                  <a:latin typeface="+mn-lt"/>
                  <a:ea typeface="+mn-ea"/>
                  <a:cs typeface="+mn-cs"/>
                </a:rPr>
                <a:t>Strong vocabulary recall.</a:t>
              </a:r>
            </a:p>
          </p:txBody>
        </p:sp>
        <p:sp>
          <p:nvSpPr>
            <p:cNvPr id="7" name="TextBox 7"/>
            <p:cNvSpPr txBox="1"/>
            <p:nvPr/>
          </p:nvSpPr>
          <p:spPr>
            <a:xfrm>
              <a:off x="598170" y="3721100"/>
              <a:ext cx="4627600" cy="440055"/>
            </a:xfrm>
            <a:prstGeom prst="rect">
              <a:avLst/>
            </a:prstGeom>
            <a:noFill/>
            <a:ln>
              <a:noFill/>
            </a:ln>
          </p:spPr>
          <p:txBody>
            <a:bodyPr wrap="none" lIns="0" tIns="0" rIns="0" bIns="0" anchor="t" anchorCtr="0">
              <a:spAutoFit/>
            </a:bodyPr>
            <a:lstStyle/>
            <a:p>
              <a:pPr algn="l"/>
              <a:r>
                <a:rPr lang="en-AU" sz="2250" dirty="0">
                  <a:solidFill>
                    <a:schemeClr val="dk1"/>
                  </a:solidFill>
                  <a:latin typeface="+mn-lt"/>
                  <a:ea typeface="+mn-ea"/>
                  <a:cs typeface="+mn-cs"/>
                </a:rPr>
                <a:t>Noise and switching disrupt starts.</a:t>
              </a:r>
            </a:p>
          </p:txBody>
        </p:sp>
        <p:sp>
          <p:nvSpPr>
            <p:cNvPr id="8" name="TextBox 8"/>
            <p:cNvSpPr txBox="1"/>
            <p:nvPr/>
          </p:nvSpPr>
          <p:spPr>
            <a:xfrm>
              <a:off x="598170" y="4340225"/>
              <a:ext cx="4662576" cy="440055"/>
            </a:xfrm>
            <a:prstGeom prst="rect">
              <a:avLst/>
            </a:prstGeom>
            <a:noFill/>
            <a:ln>
              <a:noFill/>
            </a:ln>
          </p:spPr>
          <p:txBody>
            <a:bodyPr wrap="none" lIns="0" tIns="0" rIns="0" bIns="0" anchor="t" anchorCtr="0">
              <a:spAutoFit/>
            </a:bodyPr>
            <a:lstStyle/>
            <a:p>
              <a:pPr algn="l"/>
              <a:r>
                <a:rPr lang="en-AU" sz="2250" dirty="0">
                  <a:solidFill>
                    <a:schemeClr val="dk1"/>
                  </a:solidFill>
                  <a:latin typeface="+mn-lt"/>
                  <a:ea typeface="+mn-ea"/>
                  <a:cs typeface="+mn-cs"/>
                </a:rPr>
                <a:t>Ask what helps; do not infer intent.</a:t>
              </a:r>
            </a:p>
          </p:txBody>
        </p:sp>
      </p:grpSp>
      <p:grpSp>
        <p:nvGrpSpPr>
          <p:cNvPr id="16" name="p08-response"/>
          <p:cNvGrpSpPr/>
          <p:nvPr/>
        </p:nvGrpSpPr>
        <p:grpSpPr>
          <a:xfrm>
            <a:off x="6286500" y="2238375"/>
            <a:ext cx="5295900" cy="3095625"/>
            <a:chOff x="6286500" y="2238375"/>
            <a:chExt cx="5295900" cy="3095625"/>
          </a:xfrm>
        </p:grpSpPr>
        <p:sp>
          <p:nvSpPr>
            <p:cNvPr id="10" name="Rectangle 10"/>
            <p:cNvSpPr/>
            <p:nvPr/>
          </p:nvSpPr>
          <p:spPr>
            <a:xfrm>
              <a:off x="6286500" y="2238375"/>
              <a:ext cx="5295900" cy="3095625"/>
            </a:xfrm>
            <a:prstGeom prst="roundRect">
              <a:avLst>
                <a:gd name="adj" fmla="val 3692"/>
              </a:avLst>
            </a:prstGeom>
            <a:solidFill>
              <a:schemeClr val="lt2"/>
            </a:solidFill>
            <a:ln>
              <a:noFill/>
            </a:ln>
          </p:spPr>
        </p:sp>
        <p:grpSp>
          <p:nvGrpSpPr>
            <p:cNvPr id="15" name="Group 15"/>
            <p:cNvGrpSpPr/>
            <p:nvPr/>
          </p:nvGrpSpPr>
          <p:grpSpPr>
            <a:xfrm>
              <a:off x="6579870" y="2486025"/>
              <a:ext cx="4890470" cy="2294255"/>
              <a:chOff x="6579870" y="2486025"/>
              <a:chExt cx="4890470" cy="2294255"/>
            </a:xfrm>
          </p:grpSpPr>
          <p:sp>
            <p:nvSpPr>
              <p:cNvPr id="11" name="TextBox 11"/>
              <p:cNvSpPr txBox="1"/>
              <p:nvPr/>
            </p:nvSpPr>
            <p:spPr>
              <a:xfrm>
                <a:off x="6582156" y="2486025"/>
                <a:ext cx="3859280" cy="352044"/>
              </a:xfrm>
              <a:prstGeom prst="rect">
                <a:avLst/>
              </a:prstGeom>
              <a:noFill/>
              <a:ln>
                <a:noFill/>
              </a:ln>
            </p:spPr>
            <p:txBody>
              <a:bodyPr wrap="none" lIns="0" tIns="0" rIns="0" bIns="0" anchor="t" anchorCtr="0">
                <a:spAutoFit/>
              </a:bodyPr>
              <a:lstStyle/>
              <a:p>
                <a:pPr algn="l"/>
                <a:r>
                  <a:rPr lang="en-AU" sz="1800" dirty="0">
                    <a:solidFill>
                      <a:schemeClr val="accent2"/>
                    </a:solidFill>
                    <a:latin typeface="+mn-lt"/>
                    <a:ea typeface="+mn-ea"/>
                    <a:cs typeface="+mn-cs"/>
                  </a:rPr>
                  <a:t>TRIAL A PREFERRED ROUTINE</a:t>
                </a:r>
              </a:p>
            </p:txBody>
          </p:sp>
          <p:sp>
            <p:nvSpPr>
              <p:cNvPr id="12" name="TextBox 12"/>
              <p:cNvSpPr txBox="1"/>
              <p:nvPr/>
            </p:nvSpPr>
            <p:spPr>
              <a:xfrm>
                <a:off x="6579870" y="3101975"/>
                <a:ext cx="4139787" cy="440055"/>
              </a:xfrm>
              <a:prstGeom prst="rect">
                <a:avLst/>
              </a:prstGeom>
              <a:noFill/>
              <a:ln>
                <a:noFill/>
              </a:ln>
            </p:spPr>
            <p:txBody>
              <a:bodyPr wrap="none" lIns="0" tIns="0" rIns="0" bIns="0" anchor="t" anchorCtr="0">
                <a:spAutoFit/>
              </a:bodyPr>
              <a:lstStyle/>
              <a:p>
                <a:pPr algn="l"/>
                <a:r>
                  <a:rPr lang="en-AU" sz="2250" dirty="0">
                    <a:solidFill>
                      <a:schemeClr val="dk1"/>
                    </a:solidFill>
                    <a:latin typeface="+mn-lt"/>
                    <a:ea typeface="+mn-ea"/>
                    <a:cs typeface="+mn-cs"/>
                  </a:rPr>
                  <a:t>Preview the conversation task.</a:t>
                </a:r>
              </a:p>
            </p:txBody>
          </p:sp>
          <p:sp>
            <p:nvSpPr>
              <p:cNvPr id="13" name="TextBox 13"/>
              <p:cNvSpPr txBox="1"/>
              <p:nvPr/>
            </p:nvSpPr>
            <p:spPr>
              <a:xfrm>
                <a:off x="6579870" y="3721100"/>
                <a:ext cx="4359272" cy="440055"/>
              </a:xfrm>
              <a:prstGeom prst="rect">
                <a:avLst/>
              </a:prstGeom>
              <a:noFill/>
              <a:ln>
                <a:noFill/>
              </a:ln>
            </p:spPr>
            <p:txBody>
              <a:bodyPr wrap="none" lIns="0" tIns="0" rIns="0" bIns="0" anchor="t" anchorCtr="0">
                <a:spAutoFit/>
              </a:bodyPr>
              <a:lstStyle/>
              <a:p>
                <a:pPr algn="l"/>
                <a:r>
                  <a:rPr lang="en-AU" sz="2250" dirty="0">
                    <a:solidFill>
                      <a:schemeClr val="dk1"/>
                    </a:solidFill>
                    <a:latin typeface="+mn-lt"/>
                    <a:ea typeface="+mn-ea"/>
                    <a:cs typeface="+mn-cs"/>
                  </a:rPr>
                  <a:t>Offer cue card and quiet pairing.</a:t>
                </a:r>
              </a:p>
            </p:txBody>
          </p:sp>
          <p:sp>
            <p:nvSpPr>
              <p:cNvPr id="14" name="TextBox 14"/>
              <p:cNvSpPr txBox="1"/>
              <p:nvPr/>
            </p:nvSpPr>
            <p:spPr>
              <a:xfrm>
                <a:off x="6579870" y="4340225"/>
                <a:ext cx="4890470" cy="440055"/>
              </a:xfrm>
              <a:prstGeom prst="rect">
                <a:avLst/>
              </a:prstGeom>
              <a:noFill/>
              <a:ln>
                <a:noFill/>
              </a:ln>
            </p:spPr>
            <p:txBody>
              <a:bodyPr wrap="none" lIns="0" tIns="0" rIns="0" bIns="0" anchor="t" anchorCtr="0">
                <a:spAutoFit/>
              </a:bodyPr>
              <a:lstStyle/>
              <a:p>
                <a:pPr algn="l"/>
                <a:r>
                  <a:rPr lang="en-AU" sz="2250" dirty="0">
                    <a:solidFill>
                      <a:schemeClr val="dk1"/>
                    </a:solidFill>
                    <a:latin typeface="+mn-lt"/>
                    <a:ea typeface="+mn-ea"/>
                    <a:cs typeface="+mn-cs"/>
                  </a:rPr>
                  <a:t>Track starts and Noah’s experience.</a:t>
                </a:r>
              </a:p>
            </p:txBody>
          </p:sp>
        </p:grpSp>
      </p:grpSp>
      <p:grpSp>
        <p:nvGrpSpPr>
          <p:cNvPr id="19" name="p08-footer"/>
          <p:cNvGrpSpPr/>
          <p:nvPr/>
        </p:nvGrpSpPr>
        <p:grpSpPr>
          <a:xfrm>
            <a:off x="603504" y="6276975"/>
            <a:ext cx="10774169" cy="234696"/>
            <a:chOff x="603504" y="6276975"/>
            <a:chExt cx="10774169" cy="234696"/>
          </a:xfrm>
        </p:grpSpPr>
        <p:sp>
          <p:nvSpPr>
            <p:cNvPr id="17" name="TextBox 17"/>
            <p:cNvSpPr txBox="1"/>
            <p:nvPr/>
          </p:nvSpPr>
          <p:spPr>
            <a:xfrm>
              <a:off x="603504" y="6276975"/>
              <a:ext cx="9645140" cy="234696"/>
            </a:xfrm>
            <a:prstGeom prst="rect">
              <a:avLst/>
            </a:prstGeom>
            <a:noFill/>
            <a:ln>
              <a:noFill/>
            </a:ln>
          </p:spPr>
          <p:txBody>
            <a:bodyPr wrap="none" lIns="0" tIns="0" rIns="0" bIns="0" anchor="t" anchorCtr="0">
              <a:spAutoFit/>
            </a:bodyPr>
            <a:lstStyle/>
            <a:p>
              <a:pPr algn="l"/>
              <a:r>
                <a:rPr lang="en-AU" sz="1200" dirty="0">
                  <a:solidFill>
                    <a:schemeClr val="accent5"/>
                  </a:solidFill>
                  <a:latin typeface="+mn-lt"/>
                  <a:ea typeface="+mn-ea"/>
                  <a:cs typeface="+mn-cs"/>
                </a:rPr>
                <a:t>Hypothetical attention, executive-function and sensory needs; no diagnosis inferred. CAST (2024); Rosenshine (2012); APST 1.5, 4.1.</a:t>
              </a:r>
            </a:p>
          </p:txBody>
        </p:sp>
        <p:sp>
          <p:nvSpPr>
            <p:cNvPr id="18" name="TextBox 18"/>
            <p:cNvSpPr txBox="1"/>
            <p:nvPr/>
          </p:nvSpPr>
          <p:spPr>
            <a:xfrm>
              <a:off x="11185779" y="6276975"/>
              <a:ext cx="191894" cy="234696"/>
            </a:xfrm>
            <a:prstGeom prst="rect">
              <a:avLst/>
            </a:prstGeom>
            <a:noFill/>
            <a:ln>
              <a:noFill/>
            </a:ln>
          </p:spPr>
          <p:txBody>
            <a:bodyPr wrap="none" lIns="0" tIns="0" rIns="0" bIns="0" anchor="t" anchorCtr="0">
              <a:spAutoFit/>
            </a:bodyPr>
            <a:lstStyle/>
            <a:p>
              <a:pPr algn="l"/>
              <a:r>
                <a:rPr lang="en-AU" sz="1200" dirty="0">
                  <a:solidFill>
                    <a:schemeClr val="accent5"/>
                  </a:solidFill>
                  <a:latin typeface="+mn-lt"/>
                  <a:ea typeface="+mn-ea"/>
                  <a:cs typeface="+mn-cs"/>
                </a:rPr>
                <a:t>08</a:t>
              </a:r>
            </a:p>
          </p:txBody>
        </p:sp>
      </p:gr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
        <p:cNvGrpSpPr/>
        <p:nvPr/>
      </p:nvGrpSpPr>
      <p:grpSpPr>
        <a:xfrm>
          <a:off x="0" y="0"/>
          <a:ext cx="0" cy="0"/>
          <a:chOff x="0" y="0"/>
          <a:chExt cx="0" cy="0"/>
        </a:xfrm>
      </p:grpSpPr>
      <p:grpSp>
        <p:nvGrpSpPr>
          <p:cNvPr id="4" name="p09-heading"/>
          <p:cNvGrpSpPr/>
          <p:nvPr/>
        </p:nvGrpSpPr>
        <p:grpSpPr>
          <a:xfrm>
            <a:off x="592836" y="704850"/>
            <a:ext cx="9482390" cy="1058164"/>
            <a:chOff x="592836" y="704850"/>
            <a:chExt cx="9482390" cy="1058164"/>
          </a:xfrm>
        </p:grpSpPr>
        <p:sp>
          <p:nvSpPr>
            <p:cNvPr id="2" name="TextBox 2"/>
            <p:cNvSpPr txBox="1"/>
            <p:nvPr/>
          </p:nvSpPr>
          <p:spPr>
            <a:xfrm>
              <a:off x="603504" y="704850"/>
              <a:ext cx="4555258" cy="234696"/>
            </a:xfrm>
            <a:prstGeom prst="rect">
              <a:avLst/>
            </a:prstGeom>
            <a:noFill/>
            <a:ln>
              <a:noFill/>
            </a:ln>
          </p:spPr>
          <p:txBody>
            <a:bodyPr wrap="none" lIns="0" tIns="0" rIns="0" bIns="0" anchor="t" anchorCtr="0">
              <a:spAutoFit/>
            </a:bodyPr>
            <a:lstStyle/>
            <a:p>
              <a:pPr algn="l"/>
              <a:r>
                <a:rPr lang="en-AU" sz="1200" dirty="0">
                  <a:solidFill>
                    <a:schemeClr val="accent2"/>
                  </a:solidFill>
                  <a:latin typeface="+mn-lt"/>
                  <a:ea typeface="+mn-ea"/>
                  <a:cs typeface="+mn-cs"/>
                </a:rPr>
                <a:t>08 / HYPOTHETICAL CASE · SOCIOECONOMIC ACCESS</a:t>
              </a:r>
            </a:p>
          </p:txBody>
        </p:sp>
        <p:sp>
          <p:nvSpPr>
            <p:cNvPr id="3" name="TextBox 3"/>
            <p:cNvSpPr txBox="1"/>
            <p:nvPr/>
          </p:nvSpPr>
          <p:spPr>
            <a:xfrm>
              <a:off x="592836" y="1117600"/>
              <a:ext cx="9482390" cy="645414"/>
            </a:xfrm>
            <a:prstGeom prst="rect">
              <a:avLst/>
            </a:prstGeom>
            <a:noFill/>
            <a:ln>
              <a:noFill/>
            </a:ln>
          </p:spPr>
          <p:txBody>
            <a:bodyPr wrap="none" lIns="0" tIns="0" rIns="0" bIns="0" anchor="t" anchorCtr="0">
              <a:spAutoFit/>
            </a:bodyPr>
            <a:lstStyle/>
            <a:p>
              <a:pPr algn="l"/>
              <a:r>
                <a:rPr lang="en-AU" sz="3300" dirty="0">
                  <a:solidFill>
                    <a:schemeClr val="dk1"/>
                  </a:solidFill>
                  <a:latin typeface="+mn-lt"/>
                  <a:ea typeface="+mn-ea"/>
                  <a:cs typeface="+mn-cs"/>
                </a:rPr>
                <a:t>Maya: learning cannot depend on home internet</a:t>
              </a:r>
            </a:p>
          </p:txBody>
        </p:sp>
      </p:grpSp>
      <p:grpSp>
        <p:nvGrpSpPr>
          <p:cNvPr id="7" name="p09-barrier"/>
          <p:cNvGrpSpPr/>
          <p:nvPr/>
        </p:nvGrpSpPr>
        <p:grpSpPr>
          <a:xfrm>
            <a:off x="598170" y="2530475"/>
            <a:ext cx="7845059" cy="974344"/>
            <a:chOff x="598170" y="2530475"/>
            <a:chExt cx="7845059" cy="974344"/>
          </a:xfrm>
        </p:grpSpPr>
        <p:sp>
          <p:nvSpPr>
            <p:cNvPr id="5" name="TextBox 5"/>
            <p:cNvSpPr txBox="1"/>
            <p:nvPr/>
          </p:nvSpPr>
          <p:spPr>
            <a:xfrm>
              <a:off x="598170" y="2530475"/>
              <a:ext cx="7845059" cy="440055"/>
            </a:xfrm>
            <a:prstGeom prst="rect">
              <a:avLst/>
            </a:prstGeom>
            <a:noFill/>
            <a:ln>
              <a:noFill/>
            </a:ln>
          </p:spPr>
          <p:txBody>
            <a:bodyPr wrap="none" lIns="0" tIns="0" rIns="0" bIns="0" anchor="t" anchorCtr="0">
              <a:spAutoFit/>
            </a:bodyPr>
            <a:lstStyle/>
            <a:p>
              <a:pPr algn="l"/>
              <a:r>
                <a:rPr lang="en-AU" sz="2250" dirty="0">
                  <a:solidFill>
                    <a:schemeClr val="dk1"/>
                  </a:solidFill>
                  <a:latin typeface="+mn-lt"/>
                  <a:ea typeface="+mn-ea"/>
                  <a:cs typeface="+mn-cs"/>
                </a:rPr>
                <a:t>Shared device. Limited data. Costly after-school transport.</a:t>
              </a:r>
            </a:p>
          </p:txBody>
        </p:sp>
        <p:sp>
          <p:nvSpPr>
            <p:cNvPr id="6" name="TextBox 6"/>
            <p:cNvSpPr txBox="1"/>
            <p:nvPr/>
          </p:nvSpPr>
          <p:spPr>
            <a:xfrm>
              <a:off x="600456" y="3152775"/>
              <a:ext cx="7688562" cy="352044"/>
            </a:xfrm>
            <a:prstGeom prst="rect">
              <a:avLst/>
            </a:prstGeom>
            <a:noFill/>
            <a:ln>
              <a:noFill/>
            </a:ln>
          </p:spPr>
          <p:txBody>
            <a:bodyPr wrap="none" lIns="0" tIns="0" rIns="0" bIns="0" anchor="t" anchorCtr="0">
              <a:spAutoFit/>
            </a:bodyPr>
            <a:lstStyle/>
            <a:p>
              <a:pPr algn="l"/>
              <a:r>
                <a:rPr lang="en-AU" sz="1800" dirty="0">
                  <a:solidFill>
                    <a:schemeClr val="accent5"/>
                  </a:solidFill>
                  <a:latin typeface="+mn-lt"/>
                  <a:ea typeface="+mn-ea"/>
                  <a:cs typeface="+mn-cs"/>
                </a:rPr>
                <a:t>Discuss privately before interpreting incomplete work as low motivation.</a:t>
              </a:r>
            </a:p>
          </p:txBody>
        </p:sp>
      </p:grpSp>
      <p:grpSp>
        <p:nvGrpSpPr>
          <p:cNvPr id="10" name="p09-action"/>
          <p:cNvGrpSpPr/>
          <p:nvPr/>
        </p:nvGrpSpPr>
        <p:grpSpPr>
          <a:xfrm>
            <a:off x="598170" y="4292600"/>
            <a:ext cx="7755479" cy="1059180"/>
            <a:chOff x="598170" y="4292600"/>
            <a:chExt cx="7755479" cy="1059180"/>
          </a:xfrm>
        </p:grpSpPr>
        <p:sp>
          <p:nvSpPr>
            <p:cNvPr id="8" name="TextBox 8"/>
            <p:cNvSpPr txBox="1"/>
            <p:nvPr/>
          </p:nvSpPr>
          <p:spPr>
            <a:xfrm>
              <a:off x="598170" y="4292600"/>
              <a:ext cx="7744036" cy="440055"/>
            </a:xfrm>
            <a:prstGeom prst="rect">
              <a:avLst/>
            </a:prstGeom>
            <a:noFill/>
            <a:ln>
              <a:noFill/>
            </a:ln>
          </p:spPr>
          <p:txBody>
            <a:bodyPr wrap="none" lIns="0" tIns="0" rIns="0" bIns="0" anchor="t" anchorCtr="0">
              <a:spAutoFit/>
            </a:bodyPr>
            <a:lstStyle/>
            <a:p>
              <a:pPr algn="l"/>
              <a:r>
                <a:rPr lang="en-AU" sz="2250" dirty="0">
                  <a:solidFill>
                    <a:schemeClr val="dk1"/>
                  </a:solidFill>
                  <a:latin typeface="+mn-lt"/>
                  <a:ea typeface="+mn-ea"/>
                  <a:cs typeface="+mn-cs"/>
                </a:rPr>
                <a:t>Provide loan audio, printed menus and in-school practice.</a:t>
              </a:r>
            </a:p>
          </p:txBody>
        </p:sp>
        <p:sp>
          <p:nvSpPr>
            <p:cNvPr id="9" name="TextBox 9"/>
            <p:cNvSpPr txBox="1"/>
            <p:nvPr/>
          </p:nvSpPr>
          <p:spPr>
            <a:xfrm>
              <a:off x="598170" y="4911725"/>
              <a:ext cx="7755479" cy="440055"/>
            </a:xfrm>
            <a:prstGeom prst="rect">
              <a:avLst/>
            </a:prstGeom>
            <a:noFill/>
            <a:ln>
              <a:noFill/>
            </a:ln>
          </p:spPr>
          <p:txBody>
            <a:bodyPr wrap="none" lIns="0" tIns="0" rIns="0" bIns="0" anchor="t" anchorCtr="0">
              <a:spAutoFit/>
            </a:bodyPr>
            <a:lstStyle/>
            <a:p>
              <a:pPr algn="l"/>
              <a:r>
                <a:rPr lang="en-AU" sz="2250" dirty="0">
                  <a:solidFill>
                    <a:schemeClr val="dk1"/>
                  </a:solidFill>
                  <a:latin typeface="+mn-lt"/>
                  <a:ea typeface="+mn-ea"/>
                  <a:cs typeface="+mn-cs"/>
                </a:rPr>
                <a:t>Same Chinese goal. Feasible access. No public labelling.</a:t>
              </a:r>
            </a:p>
          </p:txBody>
        </p:sp>
      </p:grpSp>
      <p:grpSp>
        <p:nvGrpSpPr>
          <p:cNvPr id="13" name="p09-footer"/>
          <p:cNvGrpSpPr/>
          <p:nvPr/>
        </p:nvGrpSpPr>
        <p:grpSpPr>
          <a:xfrm>
            <a:off x="603504" y="6276975"/>
            <a:ext cx="10774169" cy="234696"/>
            <a:chOff x="603504" y="6276975"/>
            <a:chExt cx="10774169" cy="234696"/>
          </a:xfrm>
        </p:grpSpPr>
        <p:sp>
          <p:nvSpPr>
            <p:cNvPr id="11" name="TextBox 11"/>
            <p:cNvSpPr txBox="1"/>
            <p:nvPr/>
          </p:nvSpPr>
          <p:spPr>
            <a:xfrm>
              <a:off x="603504" y="6276975"/>
              <a:ext cx="8177614" cy="234696"/>
            </a:xfrm>
            <a:prstGeom prst="rect">
              <a:avLst/>
            </a:prstGeom>
            <a:noFill/>
            <a:ln>
              <a:noFill/>
            </a:ln>
          </p:spPr>
          <p:txBody>
            <a:bodyPr wrap="none" lIns="0" tIns="0" rIns="0" bIns="0" anchor="t" anchorCtr="0">
              <a:spAutoFit/>
            </a:bodyPr>
            <a:lstStyle/>
            <a:p>
              <a:pPr algn="l"/>
              <a:r>
                <a:rPr lang="en-AU" sz="1200" dirty="0">
                  <a:solidFill>
                    <a:schemeClr val="accent5"/>
                  </a:solidFill>
                  <a:latin typeface="+mn-lt"/>
                  <a:ea typeface="+mn-ea"/>
                  <a:cs typeface="+mn-cs"/>
                </a:rPr>
                <a:t>CAST (2024); proposed response; socioeconomic disadvantage is not automatically disability. APST 1.3, 1.5, 4.1.</a:t>
              </a:r>
            </a:p>
          </p:txBody>
        </p:sp>
        <p:sp>
          <p:nvSpPr>
            <p:cNvPr id="12" name="TextBox 12"/>
            <p:cNvSpPr txBox="1"/>
            <p:nvPr/>
          </p:nvSpPr>
          <p:spPr>
            <a:xfrm>
              <a:off x="11185779" y="6276975"/>
              <a:ext cx="191894" cy="234696"/>
            </a:xfrm>
            <a:prstGeom prst="rect">
              <a:avLst/>
            </a:prstGeom>
            <a:noFill/>
            <a:ln>
              <a:noFill/>
            </a:ln>
          </p:spPr>
          <p:txBody>
            <a:bodyPr wrap="none" lIns="0" tIns="0" rIns="0" bIns="0" anchor="t" anchorCtr="0">
              <a:spAutoFit/>
            </a:bodyPr>
            <a:lstStyle/>
            <a:p>
              <a:pPr algn="l"/>
              <a:r>
                <a:rPr lang="en-AU" sz="1200" dirty="0">
                  <a:solidFill>
                    <a:schemeClr val="accent5"/>
                  </a:solidFill>
                  <a:latin typeface="+mn-lt"/>
                  <a:ea typeface="+mn-ea"/>
                  <a:cs typeface="+mn-cs"/>
                </a:rPr>
                <a:t>09</a:t>
              </a:r>
            </a:p>
          </p:txBody>
        </p:sp>
      </p:gr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10-heading"/>
          <p:cNvGrpSpPr/>
          <p:nvPr/>
        </p:nvGrpSpPr>
        <p:grpSpPr>
          <a:xfrm>
            <a:off x="592836" y="704850"/>
            <a:ext cx="8444691" cy="1058164"/>
            <a:chOff x="592836" y="704850"/>
            <a:chExt cx="8444691" cy="1058164"/>
          </a:xfrm>
        </p:grpSpPr>
        <p:sp>
          <p:nvSpPr>
            <p:cNvPr id="2" name="TextBox 2"/>
            <p:cNvSpPr txBox="1"/>
            <p:nvPr/>
          </p:nvSpPr>
          <p:spPr>
            <a:xfrm>
              <a:off x="603504" y="704850"/>
              <a:ext cx="2743883" cy="234696"/>
            </a:xfrm>
            <a:prstGeom prst="rect">
              <a:avLst/>
            </a:prstGeom>
            <a:noFill/>
            <a:ln>
              <a:noFill/>
            </a:ln>
          </p:spPr>
          <p:txBody>
            <a:bodyPr wrap="none" lIns="0" tIns="0" rIns="0" bIns="0" anchor="t" anchorCtr="0">
              <a:spAutoFit/>
            </a:bodyPr>
            <a:lstStyle/>
            <a:p>
              <a:pPr algn="l"/>
              <a:r>
                <a:rPr lang="en-AU" sz="1200" dirty="0">
                  <a:solidFill>
                    <a:schemeClr val="accent2"/>
                  </a:solidFill>
                  <a:latin typeface="+mn-lt"/>
                  <a:ea typeface="+mn-ea"/>
                  <a:cs typeface="+mn-cs"/>
                </a:rPr>
                <a:t>09 / WHOLE-SCHOOL RESPONSE</a:t>
              </a:r>
            </a:p>
          </p:txBody>
        </p:sp>
        <p:sp>
          <p:nvSpPr>
            <p:cNvPr id="3" name="TextBox 3"/>
            <p:cNvSpPr txBox="1"/>
            <p:nvPr/>
          </p:nvSpPr>
          <p:spPr>
            <a:xfrm>
              <a:off x="592836" y="1117600"/>
              <a:ext cx="8444691" cy="645414"/>
            </a:xfrm>
            <a:prstGeom prst="rect">
              <a:avLst/>
            </a:prstGeom>
            <a:noFill/>
            <a:ln>
              <a:noFill/>
            </a:ln>
          </p:spPr>
          <p:txBody>
            <a:bodyPr wrap="none" lIns="0" tIns="0" rIns="0" bIns="0" anchor="t" anchorCtr="0">
              <a:spAutoFit/>
            </a:bodyPr>
            <a:lstStyle/>
            <a:p>
              <a:pPr algn="l"/>
              <a:r>
                <a:rPr lang="en-AU" sz="3300" dirty="0">
                  <a:solidFill>
                    <a:schemeClr val="dk1"/>
                  </a:solidFill>
                  <a:latin typeface="+mn-lt"/>
                  <a:ea typeface="+mn-ea"/>
                  <a:cs typeface="+mn-cs"/>
                </a:rPr>
                <a:t>Safety belongs to the school, not one adult</a:t>
              </a:r>
            </a:p>
          </p:txBody>
        </p:sp>
      </p:grpSp>
      <p:grpSp>
        <p:nvGrpSpPr>
          <p:cNvPr id="8" name="p10-response"/>
          <p:cNvGrpSpPr/>
          <p:nvPr/>
        </p:nvGrpSpPr>
        <p:grpSpPr>
          <a:xfrm>
            <a:off x="598170" y="2435225"/>
            <a:ext cx="8180878" cy="1678305"/>
            <a:chOff x="598170" y="2435225"/>
            <a:chExt cx="8180878" cy="1678305"/>
          </a:xfrm>
        </p:grpSpPr>
        <p:sp>
          <p:nvSpPr>
            <p:cNvPr id="5" name="TextBox 5"/>
            <p:cNvSpPr txBox="1"/>
            <p:nvPr/>
          </p:nvSpPr>
          <p:spPr>
            <a:xfrm>
              <a:off x="598170" y="2435225"/>
              <a:ext cx="7423915" cy="440055"/>
            </a:xfrm>
            <a:prstGeom prst="rect">
              <a:avLst/>
            </a:prstGeom>
            <a:noFill/>
            <a:ln>
              <a:noFill/>
            </a:ln>
          </p:spPr>
          <p:txBody>
            <a:bodyPr wrap="none" lIns="0" tIns="0" rIns="0" bIns="0" anchor="t" anchorCtr="0">
              <a:spAutoFit/>
            </a:bodyPr>
            <a:lstStyle/>
            <a:p>
              <a:pPr algn="l"/>
              <a:r>
                <a:rPr lang="en-AU" sz="2250" dirty="0">
                  <a:solidFill>
                    <a:schemeClr val="dk1"/>
                  </a:solidFill>
                  <a:latin typeface="+mn-lt"/>
                  <a:ea typeface="+mn-ea"/>
                  <a:cs typeface="+mn-cs"/>
                </a:rPr>
                <a:t>Leadership owns reporting, investigation and follow-up.</a:t>
              </a:r>
            </a:p>
          </p:txBody>
        </p:sp>
        <p:sp>
          <p:nvSpPr>
            <p:cNvPr id="6" name="TextBox 6"/>
            <p:cNvSpPr txBox="1"/>
            <p:nvPr/>
          </p:nvSpPr>
          <p:spPr>
            <a:xfrm>
              <a:off x="598170" y="3054350"/>
              <a:ext cx="8180878" cy="440055"/>
            </a:xfrm>
            <a:prstGeom prst="rect">
              <a:avLst/>
            </a:prstGeom>
            <a:noFill/>
            <a:ln>
              <a:noFill/>
            </a:ln>
          </p:spPr>
          <p:txBody>
            <a:bodyPr wrap="none" lIns="0" tIns="0" rIns="0" bIns="0" anchor="t" anchorCtr="0">
              <a:spAutoFit/>
            </a:bodyPr>
            <a:lstStyle/>
            <a:p>
              <a:pPr algn="l"/>
              <a:r>
                <a:rPr lang="en-AU" sz="2250" dirty="0">
                  <a:solidFill>
                    <a:schemeClr val="dk1"/>
                  </a:solidFill>
                  <a:latin typeface="+mn-lt"/>
                  <a:ea typeface="+mn-ea"/>
                  <a:cs typeface="+mn-cs"/>
                </a:rPr>
                <a:t>Teach respectful peer interaction; supervise known hotspots.</a:t>
              </a:r>
            </a:p>
          </p:txBody>
        </p:sp>
        <p:sp>
          <p:nvSpPr>
            <p:cNvPr id="7" name="TextBox 7"/>
            <p:cNvSpPr txBox="1"/>
            <p:nvPr/>
          </p:nvSpPr>
          <p:spPr>
            <a:xfrm>
              <a:off x="598170" y="3673475"/>
              <a:ext cx="6716310" cy="440055"/>
            </a:xfrm>
            <a:prstGeom prst="rect">
              <a:avLst/>
            </a:prstGeom>
            <a:noFill/>
            <a:ln>
              <a:noFill/>
            </a:ln>
          </p:spPr>
          <p:txBody>
            <a:bodyPr wrap="none" lIns="0" tIns="0" rIns="0" bIns="0" anchor="t" anchorCtr="0">
              <a:spAutoFit/>
            </a:bodyPr>
            <a:lstStyle/>
            <a:p>
              <a:pPr algn="l"/>
              <a:r>
                <a:rPr lang="en-AU" sz="2250" dirty="0">
                  <a:solidFill>
                    <a:schemeClr val="dk1"/>
                  </a:solidFill>
                  <a:latin typeface="+mn-lt"/>
                  <a:ea typeface="+mn-ea"/>
                  <a:cs typeface="+mn-cs"/>
                </a:rPr>
                <a:t>Apply fair consequences and check for retaliation.</a:t>
              </a:r>
            </a:p>
          </p:txBody>
        </p:sp>
      </p:grpSp>
      <p:grpSp>
        <p:nvGrpSpPr>
          <p:cNvPr id="13" name="p10-student"/>
          <p:cNvGrpSpPr/>
          <p:nvPr/>
        </p:nvGrpSpPr>
        <p:grpSpPr>
          <a:xfrm>
            <a:off x="609600" y="4429125"/>
            <a:ext cx="10972800" cy="1095375"/>
            <a:chOff x="609600" y="4429125"/>
            <a:chExt cx="10972800" cy="1095375"/>
          </a:xfrm>
        </p:grpSpPr>
        <p:sp>
          <p:nvSpPr>
            <p:cNvPr id="9" name="Rectangle 9"/>
            <p:cNvSpPr/>
            <p:nvPr/>
          </p:nvSpPr>
          <p:spPr>
            <a:xfrm>
              <a:off x="609600" y="4429125"/>
              <a:ext cx="10972800" cy="1095375"/>
            </a:xfrm>
            <a:prstGeom prst="roundRect">
              <a:avLst>
                <a:gd name="adj" fmla="val 10435"/>
              </a:avLst>
            </a:prstGeom>
            <a:solidFill>
              <a:schemeClr val="lt2"/>
            </a:solidFill>
            <a:ln>
              <a:noFill/>
            </a:ln>
          </p:spPr>
        </p:sp>
        <p:grpSp>
          <p:nvGrpSpPr>
            <p:cNvPr id="12" name="Group 12"/>
            <p:cNvGrpSpPr/>
            <p:nvPr/>
          </p:nvGrpSpPr>
          <p:grpSpPr>
            <a:xfrm>
              <a:off x="902970" y="4625975"/>
              <a:ext cx="9060319" cy="831469"/>
              <a:chOff x="902970" y="4625975"/>
              <a:chExt cx="9060319" cy="831469"/>
            </a:xfrm>
          </p:grpSpPr>
          <p:sp>
            <p:nvSpPr>
              <p:cNvPr id="10" name="TextBox 10"/>
              <p:cNvSpPr txBox="1"/>
              <p:nvPr/>
            </p:nvSpPr>
            <p:spPr>
              <a:xfrm>
                <a:off x="902970" y="4625975"/>
                <a:ext cx="7585389" cy="440055"/>
              </a:xfrm>
              <a:prstGeom prst="rect">
                <a:avLst/>
              </a:prstGeom>
              <a:noFill/>
              <a:ln>
                <a:noFill/>
              </a:ln>
            </p:spPr>
            <p:txBody>
              <a:bodyPr wrap="none" lIns="0" tIns="0" rIns="0" bIns="0" anchor="t" anchorCtr="0">
                <a:spAutoFit/>
              </a:bodyPr>
              <a:lstStyle/>
              <a:p>
                <a:pPr algn="l"/>
                <a:r>
                  <a:rPr lang="en-AU" sz="2250" dirty="0">
                    <a:solidFill>
                      <a:schemeClr val="dk1"/>
                    </a:solidFill>
                    <a:latin typeface="+mn-lt"/>
                    <a:ea typeface="+mn-ea"/>
                    <a:cs typeface="+mn-cs"/>
                  </a:rPr>
                  <a:t>Ask Jode about safety, belonging and preferred support.</a:t>
                </a:r>
              </a:p>
            </p:txBody>
          </p:sp>
          <p:sp>
            <p:nvSpPr>
              <p:cNvPr id="11" name="TextBox 11"/>
              <p:cNvSpPr txBox="1"/>
              <p:nvPr/>
            </p:nvSpPr>
            <p:spPr>
              <a:xfrm>
                <a:off x="905256" y="5105400"/>
                <a:ext cx="9058033" cy="352044"/>
              </a:xfrm>
              <a:prstGeom prst="rect">
                <a:avLst/>
              </a:prstGeom>
              <a:noFill/>
              <a:ln>
                <a:noFill/>
              </a:ln>
            </p:spPr>
            <p:txBody>
              <a:bodyPr wrap="none" lIns="0" tIns="0" rIns="0" bIns="0" anchor="t" anchorCtr="0">
                <a:spAutoFit/>
              </a:bodyPr>
              <a:lstStyle/>
              <a:p>
                <a:pPr algn="l"/>
                <a:r>
                  <a:rPr lang="en-AU" sz="1800" dirty="0">
                    <a:solidFill>
                      <a:schemeClr val="dk1"/>
                    </a:solidFill>
                    <a:latin typeface="+mn-lt"/>
                    <a:ea typeface="+mn-ea"/>
                    <a:cs typeface="+mn-cs"/>
                  </a:rPr>
                  <a:t>Do not treat harassment as Jode’s behaviour problem or blame cultural background.</a:t>
                </a:r>
              </a:p>
            </p:txBody>
          </p:sp>
        </p:grpSp>
      </p:grpSp>
      <p:grpSp>
        <p:nvGrpSpPr>
          <p:cNvPr id="16" name="p10-footer"/>
          <p:cNvGrpSpPr/>
          <p:nvPr/>
        </p:nvGrpSpPr>
        <p:grpSpPr>
          <a:xfrm>
            <a:off x="603504" y="6276975"/>
            <a:ext cx="10774169" cy="234696"/>
            <a:chOff x="603504" y="6276975"/>
            <a:chExt cx="10774169" cy="234696"/>
          </a:xfrm>
        </p:grpSpPr>
        <p:sp>
          <p:nvSpPr>
            <p:cNvPr id="14" name="TextBox 14"/>
            <p:cNvSpPr txBox="1"/>
            <p:nvPr/>
          </p:nvSpPr>
          <p:spPr>
            <a:xfrm>
              <a:off x="603504" y="6276975"/>
              <a:ext cx="8476118" cy="234696"/>
            </a:xfrm>
            <a:prstGeom prst="rect">
              <a:avLst/>
            </a:prstGeom>
            <a:noFill/>
            <a:ln>
              <a:noFill/>
            </a:ln>
          </p:spPr>
          <p:txBody>
            <a:bodyPr wrap="none" lIns="0" tIns="0" rIns="0" bIns="0" anchor="t" anchorCtr="0">
              <a:spAutoFit/>
            </a:bodyPr>
            <a:lstStyle/>
            <a:p>
              <a:pPr algn="l"/>
              <a:r>
                <a:rPr lang="en-AU" sz="1200" dirty="0">
                  <a:solidFill>
                    <a:schemeClr val="accent5"/>
                  </a:solidFill>
                  <a:latin typeface="+mn-lt"/>
                  <a:ea typeface="+mn-ea"/>
                  <a:cs typeface="+mn-cs"/>
                </a:rPr>
                <a:t>DSE Part 8; APST 4.4, 7.2. Tutor feedback: move beyond a trusted adult to prevention and school-wide responsibility.</a:t>
              </a:r>
            </a:p>
          </p:txBody>
        </p:sp>
        <p:sp>
          <p:nvSpPr>
            <p:cNvPr id="15" name="TextBox 15"/>
            <p:cNvSpPr txBox="1"/>
            <p:nvPr/>
          </p:nvSpPr>
          <p:spPr>
            <a:xfrm>
              <a:off x="11185779" y="6276975"/>
              <a:ext cx="191894" cy="234696"/>
            </a:xfrm>
            <a:prstGeom prst="rect">
              <a:avLst/>
            </a:prstGeom>
            <a:noFill/>
            <a:ln>
              <a:noFill/>
            </a:ln>
          </p:spPr>
          <p:txBody>
            <a:bodyPr wrap="none" lIns="0" tIns="0" rIns="0" bIns="0" anchor="t" anchorCtr="0">
              <a:spAutoFit/>
            </a:bodyPr>
            <a:lstStyle/>
            <a:p>
              <a:pPr algn="l"/>
              <a:r>
                <a:rPr lang="en-AU" sz="1200" dirty="0">
                  <a:solidFill>
                    <a:schemeClr val="accent5"/>
                  </a:solidFill>
                  <a:latin typeface="+mn-lt"/>
                  <a:ea typeface="+mn-ea"/>
                  <a:cs typeface="+mn-cs"/>
                </a:rPr>
                <a:t>10</a:t>
              </a:r>
            </a:p>
          </p:txBody>
        </p:sp>
      </p:gr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11-heading"/>
          <p:cNvGrpSpPr/>
          <p:nvPr/>
        </p:nvGrpSpPr>
        <p:grpSpPr>
          <a:xfrm>
            <a:off x="592836" y="704850"/>
            <a:ext cx="9900188" cy="1058164"/>
            <a:chOff x="592836" y="704850"/>
            <a:chExt cx="9900188" cy="1058164"/>
          </a:xfrm>
        </p:grpSpPr>
        <p:sp>
          <p:nvSpPr>
            <p:cNvPr id="2" name="TextBox 2"/>
            <p:cNvSpPr txBox="1"/>
            <p:nvPr/>
          </p:nvSpPr>
          <p:spPr>
            <a:xfrm>
              <a:off x="603504" y="704850"/>
              <a:ext cx="3625794" cy="234696"/>
            </a:xfrm>
            <a:prstGeom prst="rect">
              <a:avLst/>
            </a:prstGeom>
            <a:noFill/>
            <a:ln>
              <a:noFill/>
            </a:ln>
          </p:spPr>
          <p:txBody>
            <a:bodyPr wrap="none" lIns="0" tIns="0" rIns="0" bIns="0" anchor="t" anchorCtr="0">
              <a:spAutoFit/>
            </a:bodyPr>
            <a:lstStyle/>
            <a:p>
              <a:pPr algn="l"/>
              <a:r>
                <a:rPr lang="en-AU" sz="1200" dirty="0">
                  <a:solidFill>
                    <a:schemeClr val="accent2"/>
                  </a:solidFill>
                  <a:latin typeface="+mn-lt"/>
                  <a:ea typeface="+mn-ea"/>
                  <a:cs typeface="+mn-cs"/>
                </a:rPr>
                <a:t>10 / THE SAFETY–PARTICIPATION DILEMMA</a:t>
              </a:r>
            </a:p>
          </p:txBody>
        </p:sp>
        <p:sp>
          <p:nvSpPr>
            <p:cNvPr id="3" name="TextBox 3"/>
            <p:cNvSpPr txBox="1"/>
            <p:nvPr/>
          </p:nvSpPr>
          <p:spPr>
            <a:xfrm>
              <a:off x="592836" y="1117600"/>
              <a:ext cx="9900188" cy="645414"/>
            </a:xfrm>
            <a:prstGeom prst="rect">
              <a:avLst/>
            </a:prstGeom>
            <a:noFill/>
            <a:ln>
              <a:noFill/>
            </a:ln>
          </p:spPr>
          <p:txBody>
            <a:bodyPr wrap="none" lIns="0" tIns="0" rIns="0" bIns="0" anchor="t" anchorCtr="0">
              <a:spAutoFit/>
            </a:bodyPr>
            <a:lstStyle/>
            <a:p>
              <a:pPr algn="l"/>
              <a:r>
                <a:rPr lang="en-AU" sz="3300" dirty="0">
                  <a:solidFill>
                    <a:schemeClr val="dk1"/>
                  </a:solidFill>
                  <a:latin typeface="+mn-lt"/>
                  <a:ea typeface="+mn-ea"/>
                  <a:cs typeface="+mn-cs"/>
                </a:rPr>
                <a:t>Replace blanket exclusion with individual planning</a:t>
              </a:r>
            </a:p>
          </p:txBody>
        </p:sp>
      </p:grpSp>
      <p:grpSp>
        <p:nvGrpSpPr>
          <p:cNvPr id="7" name="p11-dilemma"/>
          <p:cNvGrpSpPr/>
          <p:nvPr/>
        </p:nvGrpSpPr>
        <p:grpSpPr>
          <a:xfrm>
            <a:off x="598170" y="2387600"/>
            <a:ext cx="8853897" cy="926719"/>
            <a:chOff x="598170" y="2387600"/>
            <a:chExt cx="8853897" cy="926719"/>
          </a:xfrm>
        </p:grpSpPr>
        <p:sp>
          <p:nvSpPr>
            <p:cNvPr id="5" name="TextBox 5"/>
            <p:cNvSpPr txBox="1"/>
            <p:nvPr/>
          </p:nvSpPr>
          <p:spPr>
            <a:xfrm>
              <a:off x="598170" y="2387600"/>
              <a:ext cx="8853897" cy="440055"/>
            </a:xfrm>
            <a:prstGeom prst="rect">
              <a:avLst/>
            </a:prstGeom>
            <a:noFill/>
            <a:ln>
              <a:noFill/>
            </a:ln>
          </p:spPr>
          <p:txBody>
            <a:bodyPr wrap="none" lIns="0" tIns="0" rIns="0" bIns="0" anchor="t" anchorCtr="0">
              <a:spAutoFit/>
            </a:bodyPr>
            <a:lstStyle/>
            <a:p>
              <a:pPr algn="l"/>
              <a:r>
                <a:rPr lang="en-AU" sz="2250" dirty="0">
                  <a:solidFill>
                    <a:schemeClr val="dk1"/>
                  </a:solidFill>
                  <a:latin typeface="+mn-lt"/>
                  <a:ea typeface="+mn-ea"/>
                  <a:cs typeface="+mn-cs"/>
                </a:rPr>
                <a:t>Swimming and excursions: take safety and participation seriously.</a:t>
              </a:r>
            </a:p>
          </p:txBody>
        </p:sp>
        <p:sp>
          <p:nvSpPr>
            <p:cNvPr id="6" name="TextBox 6"/>
            <p:cNvSpPr txBox="1"/>
            <p:nvPr/>
          </p:nvSpPr>
          <p:spPr>
            <a:xfrm>
              <a:off x="600456" y="2962275"/>
              <a:ext cx="6592133" cy="352044"/>
            </a:xfrm>
            <a:prstGeom prst="rect">
              <a:avLst/>
            </a:prstGeom>
            <a:noFill/>
            <a:ln>
              <a:noFill/>
            </a:ln>
          </p:spPr>
          <p:txBody>
            <a:bodyPr wrap="none" lIns="0" tIns="0" rIns="0" bIns="0" anchor="t" anchorCtr="0">
              <a:spAutoFit/>
            </a:bodyPr>
            <a:lstStyle/>
            <a:p>
              <a:pPr algn="l"/>
              <a:r>
                <a:rPr lang="en-AU" sz="1800" dirty="0">
                  <a:solidFill>
                    <a:schemeClr val="accent5"/>
                  </a:solidFill>
                  <a:latin typeface="+mn-lt"/>
                  <a:ea typeface="+mn-ea"/>
                  <a:cs typeface="+mn-cs"/>
                </a:rPr>
                <a:t>Consult Jode, family and relevant specialists before deciding.</a:t>
              </a:r>
            </a:p>
          </p:txBody>
        </p:sp>
      </p:grpSp>
      <p:grpSp>
        <p:nvGrpSpPr>
          <p:cNvPr id="13" name="p11-plan"/>
          <p:cNvGrpSpPr/>
          <p:nvPr/>
        </p:nvGrpSpPr>
        <p:grpSpPr>
          <a:xfrm>
            <a:off x="609600" y="3714750"/>
            <a:ext cx="10972800" cy="1762125"/>
            <a:chOff x="609600" y="3714750"/>
            <a:chExt cx="10972800" cy="1762125"/>
          </a:xfrm>
        </p:grpSpPr>
        <p:sp>
          <p:nvSpPr>
            <p:cNvPr id="8" name="Rectangle 8"/>
            <p:cNvSpPr/>
            <p:nvPr/>
          </p:nvSpPr>
          <p:spPr>
            <a:xfrm>
              <a:off x="609600" y="3714750"/>
              <a:ext cx="10972800" cy="1762125"/>
            </a:xfrm>
            <a:prstGeom prst="roundRect">
              <a:avLst>
                <a:gd name="adj" fmla="val 6486"/>
              </a:avLst>
            </a:prstGeom>
            <a:solidFill>
              <a:schemeClr val="lt2"/>
            </a:solidFill>
            <a:ln>
              <a:noFill/>
            </a:ln>
          </p:spPr>
        </p:sp>
        <p:grpSp>
          <p:nvGrpSpPr>
            <p:cNvPr id="12" name="Group 12"/>
            <p:cNvGrpSpPr/>
            <p:nvPr/>
          </p:nvGrpSpPr>
          <p:grpSpPr>
            <a:xfrm>
              <a:off x="902970" y="3959225"/>
              <a:ext cx="7474815" cy="1402969"/>
              <a:chOff x="902970" y="3959225"/>
              <a:chExt cx="7474815" cy="1402969"/>
            </a:xfrm>
          </p:grpSpPr>
          <p:sp>
            <p:nvSpPr>
              <p:cNvPr id="9" name="TextBox 9"/>
              <p:cNvSpPr txBox="1"/>
              <p:nvPr/>
            </p:nvSpPr>
            <p:spPr>
              <a:xfrm>
                <a:off x="902970" y="3959225"/>
                <a:ext cx="7474815" cy="440055"/>
              </a:xfrm>
              <a:prstGeom prst="rect">
                <a:avLst/>
              </a:prstGeom>
              <a:noFill/>
              <a:ln>
                <a:noFill/>
              </a:ln>
            </p:spPr>
            <p:txBody>
              <a:bodyPr wrap="none" lIns="0" tIns="0" rIns="0" bIns="0" anchor="t" anchorCtr="0">
                <a:spAutoFit/>
              </a:bodyPr>
              <a:lstStyle/>
              <a:p>
                <a:pPr algn="l"/>
                <a:r>
                  <a:rPr lang="en-AU" sz="2250" dirty="0">
                    <a:solidFill>
                      <a:schemeClr val="dk1"/>
                    </a:solidFill>
                    <a:latin typeface="+mn-lt"/>
                    <a:ea typeface="+mn-ea"/>
                    <a:cs typeface="+mn-cs"/>
                  </a:rPr>
                  <a:t>Audit routes, changing areas, transport and evacuation.</a:t>
                </a:r>
              </a:p>
            </p:txBody>
          </p:sp>
          <p:sp>
            <p:nvSpPr>
              <p:cNvPr id="10" name="TextBox 10"/>
              <p:cNvSpPr txBox="1"/>
              <p:nvPr/>
            </p:nvSpPr>
            <p:spPr>
              <a:xfrm>
                <a:off x="902970" y="4530725"/>
                <a:ext cx="6211304" cy="440055"/>
              </a:xfrm>
              <a:prstGeom prst="rect">
                <a:avLst/>
              </a:prstGeom>
              <a:noFill/>
              <a:ln>
                <a:noFill/>
              </a:ln>
            </p:spPr>
            <p:txBody>
              <a:bodyPr wrap="none" lIns="0" tIns="0" rIns="0" bIns="0" anchor="t" anchorCtr="0">
                <a:spAutoFit/>
              </a:bodyPr>
              <a:lstStyle/>
              <a:p>
                <a:pPr algn="l"/>
                <a:r>
                  <a:rPr lang="en-AU" sz="2250" dirty="0">
                    <a:solidFill>
                      <a:schemeClr val="dk1"/>
                    </a:solidFill>
                    <a:latin typeface="+mn-lt"/>
                    <a:ea typeface="+mn-ea"/>
                    <a:cs typeface="+mn-cs"/>
                  </a:rPr>
                  <a:t>Plan trained support, rest and communication.</a:t>
                </a:r>
              </a:p>
            </p:txBody>
          </p:sp>
          <p:sp>
            <p:nvSpPr>
              <p:cNvPr id="11" name="TextBox 11"/>
              <p:cNvSpPr txBox="1"/>
              <p:nvPr/>
            </p:nvSpPr>
            <p:spPr>
              <a:xfrm>
                <a:off x="905256" y="5010150"/>
                <a:ext cx="6357166" cy="352044"/>
              </a:xfrm>
              <a:prstGeom prst="rect">
                <a:avLst/>
              </a:prstGeom>
              <a:noFill/>
              <a:ln>
                <a:noFill/>
              </a:ln>
            </p:spPr>
            <p:txBody>
              <a:bodyPr wrap="none" lIns="0" tIns="0" rIns="0" bIns="0" anchor="t" anchorCtr="0">
                <a:spAutoFit/>
              </a:bodyPr>
              <a:lstStyle/>
              <a:p>
                <a:pPr algn="l"/>
                <a:r>
                  <a:rPr lang="en-AU" sz="1800" dirty="0">
                    <a:solidFill>
                      <a:schemeClr val="dk1"/>
                    </a:solidFill>
                    <a:latin typeface="+mn-lt"/>
                    <a:ea typeface="+mn-ea"/>
                    <a:cs typeface="+mn-cs"/>
                  </a:rPr>
                  <a:t>Document options, reasons, safeguards and a review date.</a:t>
                </a:r>
              </a:p>
            </p:txBody>
          </p:sp>
        </p:grpSp>
      </p:grpSp>
      <p:grpSp>
        <p:nvGrpSpPr>
          <p:cNvPr id="16" name="p11-footer"/>
          <p:cNvGrpSpPr/>
          <p:nvPr/>
        </p:nvGrpSpPr>
        <p:grpSpPr>
          <a:xfrm>
            <a:off x="603504" y="6276975"/>
            <a:ext cx="10774169" cy="234696"/>
            <a:chOff x="603504" y="6276975"/>
            <a:chExt cx="10774169" cy="234696"/>
          </a:xfrm>
        </p:grpSpPr>
        <p:sp>
          <p:nvSpPr>
            <p:cNvPr id="14" name="TextBox 14"/>
            <p:cNvSpPr txBox="1"/>
            <p:nvPr/>
          </p:nvSpPr>
          <p:spPr>
            <a:xfrm>
              <a:off x="603504" y="6276975"/>
              <a:ext cx="8684068" cy="234696"/>
            </a:xfrm>
            <a:prstGeom prst="rect">
              <a:avLst/>
            </a:prstGeom>
            <a:noFill/>
            <a:ln>
              <a:noFill/>
            </a:ln>
          </p:spPr>
          <p:txBody>
            <a:bodyPr wrap="none" lIns="0" tIns="0" rIns="0" bIns="0" anchor="t" anchorCtr="0">
              <a:spAutoFit/>
            </a:bodyPr>
            <a:lstStyle/>
            <a:p>
              <a:pPr algn="l"/>
              <a:r>
                <a:rPr lang="en-AU" sz="1200" dirty="0">
                  <a:solidFill>
                    <a:schemeClr val="accent5"/>
                  </a:solidFill>
                  <a:latin typeface="+mn-lt"/>
                  <a:ea typeface="+mn-ea"/>
                  <a:cs typeface="+mn-cs"/>
                </a:rPr>
                <a:t>DSE consultation, reasonable adjustment and participation; APST 1.6, 4.4, 7.2. Serious concern ≠ definitive legal finding.</a:t>
              </a:r>
            </a:p>
          </p:txBody>
        </p:sp>
        <p:sp>
          <p:nvSpPr>
            <p:cNvPr id="15" name="TextBox 15"/>
            <p:cNvSpPr txBox="1"/>
            <p:nvPr/>
          </p:nvSpPr>
          <p:spPr>
            <a:xfrm>
              <a:off x="11185779" y="6276975"/>
              <a:ext cx="191894" cy="234696"/>
            </a:xfrm>
            <a:prstGeom prst="rect">
              <a:avLst/>
            </a:prstGeom>
            <a:noFill/>
            <a:ln>
              <a:noFill/>
            </a:ln>
          </p:spPr>
          <p:txBody>
            <a:bodyPr wrap="none" lIns="0" tIns="0" rIns="0" bIns="0" anchor="t" anchorCtr="0">
              <a:spAutoFit/>
            </a:bodyPr>
            <a:lstStyle/>
            <a:p>
              <a:pPr algn="l"/>
              <a:r>
                <a:rPr lang="en-AU" sz="1200" dirty="0">
                  <a:solidFill>
                    <a:schemeClr val="accent5"/>
                  </a:solidFill>
                  <a:latin typeface="+mn-lt"/>
                  <a:ea typeface="+mn-ea"/>
                  <a:cs typeface="+mn-cs"/>
                </a:rPr>
                <a:t>11</a:t>
              </a:r>
            </a:p>
          </p:txBody>
        </p:sp>
      </p:gr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12-heading"/>
          <p:cNvGrpSpPr/>
          <p:nvPr/>
        </p:nvGrpSpPr>
        <p:grpSpPr>
          <a:xfrm>
            <a:off x="592836" y="704850"/>
            <a:ext cx="8716532" cy="1058164"/>
            <a:chOff x="592836" y="704850"/>
            <a:chExt cx="8716532" cy="1058164"/>
          </a:xfrm>
        </p:grpSpPr>
        <p:sp>
          <p:nvSpPr>
            <p:cNvPr id="2" name="TextBox 2"/>
            <p:cNvSpPr txBox="1"/>
            <p:nvPr/>
          </p:nvSpPr>
          <p:spPr>
            <a:xfrm>
              <a:off x="603504" y="704850"/>
              <a:ext cx="3398198" cy="234696"/>
            </a:xfrm>
            <a:prstGeom prst="rect">
              <a:avLst/>
            </a:prstGeom>
            <a:noFill/>
            <a:ln>
              <a:noFill/>
            </a:ln>
          </p:spPr>
          <p:txBody>
            <a:bodyPr wrap="none" lIns="0" tIns="0" rIns="0" bIns="0" anchor="t" anchorCtr="0">
              <a:spAutoFit/>
            </a:bodyPr>
            <a:lstStyle/>
            <a:p>
              <a:pPr algn="l"/>
              <a:r>
                <a:rPr lang="en-AU" sz="1200" dirty="0">
                  <a:solidFill>
                    <a:schemeClr val="accent2"/>
                  </a:solidFill>
                  <a:latin typeface="+mn-lt"/>
                  <a:ea typeface="+mn-ea"/>
                  <a:cs typeface="+mn-cs"/>
                </a:rPr>
                <a:t>11 / IMPLEMENTATION AND EVALUATION</a:t>
              </a:r>
            </a:p>
          </p:txBody>
        </p:sp>
        <p:sp>
          <p:nvSpPr>
            <p:cNvPr id="3" name="TextBox 3"/>
            <p:cNvSpPr txBox="1"/>
            <p:nvPr/>
          </p:nvSpPr>
          <p:spPr>
            <a:xfrm>
              <a:off x="592836" y="1117600"/>
              <a:ext cx="8716532" cy="645414"/>
            </a:xfrm>
            <a:prstGeom prst="rect">
              <a:avLst/>
            </a:prstGeom>
            <a:noFill/>
            <a:ln>
              <a:noFill/>
            </a:ln>
          </p:spPr>
          <p:txBody>
            <a:bodyPr wrap="none" lIns="0" tIns="0" rIns="0" bIns="0" anchor="t" anchorCtr="0">
              <a:spAutoFit/>
            </a:bodyPr>
            <a:lstStyle/>
            <a:p>
              <a:pPr algn="l"/>
              <a:r>
                <a:rPr lang="en-AU" sz="3300" dirty="0">
                  <a:solidFill>
                    <a:schemeClr val="dk1"/>
                  </a:solidFill>
                  <a:latin typeface="+mn-lt"/>
                  <a:ea typeface="+mn-ea"/>
                  <a:cs typeface="+mn-cs"/>
                </a:rPr>
                <a:t>Make the review change what happens next</a:t>
              </a:r>
            </a:p>
          </p:txBody>
        </p:sp>
      </p:grpSp>
      <p:grpSp>
        <p:nvGrpSpPr>
          <p:cNvPr id="8" name="p12-owners"/>
          <p:cNvGrpSpPr/>
          <p:nvPr/>
        </p:nvGrpSpPr>
        <p:grpSpPr>
          <a:xfrm>
            <a:off x="598170" y="2387600"/>
            <a:ext cx="7988902" cy="1678305"/>
            <a:chOff x="598170" y="2387600"/>
            <a:chExt cx="7988902" cy="1678305"/>
          </a:xfrm>
        </p:grpSpPr>
        <p:sp>
          <p:nvSpPr>
            <p:cNvPr id="5" name="TextBox 5"/>
            <p:cNvSpPr txBox="1"/>
            <p:nvPr/>
          </p:nvSpPr>
          <p:spPr>
            <a:xfrm>
              <a:off x="598170" y="2387600"/>
              <a:ext cx="7625903" cy="440055"/>
            </a:xfrm>
            <a:prstGeom prst="rect">
              <a:avLst/>
            </a:prstGeom>
            <a:noFill/>
            <a:ln>
              <a:noFill/>
            </a:ln>
          </p:spPr>
          <p:txBody>
            <a:bodyPr wrap="none" lIns="0" tIns="0" rIns="0" bIns="0" anchor="t" anchorCtr="0">
              <a:spAutoFit/>
            </a:bodyPr>
            <a:lstStyle/>
            <a:p>
              <a:pPr algn="l"/>
              <a:r>
                <a:rPr lang="en-AU" sz="2250" dirty="0">
                  <a:solidFill>
                    <a:schemeClr val="dk1"/>
                  </a:solidFill>
                  <a:latin typeface="+mn-lt"/>
                  <a:ea typeface="+mn-ea"/>
                  <a:cs typeface="+mn-cs"/>
                </a:rPr>
                <a:t>Teacher: task accuracy, prompts and fatigue each week.</a:t>
              </a:r>
            </a:p>
          </p:txBody>
        </p:sp>
        <p:sp>
          <p:nvSpPr>
            <p:cNvPr id="6" name="TextBox 6"/>
            <p:cNvSpPr txBox="1"/>
            <p:nvPr/>
          </p:nvSpPr>
          <p:spPr>
            <a:xfrm>
              <a:off x="598170" y="3006725"/>
              <a:ext cx="6834048" cy="440055"/>
            </a:xfrm>
            <a:prstGeom prst="rect">
              <a:avLst/>
            </a:prstGeom>
            <a:noFill/>
            <a:ln>
              <a:noFill/>
            </a:ln>
          </p:spPr>
          <p:txBody>
            <a:bodyPr wrap="none" lIns="0" tIns="0" rIns="0" bIns="0" anchor="t" anchorCtr="0">
              <a:spAutoFit/>
            </a:bodyPr>
            <a:lstStyle/>
            <a:p>
              <a:pPr algn="l"/>
              <a:r>
                <a:rPr lang="en-AU" sz="2250" dirty="0">
                  <a:solidFill>
                    <a:schemeClr val="dk1"/>
                  </a:solidFill>
                  <a:latin typeface="+mn-lt"/>
                  <a:ea typeface="+mn-ea"/>
                  <a:cs typeface="+mn-cs"/>
                </a:rPr>
                <a:t>Coordinator: access audit and adjustment delivery.</a:t>
              </a:r>
            </a:p>
          </p:txBody>
        </p:sp>
        <p:sp>
          <p:nvSpPr>
            <p:cNvPr id="7" name="TextBox 7"/>
            <p:cNvSpPr txBox="1"/>
            <p:nvPr/>
          </p:nvSpPr>
          <p:spPr>
            <a:xfrm>
              <a:off x="598170" y="3625850"/>
              <a:ext cx="7988902" cy="440055"/>
            </a:xfrm>
            <a:prstGeom prst="rect">
              <a:avLst/>
            </a:prstGeom>
            <a:noFill/>
            <a:ln>
              <a:noFill/>
            </a:ln>
          </p:spPr>
          <p:txBody>
            <a:bodyPr wrap="none" lIns="0" tIns="0" rIns="0" bIns="0" anchor="t" anchorCtr="0">
              <a:spAutoFit/>
            </a:bodyPr>
            <a:lstStyle/>
            <a:p>
              <a:pPr algn="l"/>
              <a:r>
                <a:rPr lang="en-AU" sz="2250" dirty="0">
                  <a:solidFill>
                    <a:schemeClr val="dk1"/>
                  </a:solidFill>
                  <a:latin typeface="+mn-lt"/>
                  <a:ea typeface="+mn-ea"/>
                  <a:cs typeface="+mn-cs"/>
                </a:rPr>
                <a:t>Wellbeing lead: safety follow-up, Jode and family feedback.</a:t>
              </a:r>
            </a:p>
          </p:txBody>
        </p:sp>
      </p:grpSp>
      <p:grpSp>
        <p:nvGrpSpPr>
          <p:cNvPr id="13" name="p12-change"/>
          <p:cNvGrpSpPr/>
          <p:nvPr/>
        </p:nvGrpSpPr>
        <p:grpSpPr>
          <a:xfrm>
            <a:off x="609600" y="4524375"/>
            <a:ext cx="10972800" cy="1095375"/>
            <a:chOff x="609600" y="4524375"/>
            <a:chExt cx="10972800" cy="1095375"/>
          </a:xfrm>
        </p:grpSpPr>
        <p:sp>
          <p:nvSpPr>
            <p:cNvPr id="9" name="Rectangle 9"/>
            <p:cNvSpPr/>
            <p:nvPr/>
          </p:nvSpPr>
          <p:spPr>
            <a:xfrm>
              <a:off x="609600" y="4524375"/>
              <a:ext cx="10972800" cy="1095375"/>
            </a:xfrm>
            <a:prstGeom prst="roundRect">
              <a:avLst>
                <a:gd name="adj" fmla="val 10435"/>
              </a:avLst>
            </a:prstGeom>
            <a:solidFill>
              <a:schemeClr val="lt2"/>
            </a:solidFill>
            <a:ln>
              <a:noFill/>
            </a:ln>
          </p:spPr>
        </p:sp>
        <p:grpSp>
          <p:nvGrpSpPr>
            <p:cNvPr id="12" name="Group 12"/>
            <p:cNvGrpSpPr/>
            <p:nvPr/>
          </p:nvGrpSpPr>
          <p:grpSpPr>
            <a:xfrm>
              <a:off x="902970" y="4721225"/>
              <a:ext cx="8926098" cy="831469"/>
              <a:chOff x="902970" y="4721225"/>
              <a:chExt cx="8926098" cy="831469"/>
            </a:xfrm>
          </p:grpSpPr>
          <p:sp>
            <p:nvSpPr>
              <p:cNvPr id="10" name="TextBox 10"/>
              <p:cNvSpPr txBox="1"/>
              <p:nvPr/>
            </p:nvSpPr>
            <p:spPr>
              <a:xfrm>
                <a:off x="902970" y="4721225"/>
                <a:ext cx="8180768" cy="440055"/>
              </a:xfrm>
              <a:prstGeom prst="rect">
                <a:avLst/>
              </a:prstGeom>
              <a:noFill/>
              <a:ln>
                <a:noFill/>
              </a:ln>
            </p:spPr>
            <p:txBody>
              <a:bodyPr wrap="none" lIns="0" tIns="0" rIns="0" bIns="0" anchor="t" anchorCtr="0">
                <a:spAutoFit/>
              </a:bodyPr>
              <a:lstStyle/>
              <a:p>
                <a:pPr algn="l"/>
                <a:r>
                  <a:rPr lang="en-AU" sz="2250" dirty="0">
                    <a:solidFill>
                      <a:schemeClr val="dk1"/>
                    </a:solidFill>
                    <a:latin typeface="+mn-lt"/>
                    <a:ea typeface="+mn-ea"/>
                    <a:cs typeface="+mn-cs"/>
                  </a:rPr>
                  <a:t>Act on safety now; review trials at four weeks and each term.</a:t>
                </a:r>
              </a:p>
            </p:txBody>
          </p:sp>
          <p:sp>
            <p:nvSpPr>
              <p:cNvPr id="11" name="TextBox 11"/>
              <p:cNvSpPr txBox="1"/>
              <p:nvPr/>
            </p:nvSpPr>
            <p:spPr>
              <a:xfrm>
                <a:off x="905256" y="5200650"/>
                <a:ext cx="8923812" cy="352044"/>
              </a:xfrm>
              <a:prstGeom prst="rect">
                <a:avLst/>
              </a:prstGeom>
              <a:noFill/>
              <a:ln>
                <a:noFill/>
              </a:ln>
            </p:spPr>
            <p:txBody>
              <a:bodyPr wrap="none" lIns="0" tIns="0" rIns="0" bIns="0" anchor="t" anchorCtr="0">
                <a:spAutoFit/>
              </a:bodyPr>
              <a:lstStyle/>
              <a:p>
                <a:pPr algn="l"/>
                <a:r>
                  <a:rPr lang="en-AU" sz="1800" dirty="0">
                    <a:solidFill>
                      <a:schemeClr val="dk1"/>
                    </a:solidFill>
                    <a:latin typeface="+mn-lt"/>
                    <a:ea typeface="+mn-ea"/>
                    <a:cs typeface="+mn-cs"/>
                  </a:rPr>
                  <a:t>No improvement? Check delivery, consult, then change support—not expectations.</a:t>
                </a:r>
              </a:p>
            </p:txBody>
          </p:sp>
        </p:grpSp>
      </p:grpSp>
      <p:grpSp>
        <p:nvGrpSpPr>
          <p:cNvPr id="16" name="p12-footer"/>
          <p:cNvGrpSpPr/>
          <p:nvPr/>
        </p:nvGrpSpPr>
        <p:grpSpPr>
          <a:xfrm>
            <a:off x="603504" y="6276975"/>
            <a:ext cx="10774169" cy="234696"/>
            <a:chOff x="603504" y="6276975"/>
            <a:chExt cx="10774169" cy="234696"/>
          </a:xfrm>
        </p:grpSpPr>
        <p:sp>
          <p:nvSpPr>
            <p:cNvPr id="14" name="TextBox 14"/>
            <p:cNvSpPr txBox="1"/>
            <p:nvPr/>
          </p:nvSpPr>
          <p:spPr>
            <a:xfrm>
              <a:off x="603504" y="6276975"/>
              <a:ext cx="6381604" cy="234696"/>
            </a:xfrm>
            <a:prstGeom prst="rect">
              <a:avLst/>
            </a:prstGeom>
            <a:noFill/>
            <a:ln>
              <a:noFill/>
            </a:ln>
          </p:spPr>
          <p:txBody>
            <a:bodyPr wrap="none" lIns="0" tIns="0" rIns="0" bIns="0" anchor="t" anchorCtr="0">
              <a:spAutoFit/>
            </a:bodyPr>
            <a:lstStyle/>
            <a:p>
              <a:pPr algn="l"/>
              <a:r>
                <a:rPr lang="en-AU" sz="1200" dirty="0">
                  <a:solidFill>
                    <a:schemeClr val="accent5"/>
                  </a:solidFill>
                  <a:latin typeface="+mn-lt"/>
                  <a:ea typeface="+mn-ea"/>
                  <a:cs typeface="+mn-cs"/>
                </a:rPr>
                <a:t>Proposed school-year implementation. APST 5.1, 6.3, 7.3; DSE consultation and review.</a:t>
              </a:r>
            </a:p>
          </p:txBody>
        </p:sp>
        <p:sp>
          <p:nvSpPr>
            <p:cNvPr id="15" name="TextBox 15"/>
            <p:cNvSpPr txBox="1"/>
            <p:nvPr/>
          </p:nvSpPr>
          <p:spPr>
            <a:xfrm>
              <a:off x="11185779" y="6276975"/>
              <a:ext cx="191894" cy="234696"/>
            </a:xfrm>
            <a:prstGeom prst="rect">
              <a:avLst/>
            </a:prstGeom>
            <a:noFill/>
            <a:ln>
              <a:noFill/>
            </a:ln>
          </p:spPr>
          <p:txBody>
            <a:bodyPr wrap="none" lIns="0" tIns="0" rIns="0" bIns="0" anchor="t" anchorCtr="0">
              <a:spAutoFit/>
            </a:bodyPr>
            <a:lstStyle/>
            <a:p>
              <a:pPr algn="l"/>
              <a:r>
                <a:rPr lang="en-AU" sz="1200" dirty="0">
                  <a:solidFill>
                    <a:schemeClr val="accent5"/>
                  </a:solidFill>
                  <a:latin typeface="+mn-lt"/>
                  <a:ea typeface="+mn-ea"/>
                  <a:cs typeface="+mn-cs"/>
                </a:rPr>
                <a:t>12</a:t>
              </a:r>
            </a:p>
          </p:txBody>
        </p:sp>
      </p:grpSp>
    </p:spTree>
  </p:cSld>
  <p:clrMapOvr>
    <a:masterClrMapping/>
  </p:clrMapOvr>
  <p:transition xmlns:p14="http://schemas.microsoft.com/office/powerpoint/2010/main" p14:dur="400">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grpSp>
        <p:nvGrpSpPr>
          <p:cNvPr id="4" name="p13-heading"/>
          <p:cNvGrpSpPr/>
          <p:nvPr/>
        </p:nvGrpSpPr>
        <p:grpSpPr>
          <a:xfrm>
            <a:off x="592836" y="704850"/>
            <a:ext cx="7617064" cy="1058164"/>
            <a:chOff x="592836" y="704850"/>
            <a:chExt cx="7617064" cy="1058164"/>
          </a:xfrm>
        </p:grpSpPr>
        <p:sp>
          <p:nvSpPr>
            <p:cNvPr id="2" name="TextBox 2"/>
            <p:cNvSpPr txBox="1"/>
            <p:nvPr/>
          </p:nvSpPr>
          <p:spPr>
            <a:xfrm>
              <a:off x="603504" y="704850"/>
              <a:ext cx="2800790" cy="234696"/>
            </a:xfrm>
            <a:prstGeom prst="rect">
              <a:avLst/>
            </a:prstGeom>
            <a:noFill/>
            <a:ln>
              <a:noFill/>
            </a:ln>
          </p:spPr>
          <p:txBody>
            <a:bodyPr wrap="none" lIns="0" tIns="0" rIns="0" bIns="0" anchor="t" anchorCtr="0">
              <a:spAutoFit/>
            </a:bodyPr>
            <a:lstStyle/>
            <a:p>
              <a:pPr algn="l"/>
              <a:r>
                <a:rPr lang="en-AU" sz="1200" dirty="0">
                  <a:solidFill>
                    <a:srgbClr val="B8D8D2"/>
                  </a:solidFill>
                  <a:latin typeface="+mn-lt"/>
                  <a:ea typeface="+mn-ea"/>
                  <a:cs typeface="+mn-cs"/>
                </a:rPr>
                <a:t>12 / PROFESSIONAL REFLECTION</a:t>
              </a:r>
            </a:p>
          </p:txBody>
        </p:sp>
        <p:sp>
          <p:nvSpPr>
            <p:cNvPr id="3" name="TextBox 3"/>
            <p:cNvSpPr txBox="1"/>
            <p:nvPr/>
          </p:nvSpPr>
          <p:spPr>
            <a:xfrm>
              <a:off x="592836" y="1117600"/>
              <a:ext cx="7617064" cy="645414"/>
            </a:xfrm>
            <a:prstGeom prst="rect">
              <a:avLst/>
            </a:prstGeom>
            <a:noFill/>
            <a:ln>
              <a:noFill/>
            </a:ln>
          </p:spPr>
          <p:txBody>
            <a:bodyPr wrap="none" lIns="0" tIns="0" rIns="0" bIns="0" anchor="t" anchorCtr="0">
              <a:spAutoFit/>
            </a:bodyPr>
            <a:lstStyle/>
            <a:p>
              <a:pPr algn="l"/>
              <a:r>
                <a:rPr lang="en-AU" sz="3300" dirty="0">
                  <a:solidFill>
                    <a:srgbClr val="FFFFFF"/>
                  </a:solidFill>
                  <a:latin typeface="+mn-lt"/>
                  <a:ea typeface="+mn-ea"/>
                  <a:cs typeface="+mn-cs"/>
                </a:rPr>
                <a:t>High expectations. Negotiated access.</a:t>
              </a:r>
            </a:p>
          </p:txBody>
        </p:sp>
      </p:grpSp>
      <p:grpSp>
        <p:nvGrpSpPr>
          <p:cNvPr id="7" name="p13-reflection"/>
          <p:cNvGrpSpPr/>
          <p:nvPr/>
        </p:nvGrpSpPr>
        <p:grpSpPr>
          <a:xfrm>
            <a:off x="598170" y="2673350"/>
            <a:ext cx="6408172" cy="1446530"/>
            <a:chOff x="598170" y="2673350"/>
            <a:chExt cx="6408172" cy="1446530"/>
          </a:xfrm>
        </p:grpSpPr>
        <p:sp>
          <p:nvSpPr>
            <p:cNvPr id="5" name="TextBox 5"/>
            <p:cNvSpPr txBox="1"/>
            <p:nvPr/>
          </p:nvSpPr>
          <p:spPr>
            <a:xfrm>
              <a:off x="598170" y="2673350"/>
              <a:ext cx="4005304" cy="440055"/>
            </a:xfrm>
            <a:prstGeom prst="rect">
              <a:avLst/>
            </a:prstGeom>
            <a:noFill/>
            <a:ln>
              <a:noFill/>
            </a:ln>
          </p:spPr>
          <p:txBody>
            <a:bodyPr wrap="none" lIns="0" tIns="0" rIns="0" bIns="0" anchor="t" anchorCtr="0">
              <a:spAutoFit/>
            </a:bodyPr>
            <a:lstStyle/>
            <a:p>
              <a:pPr algn="l"/>
              <a:r>
                <a:rPr lang="en-AU" sz="2250" dirty="0">
                  <a:solidFill>
                    <a:srgbClr val="FFFFFF"/>
                  </a:solidFill>
                  <a:latin typeface="+mn-lt"/>
                  <a:ea typeface="+mn-ea"/>
                  <a:cs typeface="+mn-cs"/>
                </a:rPr>
                <a:t>My first plan named supports.</a:t>
              </a:r>
            </a:p>
          </p:txBody>
        </p:sp>
        <p:sp>
          <p:nvSpPr>
            <p:cNvPr id="6" name="TextBox 6"/>
            <p:cNvSpPr txBox="1"/>
            <p:nvPr/>
          </p:nvSpPr>
          <p:spPr>
            <a:xfrm>
              <a:off x="598170" y="3203575"/>
              <a:ext cx="6408172" cy="916305"/>
            </a:xfrm>
            <a:prstGeom prst="rect">
              <a:avLst/>
            </a:prstGeom>
            <a:noFill/>
            <a:ln>
              <a:noFill/>
            </a:ln>
          </p:spPr>
          <p:txBody>
            <a:bodyPr wrap="none" lIns="0" tIns="0" rIns="0" bIns="0" anchor="t" anchorCtr="0">
              <a:spAutoFit/>
            </a:bodyPr>
            <a:lstStyle/>
            <a:p>
              <a:pPr algn="l">
                <a:lnSpc>
                  <a:spcPts val="3750"/>
                </a:lnSpc>
              </a:pPr>
              <a:r>
                <a:rPr lang="en-AU" sz="2250" dirty="0">
                  <a:solidFill>
                    <a:srgbClr val="FFFFFF"/>
                  </a:solidFill>
                  <a:latin typeface="+mn-lt"/>
                  <a:ea typeface="+mn-ea"/>
                  <a:cs typeface="+mn-cs"/>
                </a:rPr>
                <a:t>The next plan must show who acts, what changes,</a:t>
              </a:r>
              <a:br>
                <a:rPr lang="en-AU" sz="2250" dirty="0">
                  <a:solidFill>
                    <a:srgbClr val="FFFFFF"/>
                  </a:solidFill>
                  <a:latin typeface="+mn-lt"/>
                  <a:ea typeface="+mn-ea"/>
                  <a:cs typeface="+mn-cs"/>
                </a:rPr>
              </a:br>
              <a:r>
                <a:rPr lang="en-AU" sz="2250" dirty="0">
                  <a:solidFill>
                    <a:srgbClr val="FFFFFF"/>
                  </a:solidFill>
                  <a:latin typeface="+mn-lt"/>
                  <a:ea typeface="+mn-ea"/>
                  <a:cs typeface="+mn-cs"/>
                </a:rPr>
                <a:t>and whether Jode experiences participation.</a:t>
              </a:r>
            </a:p>
          </p:txBody>
        </p:sp>
      </p:grpSp>
      <p:grpSp>
        <p:nvGrpSpPr>
          <p:cNvPr id="10" name="p13-ask"/>
          <p:cNvGrpSpPr/>
          <p:nvPr/>
        </p:nvGrpSpPr>
        <p:grpSpPr>
          <a:xfrm>
            <a:off x="609600" y="4667250"/>
            <a:ext cx="10972800" cy="1000125"/>
            <a:chOff x="609600" y="4667250"/>
            <a:chExt cx="10972800" cy="1000125"/>
          </a:xfrm>
        </p:grpSpPr>
        <p:sp>
          <p:nvSpPr>
            <p:cNvPr id="8" name="Rectangle 8"/>
            <p:cNvSpPr/>
            <p:nvPr/>
          </p:nvSpPr>
          <p:spPr>
            <a:xfrm>
              <a:off x="609600" y="4667250"/>
              <a:ext cx="10972800" cy="1000125"/>
            </a:xfrm>
            <a:prstGeom prst="roundRect">
              <a:avLst>
                <a:gd name="adj" fmla="val 11429"/>
              </a:avLst>
            </a:prstGeom>
            <a:solidFill>
              <a:srgbClr val="A6DDD2"/>
            </a:solidFill>
            <a:ln>
              <a:noFill/>
            </a:ln>
          </p:spPr>
        </p:sp>
        <p:sp>
          <p:nvSpPr>
            <p:cNvPr id="9" name="TextBox 9"/>
            <p:cNvSpPr txBox="1"/>
            <p:nvPr/>
          </p:nvSpPr>
          <p:spPr>
            <a:xfrm>
              <a:off x="902970" y="5006975"/>
              <a:ext cx="7932409" cy="440055"/>
            </a:xfrm>
            <a:prstGeom prst="rect">
              <a:avLst/>
            </a:prstGeom>
            <a:noFill/>
            <a:ln>
              <a:noFill/>
            </a:ln>
          </p:spPr>
          <p:txBody>
            <a:bodyPr wrap="none" lIns="0" tIns="0" rIns="0" bIns="0" anchor="t" anchorCtr="0">
              <a:spAutoFit/>
            </a:bodyPr>
            <a:lstStyle/>
            <a:p>
              <a:pPr algn="l"/>
              <a:r>
                <a:rPr lang="en-AU" sz="2250" dirty="0">
                  <a:solidFill>
                    <a:schemeClr val="dk1"/>
                  </a:solidFill>
                  <a:latin typeface="+mn-lt"/>
                  <a:ea typeface="+mn-ea"/>
                  <a:cs typeface="+mn-cs"/>
                </a:rPr>
                <a:t>One adjustment. One responsible owner. One review date.</a:t>
              </a:r>
            </a:p>
          </p:txBody>
        </p:sp>
      </p:grpSp>
      <p:grpSp>
        <p:nvGrpSpPr>
          <p:cNvPr id="13" name="p13-footer"/>
          <p:cNvGrpSpPr/>
          <p:nvPr/>
        </p:nvGrpSpPr>
        <p:grpSpPr>
          <a:xfrm>
            <a:off x="603504" y="6276975"/>
            <a:ext cx="10774169" cy="234696"/>
            <a:chOff x="603504" y="6276975"/>
            <a:chExt cx="10774169" cy="234696"/>
          </a:xfrm>
        </p:grpSpPr>
        <p:sp>
          <p:nvSpPr>
            <p:cNvPr id="11" name="TextBox 11"/>
            <p:cNvSpPr txBox="1"/>
            <p:nvPr/>
          </p:nvSpPr>
          <p:spPr>
            <a:xfrm>
              <a:off x="603504" y="6276975"/>
              <a:ext cx="4121283" cy="234696"/>
            </a:xfrm>
            <a:prstGeom prst="rect">
              <a:avLst/>
            </a:prstGeom>
            <a:noFill/>
            <a:ln>
              <a:noFill/>
            </a:ln>
          </p:spPr>
          <p:txBody>
            <a:bodyPr wrap="none" lIns="0" tIns="0" rIns="0" bIns="0" anchor="t" anchorCtr="0">
              <a:spAutoFit/>
            </a:bodyPr>
            <a:lstStyle/>
            <a:p>
              <a:pPr algn="l"/>
              <a:r>
                <a:rPr lang="en-AU" sz="1200" dirty="0">
                  <a:solidFill>
                    <a:srgbClr val="B8D8D2"/>
                  </a:solidFill>
                  <a:latin typeface="+mn-lt"/>
                  <a:ea typeface="+mn-ea"/>
                  <a:cs typeface="+mn-cs"/>
                </a:rPr>
                <a:t>End of spoken presentation · supporting appendix follows</a:t>
              </a:r>
            </a:p>
          </p:txBody>
        </p:sp>
        <p:sp>
          <p:nvSpPr>
            <p:cNvPr id="12" name="TextBox 12"/>
            <p:cNvSpPr txBox="1"/>
            <p:nvPr/>
          </p:nvSpPr>
          <p:spPr>
            <a:xfrm>
              <a:off x="11185779" y="6276975"/>
              <a:ext cx="191894" cy="234696"/>
            </a:xfrm>
            <a:prstGeom prst="rect">
              <a:avLst/>
            </a:prstGeom>
            <a:noFill/>
            <a:ln>
              <a:noFill/>
            </a:ln>
          </p:spPr>
          <p:txBody>
            <a:bodyPr wrap="none" lIns="0" tIns="0" rIns="0" bIns="0" anchor="t" anchorCtr="0">
              <a:spAutoFit/>
            </a:bodyPr>
            <a:lstStyle/>
            <a:p>
              <a:pPr algn="l"/>
              <a:r>
                <a:rPr lang="en-AU" sz="1200" dirty="0">
                  <a:solidFill>
                    <a:srgbClr val="B8D8D2"/>
                  </a:solidFill>
                  <a:latin typeface="+mn-lt"/>
                  <a:ea typeface="+mn-ea"/>
                  <a:cs typeface="+mn-cs"/>
                </a:rPr>
                <a:t>13</a:t>
              </a:r>
            </a:p>
          </p:txBody>
        </p:sp>
      </p:grpSp>
    </p:spTree>
  </p:cSld>
  <p:clrMapOvr>
    <a:masterClrMapping/>
  </p:clrMapOvr>
  <p:transition xmlns:p14="http://schemas.microsoft.com/office/powerpoint/2010/main" p14:dur="400">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14-heading"/>
          <p:cNvGrpSpPr/>
          <p:nvPr/>
        </p:nvGrpSpPr>
        <p:grpSpPr>
          <a:xfrm>
            <a:off x="592836" y="704850"/>
            <a:ext cx="8805281" cy="1058164"/>
            <a:chOff x="592836" y="704850"/>
            <a:chExt cx="8805281" cy="1058164"/>
          </a:xfrm>
        </p:grpSpPr>
        <p:sp>
          <p:nvSpPr>
            <p:cNvPr id="2" name="TextBox 2"/>
            <p:cNvSpPr txBox="1"/>
            <p:nvPr/>
          </p:nvSpPr>
          <p:spPr>
            <a:xfrm>
              <a:off x="603504" y="704850"/>
              <a:ext cx="4782307" cy="234696"/>
            </a:xfrm>
            <a:prstGeom prst="rect">
              <a:avLst/>
            </a:prstGeom>
            <a:noFill/>
            <a:ln>
              <a:noFill/>
            </a:ln>
          </p:spPr>
          <p:txBody>
            <a:bodyPr wrap="none" lIns="0" tIns="0" rIns="0" bIns="0" anchor="t" anchorCtr="0">
              <a:spAutoFit/>
            </a:bodyPr>
            <a:lstStyle/>
            <a:p>
              <a:pPr algn="l"/>
              <a:r>
                <a:rPr lang="en-AU" sz="1200" dirty="0">
                  <a:solidFill>
                    <a:schemeClr val="accent2"/>
                  </a:solidFill>
                  <a:latin typeface="+mn-lt"/>
                  <a:ea typeface="+mn-ea"/>
                  <a:cs typeface="+mn-cs"/>
                </a:rPr>
                <a:t>SUPPORTING MATERIAL · NOT PART OF THE TIMED TALK</a:t>
              </a:r>
            </a:p>
          </p:txBody>
        </p:sp>
        <p:sp>
          <p:nvSpPr>
            <p:cNvPr id="3" name="TextBox 3"/>
            <p:cNvSpPr txBox="1"/>
            <p:nvPr/>
          </p:nvSpPr>
          <p:spPr>
            <a:xfrm>
              <a:off x="592836" y="1117600"/>
              <a:ext cx="8805281" cy="645414"/>
            </a:xfrm>
            <a:prstGeom prst="rect">
              <a:avLst/>
            </a:prstGeom>
            <a:noFill/>
            <a:ln>
              <a:noFill/>
            </a:ln>
          </p:spPr>
          <p:txBody>
            <a:bodyPr wrap="none" lIns="0" tIns="0" rIns="0" bIns="0" anchor="t" anchorCtr="0">
              <a:spAutoFit/>
            </a:bodyPr>
            <a:lstStyle/>
            <a:p>
              <a:pPr algn="l"/>
              <a:r>
                <a:rPr lang="en-AU" sz="3300" dirty="0">
                  <a:solidFill>
                    <a:schemeClr val="dk1"/>
                  </a:solidFill>
                  <a:latin typeface="+mn-lt"/>
                  <a:ea typeface="+mn-ea"/>
                  <a:cs typeface="+mn-cs"/>
                </a:rPr>
                <a:t>Appendix A · proposed goal and data details</a:t>
              </a:r>
            </a:p>
          </p:txBody>
        </p:sp>
      </p:grpSp>
      <p:grpSp>
        <p:nvGrpSpPr>
          <p:cNvPr id="11" name="p14-goals"/>
          <p:cNvGrpSpPr/>
          <p:nvPr/>
        </p:nvGrpSpPr>
        <p:grpSpPr>
          <a:xfrm>
            <a:off x="600456" y="2295525"/>
            <a:ext cx="9022932" cy="2876169"/>
            <a:chOff x="600456" y="2295525"/>
            <a:chExt cx="9022932" cy="2876169"/>
          </a:xfrm>
        </p:grpSpPr>
        <p:sp>
          <p:nvSpPr>
            <p:cNvPr id="5" name="TextBox 5"/>
            <p:cNvSpPr txBox="1"/>
            <p:nvPr/>
          </p:nvSpPr>
          <p:spPr>
            <a:xfrm>
              <a:off x="600456" y="2295525"/>
              <a:ext cx="8519150" cy="352044"/>
            </a:xfrm>
            <a:prstGeom prst="rect">
              <a:avLst/>
            </a:prstGeom>
            <a:noFill/>
            <a:ln>
              <a:noFill/>
            </a:ln>
          </p:spPr>
          <p:txBody>
            <a:bodyPr wrap="none" lIns="0" tIns="0" rIns="0" bIns="0" anchor="t" anchorCtr="0">
              <a:spAutoFit/>
            </a:bodyPr>
            <a:lstStyle/>
            <a:p>
              <a:pPr algn="l"/>
              <a:r>
                <a:rPr lang="en-AU" sz="1800" b="1" dirty="0">
                  <a:solidFill>
                    <a:schemeClr val="dk1"/>
                  </a:solidFill>
                  <a:latin typeface="+mn-lt"/>
                  <a:ea typeface="+mn-ea"/>
                  <a:cs typeface="+mn-cs"/>
                </a:rPr>
                <a:t>Academic · four-week trial:</a:t>
              </a:r>
              <a:r>
                <a:rPr lang="en-AU" sz="1800" dirty="0">
                  <a:solidFill>
                    <a:schemeClr val="dk1"/>
                  </a:solidFill>
                  <a:latin typeface="+mn-lt"/>
                  <a:ea typeface="+mn-ea"/>
                  <a:cs typeface="+mn-cs"/>
                </a:rPr>
                <a:t xml:space="preserve"> identify 4/5 Chinese orders across three samples.</a:t>
              </a:r>
            </a:p>
          </p:txBody>
        </p:sp>
        <p:sp>
          <p:nvSpPr>
            <p:cNvPr id="6" name="TextBox 6"/>
            <p:cNvSpPr txBox="1"/>
            <p:nvPr/>
          </p:nvSpPr>
          <p:spPr>
            <a:xfrm>
              <a:off x="600456" y="2724150"/>
              <a:ext cx="7594981" cy="352044"/>
            </a:xfrm>
            <a:prstGeom prst="rect">
              <a:avLst/>
            </a:prstGeom>
            <a:noFill/>
            <a:ln>
              <a:noFill/>
            </a:ln>
          </p:spPr>
          <p:txBody>
            <a:bodyPr wrap="none" lIns="0" tIns="0" rIns="0" bIns="0" anchor="t" anchorCtr="0">
              <a:spAutoFit/>
            </a:bodyPr>
            <a:lstStyle/>
            <a:p>
              <a:pPr algn="l"/>
              <a:r>
                <a:rPr lang="en-AU" sz="1800" dirty="0">
                  <a:solidFill>
                    <a:schemeClr val="dk1"/>
                  </a:solidFill>
                  <a:latin typeface="+mn-lt"/>
                  <a:ea typeface="+mn-ea"/>
                  <a:cs typeface="+mn-cs"/>
                </a:rPr>
                <a:t>Teacher logs accuracy and prompts; compare with first-week baseline.</a:t>
              </a:r>
            </a:p>
          </p:txBody>
        </p:sp>
        <p:sp>
          <p:nvSpPr>
            <p:cNvPr id="7" name="TextBox 7"/>
            <p:cNvSpPr txBox="1"/>
            <p:nvPr/>
          </p:nvSpPr>
          <p:spPr>
            <a:xfrm>
              <a:off x="600456" y="3343275"/>
              <a:ext cx="9022932" cy="352044"/>
            </a:xfrm>
            <a:prstGeom prst="rect">
              <a:avLst/>
            </a:prstGeom>
            <a:noFill/>
            <a:ln>
              <a:noFill/>
            </a:ln>
          </p:spPr>
          <p:txBody>
            <a:bodyPr wrap="none" lIns="0" tIns="0" rIns="0" bIns="0" anchor="t" anchorCtr="0">
              <a:spAutoFit/>
            </a:bodyPr>
            <a:lstStyle/>
            <a:p>
              <a:pPr algn="l"/>
              <a:r>
                <a:rPr lang="en-AU" sz="1800" b="1" dirty="0">
                  <a:solidFill>
                    <a:schemeClr val="dk1"/>
                  </a:solidFill>
                  <a:latin typeface="+mn-lt"/>
                  <a:ea typeface="+mn-ea"/>
                  <a:cs typeface="+mn-cs"/>
                </a:rPr>
                <a:t>Communication:</a:t>
              </a:r>
              <a:r>
                <a:rPr lang="en-AU" sz="1800" dirty="0">
                  <a:solidFill>
                    <a:schemeClr val="dk1"/>
                  </a:solidFill>
                  <a:latin typeface="+mn-lt"/>
                  <a:ea typeface="+mn-ea"/>
                  <a:cs typeface="+mn-cs"/>
                </a:rPr>
                <a:t xml:space="preserve"> retain two preferred-mode contributions; record partner response.</a:t>
              </a:r>
            </a:p>
          </p:txBody>
        </p:sp>
        <p:sp>
          <p:nvSpPr>
            <p:cNvPr id="8" name="TextBox 8"/>
            <p:cNvSpPr txBox="1"/>
            <p:nvPr/>
          </p:nvSpPr>
          <p:spPr>
            <a:xfrm>
              <a:off x="600456" y="3771900"/>
              <a:ext cx="8687312" cy="352044"/>
            </a:xfrm>
            <a:prstGeom prst="rect">
              <a:avLst/>
            </a:prstGeom>
            <a:noFill/>
            <a:ln>
              <a:noFill/>
            </a:ln>
          </p:spPr>
          <p:txBody>
            <a:bodyPr wrap="none" lIns="0" tIns="0" rIns="0" bIns="0" anchor="t" anchorCtr="0">
              <a:spAutoFit/>
            </a:bodyPr>
            <a:lstStyle/>
            <a:p>
              <a:pPr algn="l"/>
              <a:r>
                <a:rPr lang="en-AU" sz="1800" b="1" dirty="0">
                  <a:solidFill>
                    <a:schemeClr val="dk1"/>
                  </a:solidFill>
                  <a:latin typeface="+mn-lt"/>
                  <a:ea typeface="+mn-ea"/>
                  <a:cs typeface="+mn-cs"/>
                </a:rPr>
                <a:t>Self-advocacy:</a:t>
              </a:r>
              <a:r>
                <a:rPr lang="en-AU" sz="1800" dirty="0">
                  <a:solidFill>
                    <a:schemeClr val="dk1"/>
                  </a:solidFill>
                  <a:latin typeface="+mn-lt"/>
                  <a:ea typeface="+mn-ea"/>
                  <a:cs typeface="+mn-cs"/>
                </a:rPr>
                <a:t xml:space="preserve"> rehearse requesting help or rest; record opportunity and access.</a:t>
              </a:r>
            </a:p>
          </p:txBody>
        </p:sp>
        <p:sp>
          <p:nvSpPr>
            <p:cNvPr id="9" name="TextBox 9"/>
            <p:cNvSpPr txBox="1"/>
            <p:nvPr/>
          </p:nvSpPr>
          <p:spPr>
            <a:xfrm>
              <a:off x="600456" y="4391025"/>
              <a:ext cx="8794406" cy="352044"/>
            </a:xfrm>
            <a:prstGeom prst="rect">
              <a:avLst/>
            </a:prstGeom>
            <a:noFill/>
            <a:ln>
              <a:noFill/>
            </a:ln>
          </p:spPr>
          <p:txBody>
            <a:bodyPr wrap="none" lIns="0" tIns="0" rIns="0" bIns="0" anchor="t" anchorCtr="0">
              <a:spAutoFit/>
            </a:bodyPr>
            <a:lstStyle/>
            <a:p>
              <a:pPr algn="l"/>
              <a:r>
                <a:rPr lang="en-AU" sz="1800" b="1" dirty="0">
                  <a:solidFill>
                    <a:schemeClr val="dk1"/>
                  </a:solidFill>
                  <a:latin typeface="+mn-lt"/>
                  <a:ea typeface="+mn-ea"/>
                  <a:cs typeface="+mn-cs"/>
                </a:rPr>
                <a:t>Safety:</a:t>
              </a:r>
              <a:r>
                <a:rPr lang="en-AU" sz="1800" dirty="0">
                  <a:solidFill>
                    <a:schemeClr val="dk1"/>
                  </a:solidFill>
                  <a:latin typeface="+mn-lt"/>
                  <a:ea typeface="+mn-ea"/>
                  <a:cs typeface="+mn-cs"/>
                </a:rPr>
                <a:t xml:space="preserve"> same-day action on reports; next-day follow-up; weekly student feedback.</a:t>
              </a:r>
            </a:p>
          </p:txBody>
        </p:sp>
        <p:sp>
          <p:nvSpPr>
            <p:cNvPr id="10" name="TextBox 10"/>
            <p:cNvSpPr txBox="1"/>
            <p:nvPr/>
          </p:nvSpPr>
          <p:spPr>
            <a:xfrm>
              <a:off x="600456" y="4819650"/>
              <a:ext cx="8324699" cy="352044"/>
            </a:xfrm>
            <a:prstGeom prst="rect">
              <a:avLst/>
            </a:prstGeom>
            <a:noFill/>
            <a:ln>
              <a:noFill/>
            </a:ln>
          </p:spPr>
          <p:txBody>
            <a:bodyPr wrap="none" lIns="0" tIns="0" rIns="0" bIns="0" anchor="t" anchorCtr="0">
              <a:spAutoFit/>
            </a:bodyPr>
            <a:lstStyle/>
            <a:p>
              <a:pPr algn="l"/>
              <a:r>
                <a:rPr lang="en-AU" sz="1800" b="1" dirty="0">
                  <a:solidFill>
                    <a:schemeClr val="dk1"/>
                  </a:solidFill>
                  <a:latin typeface="+mn-lt"/>
                  <a:ea typeface="+mn-ea"/>
                  <a:cs typeface="+mn-cs"/>
                </a:rPr>
                <a:t>Year end:</a:t>
              </a:r>
              <a:r>
                <a:rPr lang="en-AU" sz="1800" dirty="0">
                  <a:solidFill>
                    <a:schemeClr val="dk1"/>
                  </a:solidFill>
                  <a:latin typeface="+mn-lt"/>
                  <a:ea typeface="+mn-ea"/>
                  <a:cs typeface="+mn-cs"/>
                </a:rPr>
                <a:t xml:space="preserve"> accessible agreed activities and app prototype with user feedback.</a:t>
              </a:r>
            </a:p>
          </p:txBody>
        </p:sp>
      </p:grpSp>
      <p:grpSp>
        <p:nvGrpSpPr>
          <p:cNvPr id="13" name="p14-qualifier"/>
          <p:cNvGrpSpPr/>
          <p:nvPr/>
        </p:nvGrpSpPr>
        <p:grpSpPr>
          <a:xfrm>
            <a:off x="600456" y="5629275"/>
            <a:ext cx="7904726" cy="352044"/>
            <a:chOff x="600456" y="5629275"/>
            <a:chExt cx="7904726" cy="352044"/>
          </a:xfrm>
        </p:grpSpPr>
        <p:sp>
          <p:nvSpPr>
            <p:cNvPr id="12" name="TextBox 12"/>
            <p:cNvSpPr txBox="1"/>
            <p:nvPr/>
          </p:nvSpPr>
          <p:spPr>
            <a:xfrm>
              <a:off x="600456" y="5629275"/>
              <a:ext cx="7904726" cy="352044"/>
            </a:xfrm>
            <a:prstGeom prst="rect">
              <a:avLst/>
            </a:prstGeom>
            <a:noFill/>
            <a:ln>
              <a:noFill/>
            </a:ln>
          </p:spPr>
          <p:txBody>
            <a:bodyPr wrap="none" lIns="0" tIns="0" rIns="0" bIns="0" anchor="t" anchorCtr="0">
              <a:spAutoFit/>
            </a:bodyPr>
            <a:lstStyle/>
            <a:p>
              <a:pPr algn="l"/>
              <a:r>
                <a:rPr lang="en-AU" sz="1800" dirty="0">
                  <a:solidFill>
                    <a:schemeClr val="accent2"/>
                  </a:solidFill>
                  <a:latin typeface="+mn-lt"/>
                  <a:ea typeface="+mn-ea"/>
                  <a:cs typeface="+mn-cs"/>
                </a:rPr>
                <a:t>Illustrative criteria: negotiate after baseline; no progress data are claimed.</a:t>
              </a:r>
            </a:p>
          </p:txBody>
        </p:sp>
      </p:grpSp>
      <p:grpSp>
        <p:nvGrpSpPr>
          <p:cNvPr id="16" name="p14-footer"/>
          <p:cNvGrpSpPr/>
          <p:nvPr/>
        </p:nvGrpSpPr>
        <p:grpSpPr>
          <a:xfrm>
            <a:off x="603504" y="6276975"/>
            <a:ext cx="10774169" cy="234696"/>
            <a:chOff x="603504" y="6276975"/>
            <a:chExt cx="10774169" cy="234696"/>
          </a:xfrm>
        </p:grpSpPr>
        <p:sp>
          <p:nvSpPr>
            <p:cNvPr id="14" name="TextBox 14"/>
            <p:cNvSpPr txBox="1"/>
            <p:nvPr/>
          </p:nvSpPr>
          <p:spPr>
            <a:xfrm>
              <a:off x="603504" y="6276975"/>
              <a:ext cx="7996897" cy="234696"/>
            </a:xfrm>
            <a:prstGeom prst="rect">
              <a:avLst/>
            </a:prstGeom>
            <a:noFill/>
            <a:ln>
              <a:noFill/>
            </a:ln>
          </p:spPr>
          <p:txBody>
            <a:bodyPr wrap="none" lIns="0" tIns="0" rIns="0" bIns="0" anchor="t" anchorCtr="0">
              <a:spAutoFit/>
            </a:bodyPr>
            <a:lstStyle/>
            <a:p>
              <a:pPr algn="l"/>
              <a:r>
                <a:rPr lang="en-AU" sz="1200" dirty="0">
                  <a:solidFill>
                    <a:schemeClr val="accent5"/>
                  </a:solidFill>
                  <a:latin typeface="+mn-lt"/>
                  <a:ea typeface="+mn-ea"/>
                  <a:cs typeface="+mn-cs"/>
                </a:rPr>
                <a:t>Teacher: learning log. Coordinator: access record. Wellbeing lead: safety record. Jode and family: review voice.</a:t>
              </a:r>
            </a:p>
          </p:txBody>
        </p:sp>
        <p:sp>
          <p:nvSpPr>
            <p:cNvPr id="15" name="TextBox 15"/>
            <p:cNvSpPr txBox="1"/>
            <p:nvPr/>
          </p:nvSpPr>
          <p:spPr>
            <a:xfrm>
              <a:off x="11185779" y="6276975"/>
              <a:ext cx="191894" cy="234696"/>
            </a:xfrm>
            <a:prstGeom prst="rect">
              <a:avLst/>
            </a:prstGeom>
            <a:noFill/>
            <a:ln>
              <a:noFill/>
            </a:ln>
          </p:spPr>
          <p:txBody>
            <a:bodyPr wrap="none" lIns="0" tIns="0" rIns="0" bIns="0" anchor="t" anchorCtr="0">
              <a:spAutoFit/>
            </a:bodyPr>
            <a:lstStyle/>
            <a:p>
              <a:pPr algn="l"/>
              <a:r>
                <a:rPr lang="en-AU" sz="1200" dirty="0">
                  <a:solidFill>
                    <a:schemeClr val="accent5"/>
                  </a:solidFill>
                  <a:latin typeface="+mn-lt"/>
                  <a:ea typeface="+mn-ea"/>
                  <a:cs typeface="+mn-cs"/>
                </a:rPr>
                <a:t>14</a:t>
              </a:r>
            </a:p>
          </p:txBody>
        </p:sp>
      </p:grpSp>
    </p:spTree>
  </p:cSld>
  <p:clrMapOvr>
    <a:masterClrMapping/>
  </p:clrMapOvr>
  <p:transition xmlns:p14="http://schemas.microsoft.com/office/powerpoint/2010/main" p14:dur="400">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15-heading"/>
          <p:cNvGrpSpPr/>
          <p:nvPr/>
        </p:nvGrpSpPr>
        <p:grpSpPr>
          <a:xfrm>
            <a:off x="592836" y="704850"/>
            <a:ext cx="8680311" cy="1058164"/>
            <a:chOff x="592836" y="704850"/>
            <a:chExt cx="8680311" cy="1058164"/>
          </a:xfrm>
        </p:grpSpPr>
        <p:sp>
          <p:nvSpPr>
            <p:cNvPr id="2" name="TextBox 2"/>
            <p:cNvSpPr txBox="1"/>
            <p:nvPr/>
          </p:nvSpPr>
          <p:spPr>
            <a:xfrm>
              <a:off x="603504" y="704850"/>
              <a:ext cx="3919411" cy="234696"/>
            </a:xfrm>
            <a:prstGeom prst="rect">
              <a:avLst/>
            </a:prstGeom>
            <a:noFill/>
            <a:ln>
              <a:noFill/>
            </a:ln>
          </p:spPr>
          <p:txBody>
            <a:bodyPr wrap="none" lIns="0" tIns="0" rIns="0" bIns="0" anchor="t" anchorCtr="0">
              <a:spAutoFit/>
            </a:bodyPr>
            <a:lstStyle/>
            <a:p>
              <a:pPr algn="l"/>
              <a:r>
                <a:rPr lang="en-AU" sz="1200" dirty="0">
                  <a:solidFill>
                    <a:schemeClr val="accent2"/>
                  </a:solidFill>
                  <a:latin typeface="+mn-lt"/>
                  <a:ea typeface="+mn-ea"/>
                  <a:cs typeface="+mn-cs"/>
                </a:rPr>
                <a:t>SUPPORTING MATERIAL · ADJUSTMENT LOGIC</a:t>
              </a:r>
            </a:p>
          </p:txBody>
        </p:sp>
        <p:sp>
          <p:nvSpPr>
            <p:cNvPr id="3" name="TextBox 3"/>
            <p:cNvSpPr txBox="1"/>
            <p:nvPr/>
          </p:nvSpPr>
          <p:spPr>
            <a:xfrm>
              <a:off x="592836" y="1117600"/>
              <a:ext cx="8680311" cy="645414"/>
            </a:xfrm>
            <a:prstGeom prst="rect">
              <a:avLst/>
            </a:prstGeom>
            <a:noFill/>
            <a:ln>
              <a:noFill/>
            </a:ln>
          </p:spPr>
          <p:txBody>
            <a:bodyPr wrap="none" lIns="0" tIns="0" rIns="0" bIns="0" anchor="t" anchorCtr="0">
              <a:spAutoFit/>
            </a:bodyPr>
            <a:lstStyle/>
            <a:p>
              <a:pPr algn="l"/>
              <a:r>
                <a:rPr lang="en-AU" sz="3300" dirty="0">
                  <a:solidFill>
                    <a:schemeClr val="dk1"/>
                  </a:solidFill>
                  <a:latin typeface="+mn-lt"/>
                  <a:ea typeface="+mn-ea"/>
                  <a:cs typeface="+mn-cs"/>
                </a:rPr>
                <a:t>Appendix B · connect barriers and evidence</a:t>
              </a:r>
            </a:p>
          </p:txBody>
        </p:sp>
      </p:grpSp>
      <p:grpSp>
        <p:nvGrpSpPr>
          <p:cNvPr id="12" name="p15-adjustments"/>
          <p:cNvGrpSpPr/>
          <p:nvPr/>
        </p:nvGrpSpPr>
        <p:grpSpPr>
          <a:xfrm>
            <a:off x="600456" y="2295525"/>
            <a:ext cx="9668055" cy="3209544"/>
            <a:chOff x="600456" y="2295525"/>
            <a:chExt cx="9668055" cy="3209544"/>
          </a:xfrm>
        </p:grpSpPr>
        <p:sp>
          <p:nvSpPr>
            <p:cNvPr id="5" name="TextBox 5"/>
            <p:cNvSpPr txBox="1"/>
            <p:nvPr/>
          </p:nvSpPr>
          <p:spPr>
            <a:xfrm>
              <a:off x="600456" y="2295525"/>
              <a:ext cx="8969787" cy="352044"/>
            </a:xfrm>
            <a:prstGeom prst="rect">
              <a:avLst/>
            </a:prstGeom>
            <a:noFill/>
            <a:ln>
              <a:noFill/>
            </a:ln>
          </p:spPr>
          <p:txBody>
            <a:bodyPr wrap="none" lIns="0" tIns="0" rIns="0" bIns="0" anchor="t" anchorCtr="0">
              <a:spAutoFit/>
            </a:bodyPr>
            <a:lstStyle/>
            <a:p>
              <a:pPr algn="l"/>
              <a:r>
                <a:rPr lang="en-AU" sz="1800" b="1" dirty="0">
                  <a:solidFill>
                    <a:schemeClr val="dk1"/>
                  </a:solidFill>
                  <a:latin typeface="+mn-lt"/>
                  <a:ea typeface="+mn-ea"/>
                  <a:cs typeface="+mn-cs"/>
                </a:rPr>
                <a:t>Memory/fatigue:</a:t>
              </a:r>
              <a:r>
                <a:rPr lang="en-AU" sz="1800" dirty="0">
                  <a:solidFill>
                    <a:schemeClr val="dk1"/>
                  </a:solidFill>
                  <a:latin typeface="+mn-lt"/>
                  <a:ea typeface="+mn-ea"/>
                  <a:cs typeface="+mn-cs"/>
                </a:rPr>
                <a:t xml:space="preserve"> one visible task step; model and replay; log accuracy and fatigue.</a:t>
              </a:r>
            </a:p>
          </p:txBody>
        </p:sp>
        <p:sp>
          <p:nvSpPr>
            <p:cNvPr id="6" name="TextBox 6"/>
            <p:cNvSpPr txBox="1"/>
            <p:nvPr/>
          </p:nvSpPr>
          <p:spPr>
            <a:xfrm>
              <a:off x="600456" y="2676525"/>
              <a:ext cx="9668055" cy="352044"/>
            </a:xfrm>
            <a:prstGeom prst="rect">
              <a:avLst/>
            </a:prstGeom>
            <a:noFill/>
            <a:ln>
              <a:noFill/>
            </a:ln>
          </p:spPr>
          <p:txBody>
            <a:bodyPr wrap="none" lIns="0" tIns="0" rIns="0" bIns="0" anchor="t" anchorCtr="0">
              <a:spAutoFit/>
            </a:bodyPr>
            <a:lstStyle/>
            <a:p>
              <a:pPr algn="l"/>
              <a:r>
                <a:rPr lang="en-AU" sz="1800" dirty="0">
                  <a:solidFill>
                    <a:schemeClr val="accent5"/>
                  </a:solidFill>
                  <a:latin typeface="+mn-lt"/>
                  <a:ea typeface="+mn-ea"/>
                  <a:cs typeface="+mn-cs"/>
                </a:rPr>
                <a:t>CESE; Rosenshine; ASHA TBI. General instruction evidence is not a recovery prognosis.</a:t>
              </a:r>
            </a:p>
          </p:txBody>
        </p:sp>
        <p:sp>
          <p:nvSpPr>
            <p:cNvPr id="7" name="TextBox 7"/>
            <p:cNvSpPr txBox="1"/>
            <p:nvPr/>
          </p:nvSpPr>
          <p:spPr>
            <a:xfrm>
              <a:off x="600456" y="3248025"/>
              <a:ext cx="9039421" cy="352044"/>
            </a:xfrm>
            <a:prstGeom prst="rect">
              <a:avLst/>
            </a:prstGeom>
            <a:noFill/>
            <a:ln>
              <a:noFill/>
            </a:ln>
          </p:spPr>
          <p:txBody>
            <a:bodyPr wrap="none" lIns="0" tIns="0" rIns="0" bIns="0" anchor="t" anchorCtr="0">
              <a:spAutoFit/>
            </a:bodyPr>
            <a:lstStyle/>
            <a:p>
              <a:pPr algn="l"/>
              <a:r>
                <a:rPr lang="en-AU" sz="1800" b="1" dirty="0">
                  <a:solidFill>
                    <a:schemeClr val="dk1"/>
                  </a:solidFill>
                  <a:latin typeface="+mn-lt"/>
                  <a:ea typeface="+mn-ea"/>
                  <a:cs typeface="+mn-cs"/>
                </a:rPr>
                <a:t>Motor/AAC:</a:t>
              </a:r>
              <a:r>
                <a:rPr lang="en-AU" sz="1800" dirty="0">
                  <a:solidFill>
                    <a:schemeClr val="dk1"/>
                  </a:solidFill>
                  <a:latin typeface="+mn-lt"/>
                  <a:ea typeface="+mn-ea"/>
                  <a:cs typeface="+mn-cs"/>
                </a:rPr>
                <a:t xml:space="preserve"> student, environment, task and tool trial; log effort and reciprocal turns.</a:t>
              </a:r>
            </a:p>
          </p:txBody>
        </p:sp>
        <p:sp>
          <p:nvSpPr>
            <p:cNvPr id="8" name="TextBox 8"/>
            <p:cNvSpPr txBox="1"/>
            <p:nvPr/>
          </p:nvSpPr>
          <p:spPr>
            <a:xfrm>
              <a:off x="600456" y="3629025"/>
              <a:ext cx="9014784" cy="352044"/>
            </a:xfrm>
            <a:prstGeom prst="rect">
              <a:avLst/>
            </a:prstGeom>
            <a:noFill/>
            <a:ln>
              <a:noFill/>
            </a:ln>
          </p:spPr>
          <p:txBody>
            <a:bodyPr wrap="none" lIns="0" tIns="0" rIns="0" bIns="0" anchor="t" anchorCtr="0">
              <a:spAutoFit/>
            </a:bodyPr>
            <a:lstStyle/>
            <a:p>
              <a:pPr algn="l"/>
              <a:r>
                <a:rPr lang="en-AU" sz="1800" dirty="0">
                  <a:solidFill>
                    <a:schemeClr val="accent5"/>
                  </a:solidFill>
                  <a:latin typeface="+mn-lt"/>
                  <a:ea typeface="+mn-ea"/>
                  <a:cs typeface="+mn-cs"/>
                </a:rPr>
                <a:t>ASHA AAC. Selection depends on Jode, task demands, OT and speech pathology.</a:t>
              </a:r>
            </a:p>
          </p:txBody>
        </p:sp>
        <p:sp>
          <p:nvSpPr>
            <p:cNvPr id="9" name="TextBox 9"/>
            <p:cNvSpPr txBox="1"/>
            <p:nvPr/>
          </p:nvSpPr>
          <p:spPr>
            <a:xfrm>
              <a:off x="600456" y="4200525"/>
              <a:ext cx="9490567" cy="352044"/>
            </a:xfrm>
            <a:prstGeom prst="rect">
              <a:avLst/>
            </a:prstGeom>
            <a:noFill/>
            <a:ln>
              <a:noFill/>
            </a:ln>
          </p:spPr>
          <p:txBody>
            <a:bodyPr wrap="none" lIns="0" tIns="0" rIns="0" bIns="0" anchor="t" anchorCtr="0">
              <a:spAutoFit/>
            </a:bodyPr>
            <a:lstStyle/>
            <a:p>
              <a:pPr algn="l"/>
              <a:r>
                <a:rPr lang="en-AU" sz="1800" b="1" dirty="0">
                  <a:solidFill>
                    <a:schemeClr val="dk1"/>
                  </a:solidFill>
                  <a:latin typeface="+mn-lt"/>
                  <a:ea typeface="+mn-ea"/>
                  <a:cs typeface="+mn-cs"/>
                </a:rPr>
                <a:t>Physical access:</a:t>
              </a:r>
              <a:r>
                <a:rPr lang="en-AU" sz="1800" dirty="0">
                  <a:solidFill>
                    <a:schemeClr val="dk1"/>
                  </a:solidFill>
                  <a:latin typeface="+mn-lt"/>
                  <a:ea typeface="+mn-ea"/>
                  <a:cs typeface="+mn-cs"/>
                </a:rPr>
                <a:t xml:space="preserve"> book stand in library, adapted workstation in ICT lab, clear gym entry.</a:t>
              </a:r>
            </a:p>
          </p:txBody>
        </p:sp>
        <p:sp>
          <p:nvSpPr>
            <p:cNvPr id="10" name="TextBox 10"/>
            <p:cNvSpPr txBox="1"/>
            <p:nvPr/>
          </p:nvSpPr>
          <p:spPr>
            <a:xfrm>
              <a:off x="600456" y="4581525"/>
              <a:ext cx="8019111" cy="352044"/>
            </a:xfrm>
            <a:prstGeom prst="rect">
              <a:avLst/>
            </a:prstGeom>
            <a:noFill/>
            <a:ln>
              <a:noFill/>
            </a:ln>
          </p:spPr>
          <p:txBody>
            <a:bodyPr wrap="none" lIns="0" tIns="0" rIns="0" bIns="0" anchor="t" anchorCtr="0">
              <a:spAutoFit/>
            </a:bodyPr>
            <a:lstStyle/>
            <a:p>
              <a:pPr algn="l"/>
              <a:r>
                <a:rPr lang="en-AU" sz="1800" dirty="0">
                  <a:solidFill>
                    <a:schemeClr val="dk1"/>
                  </a:solidFill>
                  <a:latin typeface="+mn-lt"/>
                  <a:ea typeface="+mn-ea"/>
                  <a:cs typeface="+mn-cs"/>
                </a:rPr>
                <a:t>Facilities lead verifies routes, transitions and evacuation; review with Jode.</a:t>
              </a:r>
            </a:p>
          </p:txBody>
        </p:sp>
        <p:sp>
          <p:nvSpPr>
            <p:cNvPr id="11" name="TextBox 11"/>
            <p:cNvSpPr txBox="1"/>
            <p:nvPr/>
          </p:nvSpPr>
          <p:spPr>
            <a:xfrm>
              <a:off x="600456" y="5153025"/>
              <a:ext cx="8889292" cy="352044"/>
            </a:xfrm>
            <a:prstGeom prst="rect">
              <a:avLst/>
            </a:prstGeom>
            <a:noFill/>
            <a:ln>
              <a:noFill/>
            </a:ln>
          </p:spPr>
          <p:txBody>
            <a:bodyPr wrap="none" lIns="0" tIns="0" rIns="0" bIns="0" anchor="t" anchorCtr="0">
              <a:spAutoFit/>
            </a:bodyPr>
            <a:lstStyle/>
            <a:p>
              <a:pPr algn="l"/>
              <a:r>
                <a:rPr lang="en-AU" sz="1800" b="1" dirty="0">
                  <a:solidFill>
                    <a:schemeClr val="dk1"/>
                  </a:solidFill>
                  <a:latin typeface="+mn-lt"/>
                  <a:ea typeface="+mn-ea"/>
                  <a:cs typeface="+mn-cs"/>
                </a:rPr>
                <a:t>Fair assessment:</a:t>
              </a:r>
              <a:r>
                <a:rPr lang="en-AU" sz="1800" dirty="0">
                  <a:solidFill>
                    <a:schemeClr val="dk1"/>
                  </a:solidFill>
                  <a:latin typeface="+mn-lt"/>
                  <a:ea typeface="+mn-ea"/>
                  <a:cs typeface="+mn-cs"/>
                </a:rPr>
                <a:t xml:space="preserve"> preserve the target skill; document any change to the construct.</a:t>
              </a:r>
            </a:p>
          </p:txBody>
        </p:sp>
      </p:grpSp>
      <p:grpSp>
        <p:nvGrpSpPr>
          <p:cNvPr id="15" name="p15-footer"/>
          <p:cNvGrpSpPr/>
          <p:nvPr/>
        </p:nvGrpSpPr>
        <p:grpSpPr>
          <a:xfrm>
            <a:off x="603504" y="6276975"/>
            <a:ext cx="10774169" cy="234696"/>
            <a:chOff x="603504" y="6276975"/>
            <a:chExt cx="10774169" cy="234696"/>
          </a:xfrm>
        </p:grpSpPr>
        <p:sp>
          <p:nvSpPr>
            <p:cNvPr id="13" name="TextBox 13"/>
            <p:cNvSpPr txBox="1"/>
            <p:nvPr/>
          </p:nvSpPr>
          <p:spPr>
            <a:xfrm>
              <a:off x="603504" y="6276975"/>
              <a:ext cx="6518051" cy="234696"/>
            </a:xfrm>
            <a:prstGeom prst="rect">
              <a:avLst/>
            </a:prstGeom>
            <a:noFill/>
            <a:ln>
              <a:noFill/>
            </a:ln>
          </p:spPr>
          <p:txBody>
            <a:bodyPr wrap="none" lIns="0" tIns="0" rIns="0" bIns="0" anchor="t" anchorCtr="0">
              <a:spAutoFit/>
            </a:bodyPr>
            <a:lstStyle/>
            <a:p>
              <a:pPr algn="l"/>
              <a:r>
                <a:rPr lang="en-AU" sz="1200" dirty="0">
                  <a:solidFill>
                    <a:schemeClr val="accent5"/>
                  </a:solidFill>
                  <a:latin typeface="+mn-lt"/>
                  <a:ea typeface="+mn-ea"/>
                  <a:cs typeface="+mn-cs"/>
                </a:rPr>
                <a:t>These are proposed trials, not evidence that one tool or strategy will work for every learner.</a:t>
              </a:r>
            </a:p>
          </p:txBody>
        </p:sp>
        <p:sp>
          <p:nvSpPr>
            <p:cNvPr id="14" name="TextBox 14"/>
            <p:cNvSpPr txBox="1"/>
            <p:nvPr/>
          </p:nvSpPr>
          <p:spPr>
            <a:xfrm>
              <a:off x="11185779" y="6276975"/>
              <a:ext cx="191894" cy="234696"/>
            </a:xfrm>
            <a:prstGeom prst="rect">
              <a:avLst/>
            </a:prstGeom>
            <a:noFill/>
            <a:ln>
              <a:noFill/>
            </a:ln>
          </p:spPr>
          <p:txBody>
            <a:bodyPr wrap="none" lIns="0" tIns="0" rIns="0" bIns="0" anchor="t" anchorCtr="0">
              <a:spAutoFit/>
            </a:bodyPr>
            <a:lstStyle/>
            <a:p>
              <a:pPr algn="l"/>
              <a:r>
                <a:rPr lang="en-AU" sz="1200" dirty="0">
                  <a:solidFill>
                    <a:schemeClr val="accent5"/>
                  </a:solidFill>
                  <a:latin typeface="+mn-lt"/>
                  <a:ea typeface="+mn-ea"/>
                  <a:cs typeface="+mn-cs"/>
                </a:rPr>
                <a:t>15</a:t>
              </a:r>
            </a:p>
          </p:txBody>
        </p:sp>
      </p:grpSp>
    </p:spTree>
  </p:cSld>
  <p:clrMapOvr>
    <a:masterClrMapping/>
  </p:clrMapOvr>
  <p:transition xmlns:p14="http://schemas.microsoft.com/office/powerpoint/2010/main" p14:dur="400">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16-heading"/>
          <p:cNvGrpSpPr/>
          <p:nvPr/>
        </p:nvGrpSpPr>
        <p:grpSpPr>
          <a:xfrm>
            <a:off x="592836" y="704850"/>
            <a:ext cx="6852263" cy="1058164"/>
            <a:chOff x="592836" y="704850"/>
            <a:chExt cx="6852263" cy="1058164"/>
          </a:xfrm>
        </p:grpSpPr>
        <p:sp>
          <p:nvSpPr>
            <p:cNvPr id="2" name="TextBox 2"/>
            <p:cNvSpPr txBox="1"/>
            <p:nvPr/>
          </p:nvSpPr>
          <p:spPr>
            <a:xfrm>
              <a:off x="603504" y="704850"/>
              <a:ext cx="5531866" cy="234696"/>
            </a:xfrm>
            <a:prstGeom prst="rect">
              <a:avLst/>
            </a:prstGeom>
            <a:noFill/>
            <a:ln>
              <a:noFill/>
            </a:ln>
          </p:spPr>
          <p:txBody>
            <a:bodyPr wrap="none" lIns="0" tIns="0" rIns="0" bIns="0" anchor="t" anchorCtr="0">
              <a:spAutoFit/>
            </a:bodyPr>
            <a:lstStyle/>
            <a:p>
              <a:pPr algn="l"/>
              <a:r>
                <a:rPr lang="en-AU" sz="1200" dirty="0">
                  <a:solidFill>
                    <a:schemeClr val="accent2"/>
                  </a:solidFill>
                  <a:latin typeface="+mn-lt"/>
                  <a:ea typeface="+mn-ea"/>
                  <a:cs typeface="+mn-cs"/>
                </a:rPr>
                <a:t>SUPPORTING MATERIAL · RIGHTS AND PROFESSIONAL PRACTICE</a:t>
              </a:r>
            </a:p>
          </p:txBody>
        </p:sp>
        <p:sp>
          <p:nvSpPr>
            <p:cNvPr id="3" name="TextBox 3"/>
            <p:cNvSpPr txBox="1"/>
            <p:nvPr/>
          </p:nvSpPr>
          <p:spPr>
            <a:xfrm>
              <a:off x="592836" y="1117600"/>
              <a:ext cx="6852263" cy="645414"/>
            </a:xfrm>
            <a:prstGeom prst="rect">
              <a:avLst/>
            </a:prstGeom>
            <a:noFill/>
            <a:ln>
              <a:noFill/>
            </a:ln>
          </p:spPr>
          <p:txBody>
            <a:bodyPr wrap="none" lIns="0" tIns="0" rIns="0" bIns="0" anchor="t" anchorCtr="0">
              <a:spAutoFit/>
            </a:bodyPr>
            <a:lstStyle/>
            <a:p>
              <a:pPr algn="l"/>
              <a:r>
                <a:rPr lang="en-AU" sz="3300" dirty="0">
                  <a:solidFill>
                    <a:schemeClr val="dk1"/>
                  </a:solidFill>
                  <a:latin typeface="+mn-lt"/>
                  <a:ea typeface="+mn-ea"/>
                  <a:cs typeface="+mn-cs"/>
                </a:rPr>
                <a:t>Appendix C · standards into action</a:t>
              </a:r>
            </a:p>
          </p:txBody>
        </p:sp>
      </p:grpSp>
      <p:grpSp>
        <p:nvGrpSpPr>
          <p:cNvPr id="12" name="p16-crosswalk"/>
          <p:cNvGrpSpPr/>
          <p:nvPr/>
        </p:nvGrpSpPr>
        <p:grpSpPr>
          <a:xfrm>
            <a:off x="600456" y="2295525"/>
            <a:ext cx="10717876" cy="3209544"/>
            <a:chOff x="600456" y="2295525"/>
            <a:chExt cx="10717876" cy="3209544"/>
          </a:xfrm>
        </p:grpSpPr>
        <p:sp>
          <p:nvSpPr>
            <p:cNvPr id="5" name="TextBox 5"/>
            <p:cNvSpPr txBox="1"/>
            <p:nvPr/>
          </p:nvSpPr>
          <p:spPr>
            <a:xfrm>
              <a:off x="600456" y="2295525"/>
              <a:ext cx="9957794" cy="352044"/>
            </a:xfrm>
            <a:prstGeom prst="rect">
              <a:avLst/>
            </a:prstGeom>
            <a:noFill/>
            <a:ln>
              <a:noFill/>
            </a:ln>
          </p:spPr>
          <p:txBody>
            <a:bodyPr wrap="none" lIns="0" tIns="0" rIns="0" bIns="0" anchor="t" anchorCtr="0">
              <a:spAutoFit/>
            </a:bodyPr>
            <a:lstStyle/>
            <a:p>
              <a:pPr algn="l"/>
              <a:r>
                <a:rPr lang="en-AU" sz="1800" b="1" dirty="0">
                  <a:solidFill>
                    <a:schemeClr val="dk1"/>
                  </a:solidFill>
                  <a:latin typeface="+mn-lt"/>
                  <a:ea typeface="+mn-ea"/>
                  <a:cs typeface="+mn-cs"/>
                </a:rPr>
                <a:t>DSE Part 3 · consultation/adjustment:</a:t>
              </a:r>
              <a:r>
                <a:rPr lang="en-AU" sz="1800" dirty="0">
                  <a:solidFill>
                    <a:schemeClr val="dk1"/>
                  </a:solidFill>
                  <a:latin typeface="+mn-lt"/>
                  <a:ea typeface="+mn-ea"/>
                  <a:cs typeface="+mn-cs"/>
                </a:rPr>
                <a:t xml:space="preserve"> record Jode’s views, options, decisions and review.</a:t>
              </a:r>
            </a:p>
          </p:txBody>
        </p:sp>
        <p:sp>
          <p:nvSpPr>
            <p:cNvPr id="6" name="TextBox 6"/>
            <p:cNvSpPr txBox="1"/>
            <p:nvPr/>
          </p:nvSpPr>
          <p:spPr>
            <a:xfrm>
              <a:off x="600456" y="2676525"/>
              <a:ext cx="8198620" cy="352044"/>
            </a:xfrm>
            <a:prstGeom prst="rect">
              <a:avLst/>
            </a:prstGeom>
            <a:noFill/>
            <a:ln>
              <a:noFill/>
            </a:ln>
          </p:spPr>
          <p:txBody>
            <a:bodyPr wrap="none" lIns="0" tIns="0" rIns="0" bIns="0" anchor="t" anchorCtr="0">
              <a:spAutoFit/>
            </a:bodyPr>
            <a:lstStyle/>
            <a:p>
              <a:pPr algn="l"/>
              <a:r>
                <a:rPr lang="en-AU" sz="1800" dirty="0">
                  <a:solidFill>
                    <a:schemeClr val="dk1"/>
                  </a:solidFill>
                  <a:latin typeface="+mn-lt"/>
                  <a:ea typeface="+mn-ea"/>
                  <a:cs typeface="+mn-cs"/>
                </a:rPr>
                <a:t>Graduate APST 1.6, 7.2, 7.3: disability, legal duties and family engagement.</a:t>
              </a:r>
            </a:p>
          </p:txBody>
        </p:sp>
        <p:sp>
          <p:nvSpPr>
            <p:cNvPr id="7" name="TextBox 7"/>
            <p:cNvSpPr txBox="1"/>
            <p:nvPr/>
          </p:nvSpPr>
          <p:spPr>
            <a:xfrm>
              <a:off x="600456" y="3248025"/>
              <a:ext cx="10717876" cy="352044"/>
            </a:xfrm>
            <a:prstGeom prst="rect">
              <a:avLst/>
            </a:prstGeom>
            <a:noFill/>
            <a:ln>
              <a:noFill/>
            </a:ln>
          </p:spPr>
          <p:txBody>
            <a:bodyPr wrap="none" lIns="0" tIns="0" rIns="0" bIns="0" anchor="t" anchorCtr="0">
              <a:spAutoFit/>
            </a:bodyPr>
            <a:lstStyle/>
            <a:p>
              <a:pPr algn="l"/>
              <a:r>
                <a:rPr lang="en-AU" sz="1800" b="1" dirty="0">
                  <a:solidFill>
                    <a:schemeClr val="dk1"/>
                  </a:solidFill>
                  <a:latin typeface="+mn-lt"/>
                  <a:ea typeface="+mn-ea"/>
                  <a:cs typeface="+mn-cs"/>
                </a:rPr>
                <a:t>DSE Parts 5–7 · participation/curriculum/support:</a:t>
              </a:r>
              <a:r>
                <a:rPr lang="en-AU" sz="1800" dirty="0">
                  <a:solidFill>
                    <a:schemeClr val="dk1"/>
                  </a:solidFill>
                  <a:latin typeface="+mn-lt"/>
                  <a:ea typeface="+mn-ea"/>
                  <a:cs typeface="+mn-cs"/>
                </a:rPr>
                <a:t xml:space="preserve"> accessible tasks, venues and communication.</a:t>
              </a:r>
            </a:p>
          </p:txBody>
        </p:sp>
        <p:sp>
          <p:nvSpPr>
            <p:cNvPr id="8" name="TextBox 8"/>
            <p:cNvSpPr txBox="1"/>
            <p:nvPr/>
          </p:nvSpPr>
          <p:spPr>
            <a:xfrm>
              <a:off x="600456" y="3629025"/>
              <a:ext cx="9302013" cy="352044"/>
            </a:xfrm>
            <a:prstGeom prst="rect">
              <a:avLst/>
            </a:prstGeom>
            <a:noFill/>
            <a:ln>
              <a:noFill/>
            </a:ln>
          </p:spPr>
          <p:txBody>
            <a:bodyPr wrap="none" lIns="0" tIns="0" rIns="0" bIns="0" anchor="t" anchorCtr="0">
              <a:spAutoFit/>
            </a:bodyPr>
            <a:lstStyle/>
            <a:p>
              <a:pPr algn="l"/>
              <a:r>
                <a:rPr lang="en-AU" sz="1800" dirty="0">
                  <a:solidFill>
                    <a:schemeClr val="dk1"/>
                  </a:solidFill>
                  <a:latin typeface="+mn-lt"/>
                  <a:ea typeface="+mn-ea"/>
                  <a:cs typeface="+mn-cs"/>
                </a:rPr>
                <a:t>Graduate APST 1.5, 3.3, 4.1, 5.1: differentiation, strategies, participation, assessment.</a:t>
              </a:r>
            </a:p>
          </p:txBody>
        </p:sp>
        <p:sp>
          <p:nvSpPr>
            <p:cNvPr id="9" name="TextBox 9"/>
            <p:cNvSpPr txBox="1"/>
            <p:nvPr/>
          </p:nvSpPr>
          <p:spPr>
            <a:xfrm>
              <a:off x="600456" y="4200525"/>
              <a:ext cx="9391154" cy="352044"/>
            </a:xfrm>
            <a:prstGeom prst="rect">
              <a:avLst/>
            </a:prstGeom>
            <a:noFill/>
            <a:ln>
              <a:noFill/>
            </a:ln>
          </p:spPr>
          <p:txBody>
            <a:bodyPr wrap="none" lIns="0" tIns="0" rIns="0" bIns="0" anchor="t" anchorCtr="0">
              <a:spAutoFit/>
            </a:bodyPr>
            <a:lstStyle/>
            <a:p>
              <a:pPr algn="l"/>
              <a:r>
                <a:rPr lang="en-AU" sz="1800" b="1" dirty="0">
                  <a:solidFill>
                    <a:schemeClr val="dk1"/>
                  </a:solidFill>
                  <a:latin typeface="+mn-lt"/>
                  <a:ea typeface="+mn-ea"/>
                  <a:cs typeface="+mn-cs"/>
                </a:rPr>
                <a:t>DSE Part 8 · harassment:</a:t>
              </a:r>
              <a:r>
                <a:rPr lang="en-AU" sz="1800" dirty="0">
                  <a:solidFill>
                    <a:schemeClr val="dk1"/>
                  </a:solidFill>
                  <a:latin typeface="+mn-lt"/>
                  <a:ea typeface="+mn-ea"/>
                  <a:cs typeface="+mn-cs"/>
                </a:rPr>
                <a:t xml:space="preserve"> prevention, response, staff capability and student follow-up.</a:t>
              </a:r>
            </a:p>
          </p:txBody>
        </p:sp>
        <p:sp>
          <p:nvSpPr>
            <p:cNvPr id="10" name="TextBox 10"/>
            <p:cNvSpPr txBox="1"/>
            <p:nvPr/>
          </p:nvSpPr>
          <p:spPr>
            <a:xfrm>
              <a:off x="600456" y="4581525"/>
              <a:ext cx="6752175" cy="352044"/>
            </a:xfrm>
            <a:prstGeom prst="rect">
              <a:avLst/>
            </a:prstGeom>
            <a:noFill/>
            <a:ln>
              <a:noFill/>
            </a:ln>
          </p:spPr>
          <p:txBody>
            <a:bodyPr wrap="none" lIns="0" tIns="0" rIns="0" bIns="0" anchor="t" anchorCtr="0">
              <a:spAutoFit/>
            </a:bodyPr>
            <a:lstStyle/>
            <a:p>
              <a:pPr algn="l"/>
              <a:r>
                <a:rPr lang="en-AU" sz="1800" dirty="0">
                  <a:solidFill>
                    <a:schemeClr val="dk1"/>
                  </a:solidFill>
                  <a:latin typeface="+mn-lt"/>
                  <a:ea typeface="+mn-ea"/>
                  <a:cs typeface="+mn-cs"/>
                </a:rPr>
                <a:t>Graduate APST 4.4, 7.2: safety and legislative responsibilities.</a:t>
              </a:r>
            </a:p>
          </p:txBody>
        </p:sp>
        <p:sp>
          <p:nvSpPr>
            <p:cNvPr id="11" name="TextBox 11"/>
            <p:cNvSpPr txBox="1"/>
            <p:nvPr/>
          </p:nvSpPr>
          <p:spPr>
            <a:xfrm>
              <a:off x="600456" y="5153025"/>
              <a:ext cx="8938191" cy="352044"/>
            </a:xfrm>
            <a:prstGeom prst="rect">
              <a:avLst/>
            </a:prstGeom>
            <a:noFill/>
            <a:ln>
              <a:noFill/>
            </a:ln>
          </p:spPr>
          <p:txBody>
            <a:bodyPr wrap="none" lIns="0" tIns="0" rIns="0" bIns="0" anchor="t" anchorCtr="0">
              <a:spAutoFit/>
            </a:bodyPr>
            <a:lstStyle/>
            <a:p>
              <a:pPr algn="l"/>
              <a:r>
                <a:rPr lang="en-AU" sz="1800" b="1" dirty="0">
                  <a:solidFill>
                    <a:schemeClr val="dk1"/>
                  </a:solidFill>
                  <a:latin typeface="+mn-lt"/>
                  <a:ea typeface="+mn-ea"/>
                  <a:cs typeface="+mn-cs"/>
                </a:rPr>
                <a:t>Broader diversity:</a:t>
              </a:r>
              <a:r>
                <a:rPr lang="en-AU" sz="1800" dirty="0">
                  <a:solidFill>
                    <a:schemeClr val="dk1"/>
                  </a:solidFill>
                  <a:latin typeface="+mn-lt"/>
                  <a:ea typeface="+mn-ea"/>
                  <a:cs typeface="+mn-cs"/>
                </a:rPr>
                <a:t xml:space="preserve"> APST 1.3; socioeconomic or EAL/D need is not itself disability.</a:t>
              </a:r>
            </a:p>
          </p:txBody>
        </p:sp>
      </p:grpSp>
      <p:grpSp>
        <p:nvGrpSpPr>
          <p:cNvPr id="15" name="p16-footer"/>
          <p:cNvGrpSpPr/>
          <p:nvPr/>
        </p:nvGrpSpPr>
        <p:grpSpPr>
          <a:xfrm>
            <a:off x="603504" y="6276975"/>
            <a:ext cx="10774169" cy="234696"/>
            <a:chOff x="603504" y="6276975"/>
            <a:chExt cx="10774169" cy="234696"/>
          </a:xfrm>
        </p:grpSpPr>
        <p:sp>
          <p:nvSpPr>
            <p:cNvPr id="13" name="TextBox 13"/>
            <p:cNvSpPr txBox="1"/>
            <p:nvPr/>
          </p:nvSpPr>
          <p:spPr>
            <a:xfrm>
              <a:off x="603504" y="6276975"/>
              <a:ext cx="8771435" cy="234696"/>
            </a:xfrm>
            <a:prstGeom prst="rect">
              <a:avLst/>
            </a:prstGeom>
            <a:noFill/>
            <a:ln>
              <a:noFill/>
            </a:ln>
          </p:spPr>
          <p:txBody>
            <a:bodyPr wrap="none" lIns="0" tIns="0" rIns="0" bIns="0" anchor="t" anchorCtr="0">
              <a:spAutoFit/>
            </a:bodyPr>
            <a:lstStyle/>
            <a:p>
              <a:pPr algn="l"/>
              <a:r>
                <a:rPr lang="en-AU" sz="1200" dirty="0">
                  <a:solidFill>
                    <a:schemeClr val="accent5"/>
                  </a:solidFill>
                  <a:latin typeface="+mn-lt"/>
                  <a:ea typeface="+mn-ea"/>
                  <a:cs typeface="+mn-cs"/>
                </a:rPr>
                <a:t>APST are professional standards; DSE impose legal duties on education providers. They are related, not interchangeable.</a:t>
              </a:r>
            </a:p>
          </p:txBody>
        </p:sp>
        <p:sp>
          <p:nvSpPr>
            <p:cNvPr id="14" name="TextBox 14"/>
            <p:cNvSpPr txBox="1"/>
            <p:nvPr/>
          </p:nvSpPr>
          <p:spPr>
            <a:xfrm>
              <a:off x="11185779" y="6276975"/>
              <a:ext cx="191894" cy="234696"/>
            </a:xfrm>
            <a:prstGeom prst="rect">
              <a:avLst/>
            </a:prstGeom>
            <a:noFill/>
            <a:ln>
              <a:noFill/>
            </a:ln>
          </p:spPr>
          <p:txBody>
            <a:bodyPr wrap="none" lIns="0" tIns="0" rIns="0" bIns="0" anchor="t" anchorCtr="0">
              <a:spAutoFit/>
            </a:bodyPr>
            <a:lstStyle/>
            <a:p>
              <a:pPr algn="l"/>
              <a:r>
                <a:rPr lang="en-AU" sz="1200" dirty="0">
                  <a:solidFill>
                    <a:schemeClr val="accent5"/>
                  </a:solidFill>
                  <a:latin typeface="+mn-lt"/>
                  <a:ea typeface="+mn-ea"/>
                  <a:cs typeface="+mn-cs"/>
                </a:rPr>
                <a:t>16</a:t>
              </a:r>
            </a:p>
          </p:txBody>
        </p:sp>
      </p:grpSp>
    </p:spTree>
  </p:cSld>
  <p:clrMapOvr>
    <a:masterClrMapping/>
  </p:clrMapOvr>
  <p:transition xmlns:p14="http://schemas.microsoft.com/office/powerpoint/2010/main" p14:dur="400">
    <p:fad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17-heading"/>
          <p:cNvGrpSpPr/>
          <p:nvPr/>
        </p:nvGrpSpPr>
        <p:grpSpPr>
          <a:xfrm>
            <a:off x="592836" y="704850"/>
            <a:ext cx="8639183" cy="1058164"/>
            <a:chOff x="592836" y="704850"/>
            <a:chExt cx="8639183" cy="1058164"/>
          </a:xfrm>
        </p:grpSpPr>
        <p:sp>
          <p:nvSpPr>
            <p:cNvPr id="2" name="TextBox 2"/>
            <p:cNvSpPr txBox="1"/>
            <p:nvPr/>
          </p:nvSpPr>
          <p:spPr>
            <a:xfrm>
              <a:off x="603504" y="704850"/>
              <a:ext cx="1852175" cy="234696"/>
            </a:xfrm>
            <a:prstGeom prst="rect">
              <a:avLst/>
            </a:prstGeom>
            <a:noFill/>
            <a:ln>
              <a:noFill/>
            </a:ln>
          </p:spPr>
          <p:txBody>
            <a:bodyPr wrap="none" lIns="0" tIns="0" rIns="0" bIns="0" anchor="t" anchorCtr="0">
              <a:spAutoFit/>
            </a:bodyPr>
            <a:lstStyle/>
            <a:p>
              <a:pPr algn="l"/>
              <a:r>
                <a:rPr lang="en-AU" sz="1200" dirty="0">
                  <a:solidFill>
                    <a:schemeClr val="accent2"/>
                  </a:solidFill>
                  <a:latin typeface="+mn-lt"/>
                  <a:ea typeface="+mn-ea"/>
                  <a:cs typeface="+mn-cs"/>
                </a:rPr>
                <a:t>REFERENCES · 1 OF 2</a:t>
              </a:r>
            </a:p>
          </p:txBody>
        </p:sp>
        <p:sp>
          <p:nvSpPr>
            <p:cNvPr id="3" name="TextBox 3"/>
            <p:cNvSpPr txBox="1"/>
            <p:nvPr/>
          </p:nvSpPr>
          <p:spPr>
            <a:xfrm>
              <a:off x="592836" y="1117600"/>
              <a:ext cx="8639183" cy="645414"/>
            </a:xfrm>
            <a:prstGeom prst="rect">
              <a:avLst/>
            </a:prstGeom>
            <a:noFill/>
            <a:ln>
              <a:noFill/>
            </a:ln>
          </p:spPr>
          <p:txBody>
            <a:bodyPr wrap="none" lIns="0" tIns="0" rIns="0" bIns="0" anchor="t" anchorCtr="0">
              <a:spAutoFit/>
            </a:bodyPr>
            <a:lstStyle/>
            <a:p>
              <a:pPr algn="l"/>
              <a:r>
                <a:rPr lang="en-AU" sz="3300" dirty="0">
                  <a:solidFill>
                    <a:schemeClr val="dk1"/>
                  </a:solidFill>
                  <a:latin typeface="+mn-lt"/>
                  <a:ea typeface="+mn-ea"/>
                  <a:cs typeface="+mn-cs"/>
                </a:rPr>
                <a:t>Rights, professional practice and instruction</a:t>
              </a:r>
            </a:p>
          </p:txBody>
        </p:sp>
      </p:grpSp>
      <p:grpSp>
        <p:nvGrpSpPr>
          <p:cNvPr id="7" name="p17-law"/>
          <p:cNvGrpSpPr/>
          <p:nvPr/>
        </p:nvGrpSpPr>
        <p:grpSpPr>
          <a:xfrm>
            <a:off x="601218" y="2130425"/>
            <a:ext cx="8010918" cy="703707"/>
            <a:chOff x="601218" y="2130425"/>
            <a:chExt cx="8010918" cy="703707"/>
          </a:xfrm>
        </p:grpSpPr>
        <p:sp>
          <p:nvSpPr>
            <p:cNvPr id="5" name="TextBox 5"/>
            <p:cNvSpPr txBox="1"/>
            <p:nvPr/>
          </p:nvSpPr>
          <p:spPr>
            <a:xfrm>
              <a:off x="601218" y="2130425"/>
              <a:ext cx="8010918" cy="322707"/>
            </a:xfrm>
            <a:prstGeom prst="rect">
              <a:avLst/>
            </a:prstGeom>
            <a:noFill/>
            <a:ln>
              <a:noFill/>
            </a:ln>
          </p:spPr>
          <p:txBody>
            <a:bodyPr wrap="none" lIns="0" tIns="0" rIns="0" bIns="0" anchor="t" anchorCtr="0">
              <a:spAutoFit/>
            </a:bodyPr>
            <a:lstStyle/>
            <a:p>
              <a:pPr algn="l"/>
              <a:r>
                <a:rPr lang="en-AU" sz="1650" dirty="0">
                  <a:solidFill>
                    <a:schemeClr val="dk1"/>
                  </a:solidFill>
                  <a:latin typeface="+mn-lt"/>
                  <a:ea typeface="+mn-ea"/>
                  <a:cs typeface="+mn-cs"/>
                </a:rPr>
                <a:t>Disability Standards for Education 2005 (Cth), compilation no. 1 (1 August 2026).</a:t>
              </a:r>
            </a:p>
          </p:txBody>
        </p:sp>
        <p:sp>
          <p:nvSpPr>
            <p:cNvPr id="6" name="TextBox 6"/>
            <p:cNvSpPr txBox="1"/>
            <p:nvPr/>
          </p:nvSpPr>
          <p:spPr>
            <a:xfrm>
              <a:off x="601218" y="2511425"/>
              <a:ext cx="4678491" cy="322707"/>
            </a:xfrm>
            <a:prstGeom prst="rect">
              <a:avLst/>
            </a:prstGeom>
            <a:noFill/>
            <a:ln>
              <a:noFill/>
            </a:ln>
          </p:spPr>
          <p:txBody>
            <a:bodyPr wrap="none" lIns="0" tIns="0" rIns="0" bIns="0" anchor="t" anchorCtr="0">
              <a:spAutoFit/>
            </a:bodyPr>
            <a:lstStyle/>
            <a:p>
              <a:pPr algn="l"/>
              <a:r>
                <a:rPr lang="en-AU" sz="1650" dirty="0">
                  <a:solidFill>
                    <a:schemeClr val="accent2"/>
                  </a:solidFill>
                  <a:latin typeface="+mn-lt"/>
                  <a:ea typeface="+mn-ea"/>
                  <a:cs typeface="+mn-cs"/>
                  <a:hlinkClick r:id="rId2"/>
                </a:rPr>
                <a:t>Federal Register of Legislation · F2026C00801</a:t>
              </a:r>
            </a:p>
          </p:txBody>
        </p:sp>
      </p:grpSp>
      <p:grpSp>
        <p:nvGrpSpPr>
          <p:cNvPr id="10" name="p17-apst"/>
          <p:cNvGrpSpPr/>
          <p:nvPr/>
        </p:nvGrpSpPr>
        <p:grpSpPr>
          <a:xfrm>
            <a:off x="601218" y="3130550"/>
            <a:ext cx="8239231" cy="703707"/>
            <a:chOff x="601218" y="3130550"/>
            <a:chExt cx="8239231" cy="703707"/>
          </a:xfrm>
        </p:grpSpPr>
        <p:sp>
          <p:nvSpPr>
            <p:cNvPr id="8" name="TextBox 8"/>
            <p:cNvSpPr txBox="1"/>
            <p:nvPr/>
          </p:nvSpPr>
          <p:spPr>
            <a:xfrm>
              <a:off x="601218" y="3130550"/>
              <a:ext cx="8239231" cy="322707"/>
            </a:xfrm>
            <a:prstGeom prst="rect">
              <a:avLst/>
            </a:prstGeom>
            <a:noFill/>
            <a:ln>
              <a:noFill/>
            </a:ln>
          </p:spPr>
          <p:txBody>
            <a:bodyPr wrap="none" lIns="0" tIns="0" rIns="0" bIns="0" anchor="t" anchorCtr="0">
              <a:spAutoFit/>
            </a:bodyPr>
            <a:lstStyle/>
            <a:p>
              <a:pPr algn="l"/>
              <a:r>
                <a:rPr lang="en-AU" sz="1650" dirty="0">
                  <a:solidFill>
                    <a:schemeClr val="dk1"/>
                  </a:solidFill>
                  <a:latin typeface="+mn-lt"/>
                  <a:ea typeface="+mn-ea"/>
                  <a:cs typeface="+mn-cs"/>
                </a:rPr>
                <a:t>Australian Institute for Teaching and School Leadership. (n.d.). Teacher Standards.</a:t>
              </a:r>
            </a:p>
          </p:txBody>
        </p:sp>
        <p:sp>
          <p:nvSpPr>
            <p:cNvPr id="9" name="TextBox 9"/>
            <p:cNvSpPr txBox="1"/>
            <p:nvPr/>
          </p:nvSpPr>
          <p:spPr>
            <a:xfrm>
              <a:off x="601218" y="3511550"/>
              <a:ext cx="6312787" cy="322707"/>
            </a:xfrm>
            <a:prstGeom prst="rect">
              <a:avLst/>
            </a:prstGeom>
            <a:noFill/>
            <a:ln>
              <a:noFill/>
            </a:ln>
          </p:spPr>
          <p:txBody>
            <a:bodyPr wrap="none" lIns="0" tIns="0" rIns="0" bIns="0" anchor="t" anchorCtr="0">
              <a:spAutoFit/>
            </a:bodyPr>
            <a:lstStyle/>
            <a:p>
              <a:pPr algn="l"/>
              <a:r>
                <a:rPr lang="en-AU" sz="1650" dirty="0">
                  <a:solidFill>
                    <a:schemeClr val="accent2"/>
                  </a:solidFill>
                  <a:latin typeface="+mn-lt"/>
                  <a:ea typeface="+mn-ea"/>
                  <a:cs typeface="+mn-cs"/>
                  <a:hlinkClick r:id="rId3"/>
                </a:rPr>
                <a:t>Graduate descriptors · Retrieved 23 October 2026 · aitsl.edu.au</a:t>
              </a:r>
            </a:p>
          </p:txBody>
        </p:sp>
      </p:grpSp>
      <p:grpSp>
        <p:nvGrpSpPr>
          <p:cNvPr id="13" name="p17-cese"/>
          <p:cNvGrpSpPr/>
          <p:nvPr/>
        </p:nvGrpSpPr>
        <p:grpSpPr>
          <a:xfrm>
            <a:off x="601218" y="4130675"/>
            <a:ext cx="8147484" cy="703707"/>
            <a:chOff x="601218" y="4130675"/>
            <a:chExt cx="8147484" cy="703707"/>
          </a:xfrm>
        </p:grpSpPr>
        <p:sp>
          <p:nvSpPr>
            <p:cNvPr id="11" name="TextBox 11"/>
            <p:cNvSpPr txBox="1"/>
            <p:nvPr/>
          </p:nvSpPr>
          <p:spPr>
            <a:xfrm>
              <a:off x="601218" y="4130675"/>
              <a:ext cx="7609078" cy="322707"/>
            </a:xfrm>
            <a:prstGeom prst="rect">
              <a:avLst/>
            </a:prstGeom>
            <a:noFill/>
            <a:ln>
              <a:noFill/>
            </a:ln>
          </p:spPr>
          <p:txBody>
            <a:bodyPr wrap="none" lIns="0" tIns="0" rIns="0" bIns="0" anchor="t" anchorCtr="0">
              <a:spAutoFit/>
            </a:bodyPr>
            <a:lstStyle/>
            <a:p>
              <a:pPr algn="l"/>
              <a:r>
                <a:rPr lang="en-AU" sz="1650" dirty="0">
                  <a:solidFill>
                    <a:schemeClr val="dk1"/>
                  </a:solidFill>
                  <a:latin typeface="+mn-lt"/>
                  <a:ea typeface="+mn-ea"/>
                  <a:cs typeface="+mn-cs"/>
                </a:rPr>
                <a:t>Centre for Education Statistics and Evaluation. (2017). Cognitive load theory:</a:t>
              </a:r>
            </a:p>
          </p:txBody>
        </p:sp>
        <p:sp>
          <p:nvSpPr>
            <p:cNvPr id="12" name="TextBox 12"/>
            <p:cNvSpPr txBox="1"/>
            <p:nvPr/>
          </p:nvSpPr>
          <p:spPr>
            <a:xfrm>
              <a:off x="601218" y="4511675"/>
              <a:ext cx="8147484" cy="322707"/>
            </a:xfrm>
            <a:prstGeom prst="rect">
              <a:avLst/>
            </a:prstGeom>
            <a:noFill/>
            <a:ln>
              <a:noFill/>
            </a:ln>
          </p:spPr>
          <p:txBody>
            <a:bodyPr wrap="none" lIns="0" tIns="0" rIns="0" bIns="0" anchor="t" anchorCtr="0">
              <a:spAutoFit/>
            </a:bodyPr>
            <a:lstStyle/>
            <a:p>
              <a:pPr algn="l"/>
              <a:r>
                <a:rPr lang="en-AU" sz="1650" dirty="0">
                  <a:solidFill>
                    <a:schemeClr val="dk1"/>
                  </a:solidFill>
                  <a:latin typeface="+mn-lt"/>
                  <a:ea typeface="+mn-ea"/>
                  <a:cs typeface="+mn-cs"/>
                </a:rPr>
                <a:t xml:space="preserve">Research that teachers really need to understand. </a:t>
              </a:r>
              <a:r>
                <a:rPr lang="en-AU" sz="1650" dirty="0">
                  <a:solidFill>
                    <a:schemeClr val="accent2"/>
                  </a:solidFill>
                  <a:latin typeface="+mn-lt"/>
                  <a:ea typeface="+mn-ea"/>
                  <a:cs typeface="+mn-cs"/>
                  <a:hlinkClick r:id="rId4"/>
                </a:rPr>
                <a:t>NSW Department of Education.</a:t>
              </a:r>
            </a:p>
          </p:txBody>
        </p:sp>
      </p:grpSp>
      <p:grpSp>
        <p:nvGrpSpPr>
          <p:cNvPr id="16" name="p17-rosenshine"/>
          <p:cNvGrpSpPr/>
          <p:nvPr/>
        </p:nvGrpSpPr>
        <p:grpSpPr>
          <a:xfrm>
            <a:off x="601218" y="5130800"/>
            <a:ext cx="8214671" cy="703707"/>
            <a:chOff x="601218" y="5130800"/>
            <a:chExt cx="8214671" cy="703707"/>
          </a:xfrm>
        </p:grpSpPr>
        <p:sp>
          <p:nvSpPr>
            <p:cNvPr id="14" name="TextBox 14"/>
            <p:cNvSpPr txBox="1"/>
            <p:nvPr/>
          </p:nvSpPr>
          <p:spPr>
            <a:xfrm>
              <a:off x="601218" y="5130800"/>
              <a:ext cx="8214671" cy="322707"/>
            </a:xfrm>
            <a:prstGeom prst="rect">
              <a:avLst/>
            </a:prstGeom>
            <a:noFill/>
            <a:ln>
              <a:noFill/>
            </a:ln>
          </p:spPr>
          <p:txBody>
            <a:bodyPr wrap="none" lIns="0" tIns="0" rIns="0" bIns="0" anchor="t" anchorCtr="0">
              <a:spAutoFit/>
            </a:bodyPr>
            <a:lstStyle/>
            <a:p>
              <a:pPr algn="l"/>
              <a:r>
                <a:rPr lang="en-AU" sz="1650" dirty="0">
                  <a:solidFill>
                    <a:schemeClr val="dk1"/>
                  </a:solidFill>
                  <a:latin typeface="+mn-lt"/>
                  <a:ea typeface="+mn-ea"/>
                  <a:cs typeface="+mn-cs"/>
                </a:rPr>
                <a:t>Rosenshine, B. (2012, Spring). Principles of instruction: Research-based strategies</a:t>
              </a:r>
            </a:p>
          </p:txBody>
        </p:sp>
        <p:sp>
          <p:nvSpPr>
            <p:cNvPr id="15" name="TextBox 15"/>
            <p:cNvSpPr txBox="1"/>
            <p:nvPr/>
          </p:nvSpPr>
          <p:spPr>
            <a:xfrm>
              <a:off x="601218" y="5511800"/>
              <a:ext cx="6088884" cy="322707"/>
            </a:xfrm>
            <a:prstGeom prst="rect">
              <a:avLst/>
            </a:prstGeom>
            <a:noFill/>
            <a:ln>
              <a:noFill/>
            </a:ln>
          </p:spPr>
          <p:txBody>
            <a:bodyPr wrap="none" lIns="0" tIns="0" rIns="0" bIns="0" anchor="t" anchorCtr="0">
              <a:spAutoFit/>
            </a:bodyPr>
            <a:lstStyle/>
            <a:p>
              <a:pPr algn="l"/>
              <a:r>
                <a:rPr lang="en-AU" sz="1650" dirty="0">
                  <a:solidFill>
                    <a:schemeClr val="dk1"/>
                  </a:solidFill>
                  <a:latin typeface="+mn-lt"/>
                  <a:ea typeface="+mn-ea"/>
                  <a:cs typeface="+mn-cs"/>
                </a:rPr>
                <a:t xml:space="preserve">that all teachers should know. </a:t>
              </a:r>
              <a:r>
                <a:rPr lang="en-AU" sz="1650" dirty="0">
                  <a:solidFill>
                    <a:schemeClr val="accent2"/>
                  </a:solidFill>
                  <a:latin typeface="+mn-lt"/>
                  <a:ea typeface="+mn-ea"/>
                  <a:cs typeface="+mn-cs"/>
                  <a:hlinkClick r:id="rId5"/>
                </a:rPr>
                <a:t>American Educator, 12–19, 39.</a:t>
              </a:r>
            </a:p>
          </p:txBody>
        </p:sp>
      </p:grpSp>
      <p:grpSp>
        <p:nvGrpSpPr>
          <p:cNvPr id="19" name="p17-footer"/>
          <p:cNvGrpSpPr/>
          <p:nvPr/>
        </p:nvGrpSpPr>
        <p:grpSpPr>
          <a:xfrm>
            <a:off x="603504" y="6276975"/>
            <a:ext cx="10774169" cy="234696"/>
            <a:chOff x="603504" y="6276975"/>
            <a:chExt cx="10774169" cy="234696"/>
          </a:xfrm>
        </p:grpSpPr>
        <p:sp>
          <p:nvSpPr>
            <p:cNvPr id="17" name="TextBox 17"/>
            <p:cNvSpPr txBox="1"/>
            <p:nvPr/>
          </p:nvSpPr>
          <p:spPr>
            <a:xfrm>
              <a:off x="603504" y="6276975"/>
              <a:ext cx="7701897" cy="234696"/>
            </a:xfrm>
            <a:prstGeom prst="rect">
              <a:avLst/>
            </a:prstGeom>
            <a:noFill/>
            <a:ln>
              <a:noFill/>
            </a:ln>
          </p:spPr>
          <p:txBody>
            <a:bodyPr wrap="none" lIns="0" tIns="0" rIns="0" bIns="0" anchor="t" anchorCtr="0">
              <a:spAutoFit/>
            </a:bodyPr>
            <a:lstStyle/>
            <a:p>
              <a:pPr algn="l"/>
              <a:r>
                <a:rPr lang="en-AU" sz="1200" dirty="0">
                  <a:solidFill>
                    <a:schemeClr val="accent5"/>
                  </a:solidFill>
                  <a:latin typeface="+mn-lt"/>
                  <a:ea typeface="+mn-ea"/>
                  <a:cs typeface="+mn-cs"/>
                </a:rPr>
                <a:t>Linked original/official sources opened and checked. The APST 2011 PDF is not represented as inspected.</a:t>
              </a:r>
            </a:p>
          </p:txBody>
        </p:sp>
        <p:sp>
          <p:nvSpPr>
            <p:cNvPr id="18" name="TextBox 18"/>
            <p:cNvSpPr txBox="1"/>
            <p:nvPr/>
          </p:nvSpPr>
          <p:spPr>
            <a:xfrm>
              <a:off x="11185779" y="6276975"/>
              <a:ext cx="191894" cy="234696"/>
            </a:xfrm>
            <a:prstGeom prst="rect">
              <a:avLst/>
            </a:prstGeom>
            <a:noFill/>
            <a:ln>
              <a:noFill/>
            </a:ln>
          </p:spPr>
          <p:txBody>
            <a:bodyPr wrap="none" lIns="0" tIns="0" rIns="0" bIns="0" anchor="t" anchorCtr="0">
              <a:spAutoFit/>
            </a:bodyPr>
            <a:lstStyle/>
            <a:p>
              <a:pPr algn="l"/>
              <a:r>
                <a:rPr lang="en-AU" sz="1200" dirty="0">
                  <a:solidFill>
                    <a:schemeClr val="accent5"/>
                  </a:solidFill>
                  <a:latin typeface="+mn-lt"/>
                  <a:ea typeface="+mn-ea"/>
                  <a:cs typeface="+mn-cs"/>
                </a:rPr>
                <a:t>17</a:t>
              </a:r>
            </a:p>
          </p:txBody>
        </p:sp>
      </p:grpSp>
    </p:spTree>
  </p:cSld>
  <p:clrMapOvr>
    <a:masterClrMapping/>
  </p:clrMapOvr>
  <p:transition xmlns:p14="http://schemas.microsoft.com/office/powerpoint/2010/main" p14:dur="400">
    <p:fade/>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p18-heading"/>
          <p:cNvGrpSpPr/>
          <p:nvPr/>
        </p:nvGrpSpPr>
        <p:grpSpPr>
          <a:xfrm>
            <a:off x="592836" y="704850"/>
            <a:ext cx="9480961" cy="1058164"/>
            <a:chOff x="592836" y="704850"/>
            <a:chExt cx="9480961" cy="1058164"/>
          </a:xfrm>
        </p:grpSpPr>
        <p:sp>
          <p:nvSpPr>
            <p:cNvPr id="2" name="TextBox 2"/>
            <p:cNvSpPr txBox="1"/>
            <p:nvPr/>
          </p:nvSpPr>
          <p:spPr>
            <a:xfrm>
              <a:off x="603504" y="704850"/>
              <a:ext cx="1852175" cy="234696"/>
            </a:xfrm>
            <a:prstGeom prst="rect">
              <a:avLst/>
            </a:prstGeom>
            <a:noFill/>
            <a:ln>
              <a:noFill/>
            </a:ln>
          </p:spPr>
          <p:txBody>
            <a:bodyPr wrap="none" lIns="0" tIns="0" rIns="0" bIns="0" anchor="t" anchorCtr="0">
              <a:spAutoFit/>
            </a:bodyPr>
            <a:lstStyle/>
            <a:p>
              <a:pPr algn="l"/>
              <a:r>
                <a:rPr lang="en-AU" sz="1200" dirty="0">
                  <a:solidFill>
                    <a:schemeClr val="accent2"/>
                  </a:solidFill>
                  <a:latin typeface="+mn-lt"/>
                  <a:ea typeface="+mn-ea"/>
                  <a:cs typeface="+mn-cs"/>
                </a:rPr>
                <a:t>REFERENCES · 2 OF 2</a:t>
              </a:r>
            </a:p>
          </p:txBody>
        </p:sp>
        <p:sp>
          <p:nvSpPr>
            <p:cNvPr id="3" name="TextBox 3"/>
            <p:cNvSpPr txBox="1"/>
            <p:nvPr/>
          </p:nvSpPr>
          <p:spPr>
            <a:xfrm>
              <a:off x="592836" y="1117600"/>
              <a:ext cx="9480961" cy="645414"/>
            </a:xfrm>
            <a:prstGeom prst="rect">
              <a:avLst/>
            </a:prstGeom>
            <a:noFill/>
            <a:ln>
              <a:noFill/>
            </a:ln>
          </p:spPr>
          <p:txBody>
            <a:bodyPr wrap="none" lIns="0" tIns="0" rIns="0" bIns="0" anchor="t" anchorCtr="0">
              <a:spAutoFit/>
            </a:bodyPr>
            <a:lstStyle/>
            <a:p>
              <a:pPr algn="l"/>
              <a:r>
                <a:rPr lang="en-AU" sz="3300" dirty="0">
                  <a:solidFill>
                    <a:schemeClr val="dk1"/>
                  </a:solidFill>
                  <a:latin typeface="+mn-lt"/>
                  <a:ea typeface="+mn-ea"/>
                  <a:cs typeface="+mn-cs"/>
                </a:rPr>
                <a:t>Communication, language and universal access</a:t>
              </a:r>
            </a:p>
          </p:txBody>
        </p:sp>
      </p:grpSp>
      <p:grpSp>
        <p:nvGrpSpPr>
          <p:cNvPr id="7" name="p18-aac"/>
          <p:cNvGrpSpPr/>
          <p:nvPr/>
        </p:nvGrpSpPr>
        <p:grpSpPr>
          <a:xfrm>
            <a:off x="601218" y="2082800"/>
            <a:ext cx="7799125" cy="656082"/>
            <a:chOff x="601218" y="2082800"/>
            <a:chExt cx="7799125" cy="656082"/>
          </a:xfrm>
        </p:grpSpPr>
        <p:sp>
          <p:nvSpPr>
            <p:cNvPr id="5" name="TextBox 5"/>
            <p:cNvSpPr txBox="1"/>
            <p:nvPr/>
          </p:nvSpPr>
          <p:spPr>
            <a:xfrm>
              <a:off x="601218" y="2082800"/>
              <a:ext cx="7680432" cy="322707"/>
            </a:xfrm>
            <a:prstGeom prst="rect">
              <a:avLst/>
            </a:prstGeom>
            <a:noFill/>
            <a:ln>
              <a:noFill/>
            </a:ln>
          </p:spPr>
          <p:txBody>
            <a:bodyPr wrap="none" lIns="0" tIns="0" rIns="0" bIns="0" anchor="t" anchorCtr="0">
              <a:spAutoFit/>
            </a:bodyPr>
            <a:lstStyle/>
            <a:p>
              <a:pPr algn="l"/>
              <a:r>
                <a:rPr lang="en-AU" sz="1650" dirty="0">
                  <a:solidFill>
                    <a:schemeClr val="dk1"/>
                  </a:solidFill>
                  <a:latin typeface="+mn-lt"/>
                  <a:ea typeface="+mn-ea"/>
                  <a:cs typeface="+mn-cs"/>
                </a:rPr>
                <a:t xml:space="preserve">American Speech-Language-Hearing Association. (n.d.-a). </a:t>
              </a:r>
              <a:r>
                <a:rPr lang="en-AU" sz="1650" dirty="0">
                  <a:solidFill>
                    <a:schemeClr val="accent2"/>
                  </a:solidFill>
                  <a:latin typeface="+mn-lt"/>
                  <a:ea typeface="+mn-ea"/>
                  <a:cs typeface="+mn-cs"/>
                  <a:hlinkClick r:id="rId2"/>
                </a:rPr>
                <a:t>Augmentative and</a:t>
              </a:r>
            </a:p>
          </p:txBody>
        </p:sp>
        <p:sp>
          <p:nvSpPr>
            <p:cNvPr id="6" name="TextBox 6"/>
            <p:cNvSpPr txBox="1"/>
            <p:nvPr/>
          </p:nvSpPr>
          <p:spPr>
            <a:xfrm>
              <a:off x="601218" y="2416175"/>
              <a:ext cx="7799125" cy="322707"/>
            </a:xfrm>
            <a:prstGeom prst="rect">
              <a:avLst/>
            </a:prstGeom>
            <a:noFill/>
            <a:ln>
              <a:noFill/>
            </a:ln>
          </p:spPr>
          <p:txBody>
            <a:bodyPr wrap="none" lIns="0" tIns="0" rIns="0" bIns="0" anchor="t" anchorCtr="0">
              <a:spAutoFit/>
            </a:bodyPr>
            <a:lstStyle/>
            <a:p>
              <a:pPr algn="l"/>
              <a:r>
                <a:rPr lang="en-AU" sz="1650" dirty="0">
                  <a:solidFill>
                    <a:schemeClr val="dk1"/>
                  </a:solidFill>
                  <a:latin typeface="+mn-lt"/>
                  <a:ea typeface="+mn-ea"/>
                  <a:cs typeface="+mn-cs"/>
                </a:rPr>
                <a:t>alternative communication (AAC) [Practice Portal]. Retrieved 23 October 2026.</a:t>
              </a:r>
            </a:p>
          </p:txBody>
        </p:sp>
      </p:grpSp>
      <p:grpSp>
        <p:nvGrpSpPr>
          <p:cNvPr id="10" name="p18-abi"/>
          <p:cNvGrpSpPr/>
          <p:nvPr/>
        </p:nvGrpSpPr>
        <p:grpSpPr>
          <a:xfrm>
            <a:off x="601218" y="3035300"/>
            <a:ext cx="7728237" cy="656082"/>
            <a:chOff x="601218" y="3035300"/>
            <a:chExt cx="7728237" cy="656082"/>
          </a:xfrm>
        </p:grpSpPr>
        <p:sp>
          <p:nvSpPr>
            <p:cNvPr id="8" name="TextBox 8"/>
            <p:cNvSpPr txBox="1"/>
            <p:nvPr/>
          </p:nvSpPr>
          <p:spPr>
            <a:xfrm>
              <a:off x="601218" y="3035300"/>
              <a:ext cx="7728237" cy="322707"/>
            </a:xfrm>
            <a:prstGeom prst="rect">
              <a:avLst/>
            </a:prstGeom>
            <a:noFill/>
            <a:ln>
              <a:noFill/>
            </a:ln>
          </p:spPr>
          <p:txBody>
            <a:bodyPr wrap="none" lIns="0" tIns="0" rIns="0" bIns="0" anchor="t" anchorCtr="0">
              <a:spAutoFit/>
            </a:bodyPr>
            <a:lstStyle/>
            <a:p>
              <a:pPr algn="l"/>
              <a:r>
                <a:rPr lang="en-AU" sz="1650" dirty="0">
                  <a:solidFill>
                    <a:schemeClr val="dk1"/>
                  </a:solidFill>
                  <a:latin typeface="+mn-lt"/>
                  <a:ea typeface="+mn-ea"/>
                  <a:cs typeface="+mn-cs"/>
                </a:rPr>
                <a:t xml:space="preserve">American Speech-Language-Hearing Association. (n.d.-b). </a:t>
              </a:r>
              <a:r>
                <a:rPr lang="en-AU" sz="1650" dirty="0">
                  <a:solidFill>
                    <a:schemeClr val="accent2"/>
                  </a:solidFill>
                  <a:latin typeface="+mn-lt"/>
                  <a:ea typeface="+mn-ea"/>
                  <a:cs typeface="+mn-cs"/>
                  <a:hlinkClick r:id="rId3"/>
                </a:rPr>
                <a:t>Pediatric traumatic</a:t>
              </a:r>
            </a:p>
          </p:txBody>
        </p:sp>
        <p:sp>
          <p:nvSpPr>
            <p:cNvPr id="9" name="TextBox 9"/>
            <p:cNvSpPr txBox="1"/>
            <p:nvPr/>
          </p:nvSpPr>
          <p:spPr>
            <a:xfrm>
              <a:off x="601218" y="3368675"/>
              <a:ext cx="5615827" cy="322707"/>
            </a:xfrm>
            <a:prstGeom prst="rect">
              <a:avLst/>
            </a:prstGeom>
            <a:noFill/>
            <a:ln>
              <a:noFill/>
            </a:ln>
          </p:spPr>
          <p:txBody>
            <a:bodyPr wrap="none" lIns="0" tIns="0" rIns="0" bIns="0" anchor="t" anchorCtr="0">
              <a:spAutoFit/>
            </a:bodyPr>
            <a:lstStyle/>
            <a:p>
              <a:pPr algn="l"/>
              <a:r>
                <a:rPr lang="en-AU" sz="1650" dirty="0">
                  <a:solidFill>
                    <a:schemeClr val="dk1"/>
                  </a:solidFill>
                  <a:latin typeface="+mn-lt"/>
                  <a:ea typeface="+mn-ea"/>
                  <a:cs typeface="+mn-cs"/>
                </a:rPr>
                <a:t>brain injury [Practice Portal]. Retrieved 23 October 2026.</a:t>
              </a:r>
            </a:p>
          </p:txBody>
        </p:sp>
      </p:grpSp>
      <p:grpSp>
        <p:nvGrpSpPr>
          <p:cNvPr id="12" name="p18-udl"/>
          <p:cNvGrpSpPr/>
          <p:nvPr/>
        </p:nvGrpSpPr>
        <p:grpSpPr>
          <a:xfrm>
            <a:off x="601218" y="4035425"/>
            <a:ext cx="7540487" cy="322707"/>
            <a:chOff x="601218" y="4035425"/>
            <a:chExt cx="7540487" cy="322707"/>
          </a:xfrm>
        </p:grpSpPr>
        <p:sp>
          <p:nvSpPr>
            <p:cNvPr id="11" name="TextBox 11"/>
            <p:cNvSpPr txBox="1"/>
            <p:nvPr/>
          </p:nvSpPr>
          <p:spPr>
            <a:xfrm>
              <a:off x="601218" y="4035425"/>
              <a:ext cx="7540487" cy="322707"/>
            </a:xfrm>
            <a:prstGeom prst="rect">
              <a:avLst/>
            </a:prstGeom>
            <a:noFill/>
            <a:ln>
              <a:noFill/>
            </a:ln>
          </p:spPr>
          <p:txBody>
            <a:bodyPr wrap="none" lIns="0" tIns="0" rIns="0" bIns="0" anchor="t" anchorCtr="0">
              <a:spAutoFit/>
            </a:bodyPr>
            <a:lstStyle/>
            <a:p>
              <a:pPr algn="l"/>
              <a:r>
                <a:rPr lang="en-AU" sz="1650" dirty="0">
                  <a:solidFill>
                    <a:schemeClr val="dk1"/>
                  </a:solidFill>
                  <a:latin typeface="+mn-lt"/>
                  <a:ea typeface="+mn-ea"/>
                  <a:cs typeface="+mn-cs"/>
                </a:rPr>
                <a:t xml:space="preserve">CAST. (2024). </a:t>
              </a:r>
              <a:r>
                <a:rPr lang="en-AU" sz="1650" dirty="0">
                  <a:solidFill>
                    <a:schemeClr val="accent2"/>
                  </a:solidFill>
                  <a:latin typeface="+mn-lt"/>
                  <a:ea typeface="+mn-ea"/>
                  <a:cs typeface="+mn-cs"/>
                  <a:hlinkClick r:id="rId4"/>
                </a:rPr>
                <a:t>CAST Universal Design for Learning Guidelines version 3.0.</a:t>
              </a:r>
            </a:p>
          </p:txBody>
        </p:sp>
      </p:grpSp>
      <p:grpSp>
        <p:nvGrpSpPr>
          <p:cNvPr id="14" name="p18-eald"/>
          <p:cNvGrpSpPr/>
          <p:nvPr/>
        </p:nvGrpSpPr>
        <p:grpSpPr>
          <a:xfrm>
            <a:off x="601218" y="4845050"/>
            <a:ext cx="7952770" cy="322707"/>
            <a:chOff x="601218" y="4845050"/>
            <a:chExt cx="7952770" cy="322707"/>
          </a:xfrm>
        </p:grpSpPr>
        <p:sp>
          <p:nvSpPr>
            <p:cNvPr id="13" name="TextBox 13"/>
            <p:cNvSpPr txBox="1"/>
            <p:nvPr/>
          </p:nvSpPr>
          <p:spPr>
            <a:xfrm>
              <a:off x="601218" y="4845050"/>
              <a:ext cx="7952770" cy="322707"/>
            </a:xfrm>
            <a:prstGeom prst="rect">
              <a:avLst/>
            </a:prstGeom>
            <a:noFill/>
            <a:ln>
              <a:noFill/>
            </a:ln>
          </p:spPr>
          <p:txBody>
            <a:bodyPr wrap="none" lIns="0" tIns="0" rIns="0" bIns="0" anchor="t" anchorCtr="0">
              <a:spAutoFit/>
            </a:bodyPr>
            <a:lstStyle/>
            <a:p>
              <a:pPr algn="l"/>
              <a:r>
                <a:rPr lang="en-AU" sz="1650" dirty="0">
                  <a:solidFill>
                    <a:schemeClr val="dk1"/>
                  </a:solidFill>
                  <a:latin typeface="+mn-lt"/>
                  <a:ea typeface="+mn-ea"/>
                  <a:cs typeface="+mn-cs"/>
                </a:rPr>
                <a:t xml:space="preserve">NSW Department of Education. (2026, July 13). </a:t>
              </a:r>
              <a:r>
                <a:rPr lang="en-AU" sz="1650" dirty="0">
                  <a:solidFill>
                    <a:schemeClr val="accent2"/>
                  </a:solidFill>
                  <a:latin typeface="+mn-lt"/>
                  <a:ea typeface="+mn-ea"/>
                  <a:cs typeface="+mn-cs"/>
                  <a:hlinkClick r:id="rId5"/>
                </a:rPr>
                <a:t>Teaching and learning [EAL/D].</a:t>
              </a:r>
            </a:p>
          </p:txBody>
        </p:sp>
      </p:grpSp>
      <p:grpSp>
        <p:nvGrpSpPr>
          <p:cNvPr id="17" name="p18-case"/>
          <p:cNvGrpSpPr/>
          <p:nvPr/>
        </p:nvGrpSpPr>
        <p:grpSpPr>
          <a:xfrm>
            <a:off x="603504" y="5657850"/>
            <a:ext cx="9280533" cy="472821"/>
            <a:chOff x="603504" y="5657850"/>
            <a:chExt cx="9280533" cy="472821"/>
          </a:xfrm>
        </p:grpSpPr>
        <p:sp>
          <p:nvSpPr>
            <p:cNvPr id="15" name="TextBox 15"/>
            <p:cNvSpPr txBox="1"/>
            <p:nvPr/>
          </p:nvSpPr>
          <p:spPr>
            <a:xfrm>
              <a:off x="603504" y="5657850"/>
              <a:ext cx="8266498" cy="234696"/>
            </a:xfrm>
            <a:prstGeom prst="rect">
              <a:avLst/>
            </a:prstGeom>
            <a:noFill/>
            <a:ln>
              <a:noFill/>
            </a:ln>
          </p:spPr>
          <p:txBody>
            <a:bodyPr wrap="none" lIns="0" tIns="0" rIns="0" bIns="0" anchor="t" anchorCtr="0">
              <a:spAutoFit/>
            </a:bodyPr>
            <a:lstStyle/>
            <a:p>
              <a:pPr algn="l"/>
              <a:r>
                <a:rPr lang="en-AU" sz="1200" dirty="0">
                  <a:solidFill>
                    <a:schemeClr val="accent5"/>
                  </a:solidFill>
                  <a:latin typeface="+mn-lt"/>
                  <a:ea typeface="+mn-ea"/>
                  <a:cs typeface="+mn-cs"/>
                </a:rPr>
                <a:t>Case materials: user-supplied Assignment 2 ILP, Assignment 3 handoff and Cheyne’s feedback screenshots (n.d.).</a:t>
              </a:r>
            </a:p>
          </p:txBody>
        </p:sp>
        <p:sp>
          <p:nvSpPr>
            <p:cNvPr id="16" name="TextBox 16"/>
            <p:cNvSpPr txBox="1"/>
            <p:nvPr/>
          </p:nvSpPr>
          <p:spPr>
            <a:xfrm>
              <a:off x="603504" y="5895975"/>
              <a:ext cx="9280533" cy="234696"/>
            </a:xfrm>
            <a:prstGeom prst="rect">
              <a:avLst/>
            </a:prstGeom>
            <a:noFill/>
            <a:ln>
              <a:noFill/>
            </a:ln>
          </p:spPr>
          <p:txBody>
            <a:bodyPr wrap="none" lIns="0" tIns="0" rIns="0" bIns="0" anchor="t" anchorCtr="0">
              <a:spAutoFit/>
            </a:bodyPr>
            <a:lstStyle/>
            <a:p>
              <a:pPr algn="l"/>
              <a:r>
                <a:rPr lang="en-AU" sz="1200" dirty="0">
                  <a:solidFill>
                    <a:schemeClr val="accent5"/>
                  </a:solidFill>
                  <a:latin typeface="+mn-lt"/>
                  <a:ea typeface="+mn-ea"/>
                  <a:cs typeface="+mn-cs"/>
                </a:rPr>
                <a:t>Wider unit-reading archive unavailable; no unseen source is quoted. The word-equivalent limit does not apply to this presentation.</a:t>
              </a:r>
            </a:p>
          </p:txBody>
        </p:sp>
      </p:grpSp>
      <p:grpSp>
        <p:nvGrpSpPr>
          <p:cNvPr id="20" name="p18-footer"/>
          <p:cNvGrpSpPr/>
          <p:nvPr/>
        </p:nvGrpSpPr>
        <p:grpSpPr>
          <a:xfrm>
            <a:off x="603504" y="6276975"/>
            <a:ext cx="10774169" cy="234696"/>
            <a:chOff x="603504" y="6276975"/>
            <a:chExt cx="10774169" cy="234696"/>
          </a:xfrm>
        </p:grpSpPr>
        <p:sp>
          <p:nvSpPr>
            <p:cNvPr id="18" name="TextBox 18"/>
            <p:cNvSpPr txBox="1"/>
            <p:nvPr/>
          </p:nvSpPr>
          <p:spPr>
            <a:xfrm>
              <a:off x="603504" y="6276975"/>
              <a:ext cx="7164919" cy="234696"/>
            </a:xfrm>
            <a:prstGeom prst="rect">
              <a:avLst/>
            </a:prstGeom>
            <a:noFill/>
            <a:ln>
              <a:noFill/>
            </a:ln>
          </p:spPr>
          <p:txBody>
            <a:bodyPr wrap="none" lIns="0" tIns="0" rIns="0" bIns="0" anchor="t" anchorCtr="0">
              <a:spAutoFit/>
            </a:bodyPr>
            <a:lstStyle/>
            <a:p>
              <a:pPr algn="l"/>
              <a:r>
                <a:rPr lang="en-AU" sz="1200" dirty="0">
                  <a:solidFill>
                    <a:schemeClr val="accent5"/>
                  </a:solidFill>
                  <a:latin typeface="+mn-lt"/>
                  <a:ea typeface="+mn-ea"/>
                  <a:cs typeface="+mn-cs"/>
                </a:rPr>
                <a:t>Eight external sources checked · classroom proposals remain subject to consultation and evaluation</a:t>
              </a:r>
            </a:p>
          </p:txBody>
        </p:sp>
        <p:sp>
          <p:nvSpPr>
            <p:cNvPr id="19" name="TextBox 19"/>
            <p:cNvSpPr txBox="1"/>
            <p:nvPr/>
          </p:nvSpPr>
          <p:spPr>
            <a:xfrm>
              <a:off x="11185779" y="6276975"/>
              <a:ext cx="191894" cy="234696"/>
            </a:xfrm>
            <a:prstGeom prst="rect">
              <a:avLst/>
            </a:prstGeom>
            <a:noFill/>
            <a:ln>
              <a:noFill/>
            </a:ln>
          </p:spPr>
          <p:txBody>
            <a:bodyPr wrap="none" lIns="0" tIns="0" rIns="0" bIns="0" anchor="t" anchorCtr="0">
              <a:spAutoFit/>
            </a:bodyPr>
            <a:lstStyle/>
            <a:p>
              <a:pPr algn="l"/>
              <a:r>
                <a:rPr lang="en-AU" sz="1200" dirty="0">
                  <a:solidFill>
                    <a:schemeClr val="accent5"/>
                  </a:solidFill>
                  <a:latin typeface="+mn-lt"/>
                  <a:ea typeface="+mn-ea"/>
                  <a:cs typeface="+mn-cs"/>
                </a:rPr>
                <a:t>18</a:t>
              </a:r>
            </a:p>
          </p:txBody>
        </p:sp>
      </p:gr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inclusion_a3">
  <a:themeElements>
    <a:clrScheme name="inclusion_a3">
      <a:dk1>
        <a:srgbClr val="142D3A"/>
      </a:dk1>
      <a:lt1>
        <a:srgbClr val="F4F6F3"/>
      </a:lt1>
      <a:dk2>
        <a:srgbClr val="1F497D"/>
      </a:dk2>
      <a:lt2>
        <a:srgbClr val="E3EEEA"/>
      </a:lt2>
      <a:accent1>
        <a:srgbClr val="142D3A"/>
      </a:accent1>
      <a:accent2>
        <a:srgbClr val="126C66"/>
      </a:accent2>
      <a:accent3>
        <a:srgbClr val="CC8B37"/>
      </a:accent3>
      <a:accent4>
        <a:srgbClr val="142D3A"/>
      </a:accent4>
      <a:accent5>
        <a:srgbClr val="526572"/>
      </a:accent5>
      <a:accent6>
        <a:srgbClr val="C5D3D4"/>
      </a:accent6>
      <a:hlink>
        <a:srgbClr val="126C66"/>
      </a:hlink>
      <a:folHlink>
        <a:srgbClr val="CC8B37"/>
      </a:folHlink>
    </a:clrScheme>
    <a:fontScheme name="inclusion_a3">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nclusion_a3">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inclusion_a3">
  <a:themeElements>
    <a:clrScheme name="inclusion_a3">
      <a:dk1>
        <a:srgbClr val="142D3A"/>
      </a:dk1>
      <a:lt1>
        <a:srgbClr val="F4F6F3"/>
      </a:lt1>
      <a:dk2>
        <a:srgbClr val="1F497D"/>
      </a:dk2>
      <a:lt2>
        <a:srgbClr val="E3EEEA"/>
      </a:lt2>
      <a:accent1>
        <a:srgbClr val="142D3A"/>
      </a:accent1>
      <a:accent2>
        <a:srgbClr val="126C66"/>
      </a:accent2>
      <a:accent3>
        <a:srgbClr val="CC8B37"/>
      </a:accent3>
      <a:accent4>
        <a:srgbClr val="142D3A"/>
      </a:accent4>
      <a:accent5>
        <a:srgbClr val="526572"/>
      </a:accent5>
      <a:accent6>
        <a:srgbClr val="C5D3D4"/>
      </a:accent6>
      <a:hlink>
        <a:srgbClr val="126C66"/>
      </a:hlink>
      <a:folHlink>
        <a:srgbClr val="CC8B37"/>
      </a:folHlink>
    </a:clrScheme>
    <a:fontScheme name="inclusion_a3">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nclusion_a3">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18</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en-AU</dc:language>
  <cp:lastModifiedBy/>
  <cp:revision>1</cp:revision>
  <dcterms:created xsi:type="dcterms:W3CDTF">2026-10-23T07:25:24Z</dcterms:created>
  <dcterms:modified xsi:type="dcterms:W3CDTF">2026-10-23T07:25:24Z</dcterms:modified>
  <cp:category/>
  <cp:contentStatus/>
</cp:coreProperties>
</file>